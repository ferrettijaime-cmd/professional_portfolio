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1" r:id="rId11"/>
  </p:sldIdLst>
  <p:sldSz cx="18288000" cy="10287000"/>
  <p:notesSz cx="6858000" cy="9144000"/>
  <p:embeddedFontLst>
    <p:embeddedFont>
      <p:font typeface="Poppins" panose="00000500000000000000" pitchFamily="2" charset="0"/>
      <p:regular r:id="rId12"/>
      <p:bold r:id="rId13"/>
      <p:italic r:id="rId14"/>
      <p:boldItalic r:id="rId15"/>
    </p:embeddedFont>
    <p:embeddedFont>
      <p:font typeface="Poppins Bold" panose="00000800000000000000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96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11E0DE-FC32-445B-98C4-0D857FDAD714}" type="doc">
      <dgm:prSet loTypeId="urn:microsoft.com/office/officeart/2005/8/layout/vList2" loCatId="list" qsTypeId="urn:microsoft.com/office/officeart/2005/8/quickstyle/3d4" qsCatId="3D" csTypeId="urn:microsoft.com/office/officeart/2005/8/colors/accent1_1" csCatId="accent1" phldr="1"/>
      <dgm:spPr/>
      <dgm:t>
        <a:bodyPr/>
        <a:lstStyle/>
        <a:p>
          <a:endParaRPr lang="fr-BE"/>
        </a:p>
      </dgm:t>
    </dgm:pt>
    <dgm:pt modelId="{3F1E2364-8375-4539-AEC6-3E90BDE168C7}">
      <dgm:prSet phldrT="[Texte]" custT="1"/>
      <dgm:spPr/>
      <dgm:t>
        <a:bodyPr/>
        <a:lstStyle/>
        <a:p>
          <a:pPr>
            <a:buNone/>
          </a:pPr>
          <a:r>
            <a:rPr lang="fr-BE" sz="3600" dirty="0">
              <a:latin typeface="Poppins Bold" panose="00000800000000000000" charset="0"/>
              <a:cs typeface="Poppins Bold" panose="00000800000000000000" charset="0"/>
            </a:rPr>
            <a:t>Objective</a:t>
          </a:r>
        </a:p>
      </dgm:t>
    </dgm:pt>
    <dgm:pt modelId="{FBFA3B03-F0D6-4A3E-AC2D-25360ECC553D}" type="parTrans" cxnId="{C08BB600-FD08-429D-A207-6E511AB44F8D}">
      <dgm:prSet/>
      <dgm:spPr/>
      <dgm:t>
        <a:bodyPr/>
        <a:lstStyle/>
        <a:p>
          <a:endParaRPr lang="fr-BE"/>
        </a:p>
      </dgm:t>
    </dgm:pt>
    <dgm:pt modelId="{9FC38A6C-EC72-46B5-BEF4-C9ACBF4C477A}" type="sibTrans" cxnId="{C08BB600-FD08-429D-A207-6E511AB44F8D}">
      <dgm:prSet/>
      <dgm:spPr/>
      <dgm:t>
        <a:bodyPr/>
        <a:lstStyle/>
        <a:p>
          <a:endParaRPr lang="fr-BE"/>
        </a:p>
      </dgm:t>
    </dgm:pt>
    <dgm:pt modelId="{6EB387A2-742F-484A-AB5D-F44654DB6E97}">
      <dgm:prSet phldrT="[Texte]" custT="1"/>
      <dgm:spPr/>
      <dgm:t>
        <a:bodyPr/>
        <a:lstStyle/>
        <a:p>
          <a:pPr>
            <a:buNone/>
          </a:pPr>
          <a:r>
            <a:rPr lang="fr-BE" sz="3200" dirty="0" err="1">
              <a:solidFill>
                <a:schemeClr val="bg1"/>
              </a:solidFill>
              <a:latin typeface="Popins"/>
            </a:rPr>
            <a:t>Identify</a:t>
          </a:r>
          <a:r>
            <a:rPr lang="fr-BE" sz="3200" dirty="0">
              <a:solidFill>
                <a:schemeClr val="bg1"/>
              </a:solidFill>
              <a:latin typeface="Popins"/>
            </a:rPr>
            <a:t> distinct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customer</a:t>
          </a:r>
          <a:r>
            <a:rPr lang="fr-BE" sz="3200" dirty="0">
              <a:solidFill>
                <a:schemeClr val="bg1"/>
              </a:solidFill>
              <a:latin typeface="Popins"/>
            </a:rPr>
            <a:t> segments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based</a:t>
          </a:r>
          <a:r>
            <a:rPr lang="fr-BE" sz="3200" dirty="0">
              <a:solidFill>
                <a:schemeClr val="bg1"/>
              </a:solidFill>
              <a:latin typeface="Popins"/>
            </a:rPr>
            <a:t> on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purchasing</a:t>
          </a:r>
          <a:r>
            <a:rPr lang="fr-BE" sz="3200" dirty="0">
              <a:solidFill>
                <a:schemeClr val="bg1"/>
              </a:solidFill>
              <a:latin typeface="Popins"/>
            </a:rPr>
            <a:t>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behavior</a:t>
          </a:r>
          <a:r>
            <a:rPr lang="fr-BE" sz="3200" dirty="0">
              <a:solidFill>
                <a:schemeClr val="bg1"/>
              </a:solidFill>
              <a:latin typeface="Popins"/>
            </a:rPr>
            <a:t>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using</a:t>
          </a:r>
          <a:r>
            <a:rPr lang="fr-BE" sz="3200" dirty="0">
              <a:solidFill>
                <a:schemeClr val="bg1"/>
              </a:solidFill>
              <a:latin typeface="Popins"/>
            </a:rPr>
            <a:t>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unsupervised</a:t>
          </a:r>
          <a:r>
            <a:rPr lang="fr-BE" sz="3200" dirty="0">
              <a:solidFill>
                <a:schemeClr val="bg1"/>
              </a:solidFill>
              <a:latin typeface="Popins"/>
            </a:rPr>
            <a:t> machine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learning</a:t>
          </a:r>
          <a:r>
            <a:rPr lang="fr-BE" sz="3200" dirty="0">
              <a:solidFill>
                <a:schemeClr val="bg1"/>
              </a:solidFill>
              <a:latin typeface="Popins"/>
            </a:rPr>
            <a:t> techniques.</a:t>
          </a:r>
        </a:p>
      </dgm:t>
    </dgm:pt>
    <dgm:pt modelId="{79D8A0C3-25C6-4B96-9873-26935AF0C264}" type="parTrans" cxnId="{51686567-CA6D-4E03-8C6A-E9A4B6C9D7C5}">
      <dgm:prSet/>
      <dgm:spPr/>
      <dgm:t>
        <a:bodyPr/>
        <a:lstStyle/>
        <a:p>
          <a:endParaRPr lang="fr-BE"/>
        </a:p>
      </dgm:t>
    </dgm:pt>
    <dgm:pt modelId="{2BAAF195-07ED-4346-B2E5-72D2DDB9E94B}" type="sibTrans" cxnId="{51686567-CA6D-4E03-8C6A-E9A4B6C9D7C5}">
      <dgm:prSet/>
      <dgm:spPr/>
      <dgm:t>
        <a:bodyPr/>
        <a:lstStyle/>
        <a:p>
          <a:endParaRPr lang="fr-BE"/>
        </a:p>
      </dgm:t>
    </dgm:pt>
    <dgm:pt modelId="{EE264D7A-25E3-490A-9F3B-B356BC1E5459}">
      <dgm:prSet phldrT="[Texte]" custT="1"/>
      <dgm:spPr/>
      <dgm:t>
        <a:bodyPr/>
        <a:lstStyle/>
        <a:p>
          <a:pPr>
            <a:buNone/>
          </a:pPr>
          <a:r>
            <a:rPr lang="fr-BE" sz="3600" dirty="0">
              <a:latin typeface="Poppins Bold" panose="00000800000000000000" charset="0"/>
              <a:cs typeface="Poppins Bold" panose="00000800000000000000" charset="0"/>
            </a:rPr>
            <a:t>Business </a:t>
          </a:r>
          <a:r>
            <a:rPr lang="fr-BE" sz="3600" dirty="0" err="1">
              <a:latin typeface="Poppins Bold" panose="00000800000000000000" charset="0"/>
              <a:cs typeface="Poppins Bold" panose="00000800000000000000" charset="0"/>
            </a:rPr>
            <a:t>Context</a:t>
          </a:r>
          <a:endParaRPr lang="fr-BE" sz="3600" dirty="0">
            <a:latin typeface="Poppins Bold" panose="00000800000000000000" charset="0"/>
            <a:cs typeface="Poppins Bold" panose="00000800000000000000" charset="0"/>
          </a:endParaRPr>
        </a:p>
      </dgm:t>
    </dgm:pt>
    <dgm:pt modelId="{30C42657-6F9A-4686-8B26-7CAD898F413A}" type="parTrans" cxnId="{4C690B91-9E8C-4253-8AD9-6F2F94F1DAA0}">
      <dgm:prSet/>
      <dgm:spPr/>
      <dgm:t>
        <a:bodyPr/>
        <a:lstStyle/>
        <a:p>
          <a:endParaRPr lang="fr-BE"/>
        </a:p>
      </dgm:t>
    </dgm:pt>
    <dgm:pt modelId="{80389C41-A0F6-4F87-85B7-9A986CFC5D18}" type="sibTrans" cxnId="{4C690B91-9E8C-4253-8AD9-6F2F94F1DAA0}">
      <dgm:prSet/>
      <dgm:spPr/>
      <dgm:t>
        <a:bodyPr/>
        <a:lstStyle/>
        <a:p>
          <a:endParaRPr lang="fr-BE"/>
        </a:p>
      </dgm:t>
    </dgm:pt>
    <dgm:pt modelId="{1CFA5196-696E-4085-8C09-49B839D47263}">
      <dgm:prSet phldrT="[Texte]" custT="1"/>
      <dgm:spPr/>
      <dgm:t>
        <a:bodyPr/>
        <a:lstStyle/>
        <a:p>
          <a:pPr>
            <a:buNone/>
          </a:pPr>
          <a:r>
            <a:rPr lang="fr-BE" sz="3200" dirty="0">
              <a:solidFill>
                <a:schemeClr val="bg1"/>
              </a:solidFill>
              <a:latin typeface="Popins"/>
            </a:rPr>
            <a:t>The e-commerce platform has a large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customer</a:t>
          </a:r>
          <a:r>
            <a:rPr lang="fr-BE" sz="3200" dirty="0">
              <a:solidFill>
                <a:schemeClr val="bg1"/>
              </a:solidFill>
              <a:latin typeface="Popins"/>
            </a:rPr>
            <a:t> base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with</a:t>
          </a:r>
          <a:r>
            <a:rPr lang="fr-BE" sz="3200" dirty="0">
              <a:solidFill>
                <a:schemeClr val="bg1"/>
              </a:solidFill>
              <a:latin typeface="Popins"/>
            </a:rPr>
            <a:t>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different</a:t>
          </a:r>
          <a:r>
            <a:rPr lang="fr-BE" sz="3200" dirty="0">
              <a:solidFill>
                <a:schemeClr val="bg1"/>
              </a:solidFill>
              <a:latin typeface="Popins"/>
            </a:rPr>
            <a:t>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purchasing</a:t>
          </a:r>
          <a:r>
            <a:rPr lang="fr-BE" sz="3200" dirty="0">
              <a:solidFill>
                <a:schemeClr val="bg1"/>
              </a:solidFill>
              <a:latin typeface="Popins"/>
            </a:rPr>
            <a:t> patterns.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Understanding</a:t>
          </a:r>
          <a:r>
            <a:rPr lang="fr-BE" sz="3200" dirty="0">
              <a:solidFill>
                <a:schemeClr val="bg1"/>
              </a:solidFill>
              <a:latin typeface="Popins"/>
            </a:rPr>
            <a:t>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these</a:t>
          </a:r>
          <a:r>
            <a:rPr lang="fr-BE" sz="3200" dirty="0">
              <a:solidFill>
                <a:schemeClr val="bg1"/>
              </a:solidFill>
              <a:latin typeface="Popins"/>
            </a:rPr>
            <a:t>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behaviors</a:t>
          </a:r>
          <a:r>
            <a:rPr lang="fr-BE" sz="3200" dirty="0">
              <a:solidFill>
                <a:schemeClr val="bg1"/>
              </a:solidFill>
              <a:latin typeface="Popins"/>
            </a:rPr>
            <a:t> can help the business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develop</a:t>
          </a:r>
          <a:r>
            <a:rPr lang="fr-BE" sz="3200" dirty="0">
              <a:solidFill>
                <a:schemeClr val="bg1"/>
              </a:solidFill>
              <a:latin typeface="Popins"/>
            </a:rPr>
            <a:t>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targeted</a:t>
          </a:r>
          <a:r>
            <a:rPr lang="fr-BE" sz="3200" dirty="0">
              <a:solidFill>
                <a:schemeClr val="bg1"/>
              </a:solidFill>
              <a:latin typeface="Popins"/>
            </a:rPr>
            <a:t> marketing and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retention</a:t>
          </a:r>
          <a:r>
            <a:rPr lang="fr-BE" sz="3200" dirty="0">
              <a:solidFill>
                <a:schemeClr val="bg1"/>
              </a:solidFill>
              <a:latin typeface="Popins"/>
            </a:rPr>
            <a:t> </a:t>
          </a:r>
          <a:r>
            <a:rPr lang="fr-BE" sz="3200" dirty="0" err="1">
              <a:solidFill>
                <a:schemeClr val="bg1"/>
              </a:solidFill>
              <a:latin typeface="Popins"/>
            </a:rPr>
            <a:t>strategies</a:t>
          </a:r>
          <a:r>
            <a:rPr lang="fr-BE" sz="3200" dirty="0">
              <a:solidFill>
                <a:schemeClr val="bg1"/>
              </a:solidFill>
              <a:latin typeface="Popins"/>
            </a:rPr>
            <a:t>.</a:t>
          </a:r>
        </a:p>
      </dgm:t>
    </dgm:pt>
    <dgm:pt modelId="{152E30BD-8E91-4FE2-AED9-423960EC8DA2}" type="parTrans" cxnId="{C2F377B9-3330-4E72-A8DF-07BABA26865B}">
      <dgm:prSet/>
      <dgm:spPr/>
      <dgm:t>
        <a:bodyPr/>
        <a:lstStyle/>
        <a:p>
          <a:endParaRPr lang="fr-BE"/>
        </a:p>
      </dgm:t>
    </dgm:pt>
    <dgm:pt modelId="{D3D7905D-F7C7-4F54-82DB-E5C02225EFAC}" type="sibTrans" cxnId="{C2F377B9-3330-4E72-A8DF-07BABA26865B}">
      <dgm:prSet/>
      <dgm:spPr/>
      <dgm:t>
        <a:bodyPr/>
        <a:lstStyle/>
        <a:p>
          <a:endParaRPr lang="fr-BE"/>
        </a:p>
      </dgm:t>
    </dgm:pt>
    <dgm:pt modelId="{58010AEA-011C-4880-A8BB-96DC4C4F8DEC}" type="pres">
      <dgm:prSet presAssocID="{5011E0DE-FC32-445B-98C4-0D857FDAD714}" presName="linear" presStyleCnt="0">
        <dgm:presLayoutVars>
          <dgm:animLvl val="lvl"/>
          <dgm:resizeHandles val="exact"/>
        </dgm:presLayoutVars>
      </dgm:prSet>
      <dgm:spPr/>
    </dgm:pt>
    <dgm:pt modelId="{E7AD732B-949D-4D58-8036-EF279F795136}" type="pres">
      <dgm:prSet presAssocID="{3F1E2364-8375-4539-AEC6-3E90BDE168C7}" presName="parentText" presStyleLbl="node1" presStyleIdx="0" presStyleCnt="2" custLinFactY="-8825" custLinFactNeighborX="-762" custLinFactNeighborY="-100000">
        <dgm:presLayoutVars>
          <dgm:chMax val="0"/>
          <dgm:bulletEnabled val="1"/>
        </dgm:presLayoutVars>
      </dgm:prSet>
      <dgm:spPr/>
    </dgm:pt>
    <dgm:pt modelId="{B4951C12-B45F-4C32-825A-2DC4A47ADA64}" type="pres">
      <dgm:prSet presAssocID="{3F1E2364-8375-4539-AEC6-3E90BDE168C7}" presName="childText" presStyleLbl="revTx" presStyleIdx="0" presStyleCnt="2" custLinFactNeighborY="-36411">
        <dgm:presLayoutVars>
          <dgm:bulletEnabled val="1"/>
        </dgm:presLayoutVars>
      </dgm:prSet>
      <dgm:spPr/>
    </dgm:pt>
    <dgm:pt modelId="{8363FA26-7ECB-42CC-8235-4F3B3B515EAD}" type="pres">
      <dgm:prSet presAssocID="{EE264D7A-25E3-490A-9F3B-B356BC1E5459}" presName="parentText" presStyleLbl="node1" presStyleIdx="1" presStyleCnt="2" custLinFactNeighborY="-5860">
        <dgm:presLayoutVars>
          <dgm:chMax val="0"/>
          <dgm:bulletEnabled val="1"/>
        </dgm:presLayoutVars>
      </dgm:prSet>
      <dgm:spPr/>
    </dgm:pt>
    <dgm:pt modelId="{7D2D273B-E51C-4505-9186-35D8DE1B7933}" type="pres">
      <dgm:prSet presAssocID="{EE264D7A-25E3-490A-9F3B-B356BC1E545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08BB600-FD08-429D-A207-6E511AB44F8D}" srcId="{5011E0DE-FC32-445B-98C4-0D857FDAD714}" destId="{3F1E2364-8375-4539-AEC6-3E90BDE168C7}" srcOrd="0" destOrd="0" parTransId="{FBFA3B03-F0D6-4A3E-AC2D-25360ECC553D}" sibTransId="{9FC38A6C-EC72-46B5-BEF4-C9ACBF4C477A}"/>
    <dgm:cxn modelId="{F8EC8261-4DAE-4D80-8713-64C7E5A17CB8}" type="presOf" srcId="{6EB387A2-742F-484A-AB5D-F44654DB6E97}" destId="{B4951C12-B45F-4C32-825A-2DC4A47ADA64}" srcOrd="0" destOrd="0" presId="urn:microsoft.com/office/officeart/2005/8/layout/vList2"/>
    <dgm:cxn modelId="{51686567-CA6D-4E03-8C6A-E9A4B6C9D7C5}" srcId="{3F1E2364-8375-4539-AEC6-3E90BDE168C7}" destId="{6EB387A2-742F-484A-AB5D-F44654DB6E97}" srcOrd="0" destOrd="0" parTransId="{79D8A0C3-25C6-4B96-9873-26935AF0C264}" sibTransId="{2BAAF195-07ED-4346-B2E5-72D2DDB9E94B}"/>
    <dgm:cxn modelId="{4C690B91-9E8C-4253-8AD9-6F2F94F1DAA0}" srcId="{5011E0DE-FC32-445B-98C4-0D857FDAD714}" destId="{EE264D7A-25E3-490A-9F3B-B356BC1E5459}" srcOrd="1" destOrd="0" parTransId="{30C42657-6F9A-4686-8B26-7CAD898F413A}" sibTransId="{80389C41-A0F6-4F87-85B7-9A986CFC5D18}"/>
    <dgm:cxn modelId="{C2F377B9-3330-4E72-A8DF-07BABA26865B}" srcId="{EE264D7A-25E3-490A-9F3B-B356BC1E5459}" destId="{1CFA5196-696E-4085-8C09-49B839D47263}" srcOrd="0" destOrd="0" parTransId="{152E30BD-8E91-4FE2-AED9-423960EC8DA2}" sibTransId="{D3D7905D-F7C7-4F54-82DB-E5C02225EFAC}"/>
    <dgm:cxn modelId="{C9FFD4C7-A1A6-4D2C-A72F-A8D0BB55CDCF}" type="presOf" srcId="{3F1E2364-8375-4539-AEC6-3E90BDE168C7}" destId="{E7AD732B-949D-4D58-8036-EF279F795136}" srcOrd="0" destOrd="0" presId="urn:microsoft.com/office/officeart/2005/8/layout/vList2"/>
    <dgm:cxn modelId="{B08C74D7-F998-411D-A4F7-ECDEBDD67523}" type="presOf" srcId="{EE264D7A-25E3-490A-9F3B-B356BC1E5459}" destId="{8363FA26-7ECB-42CC-8235-4F3B3B515EAD}" srcOrd="0" destOrd="0" presId="urn:microsoft.com/office/officeart/2005/8/layout/vList2"/>
    <dgm:cxn modelId="{A9E33CDF-C11C-480E-B47C-6357F8611081}" type="presOf" srcId="{5011E0DE-FC32-445B-98C4-0D857FDAD714}" destId="{58010AEA-011C-4880-A8BB-96DC4C4F8DEC}" srcOrd="0" destOrd="0" presId="urn:microsoft.com/office/officeart/2005/8/layout/vList2"/>
    <dgm:cxn modelId="{C3DE8CED-21F1-4033-9544-C2BE1BC0F14D}" type="presOf" srcId="{1CFA5196-696E-4085-8C09-49B839D47263}" destId="{7D2D273B-E51C-4505-9186-35D8DE1B7933}" srcOrd="0" destOrd="0" presId="urn:microsoft.com/office/officeart/2005/8/layout/vList2"/>
    <dgm:cxn modelId="{817C79E4-0137-4954-8519-DD7E7D9AD570}" type="presParOf" srcId="{58010AEA-011C-4880-A8BB-96DC4C4F8DEC}" destId="{E7AD732B-949D-4D58-8036-EF279F795136}" srcOrd="0" destOrd="0" presId="urn:microsoft.com/office/officeart/2005/8/layout/vList2"/>
    <dgm:cxn modelId="{5DCC4D58-9379-4F4D-AF2E-2E582140D2EE}" type="presParOf" srcId="{58010AEA-011C-4880-A8BB-96DC4C4F8DEC}" destId="{B4951C12-B45F-4C32-825A-2DC4A47ADA64}" srcOrd="1" destOrd="0" presId="urn:microsoft.com/office/officeart/2005/8/layout/vList2"/>
    <dgm:cxn modelId="{A3B410C9-642F-4F7E-8865-853049E77CDA}" type="presParOf" srcId="{58010AEA-011C-4880-A8BB-96DC4C4F8DEC}" destId="{8363FA26-7ECB-42CC-8235-4F3B3B515EAD}" srcOrd="2" destOrd="0" presId="urn:microsoft.com/office/officeart/2005/8/layout/vList2"/>
    <dgm:cxn modelId="{9E598DF6-3BB2-4953-818F-7E1728E17AC6}" type="presParOf" srcId="{58010AEA-011C-4880-A8BB-96DC4C4F8DEC}" destId="{7D2D273B-E51C-4505-9186-35D8DE1B793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AD732B-949D-4D58-8036-EF279F795136}">
      <dsp:nvSpPr>
        <dsp:cNvPr id="0" name=""/>
        <dsp:cNvSpPr/>
      </dsp:nvSpPr>
      <dsp:spPr>
        <a:xfrm>
          <a:off x="0" y="354667"/>
          <a:ext cx="11875724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3600" kern="1200" dirty="0">
              <a:latin typeface="Poppins Bold" panose="00000800000000000000" charset="0"/>
              <a:cs typeface="Poppins Bold" panose="00000800000000000000" charset="0"/>
            </a:rPr>
            <a:t>Objective</a:t>
          </a:r>
        </a:p>
      </dsp:txBody>
      <dsp:txXfrm>
        <a:off x="59399" y="414066"/>
        <a:ext cx="11756926" cy="1098002"/>
      </dsp:txXfrm>
    </dsp:sp>
    <dsp:sp modelId="{B4951C12-B45F-4C32-825A-2DC4A47ADA64}">
      <dsp:nvSpPr>
        <dsp:cNvPr id="0" name=""/>
        <dsp:cNvSpPr/>
      </dsp:nvSpPr>
      <dsp:spPr>
        <a:xfrm>
          <a:off x="0" y="2312200"/>
          <a:ext cx="11875724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054" tIns="40640" rIns="227584" bIns="4064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fr-BE" sz="3200" kern="1200" dirty="0" err="1">
              <a:solidFill>
                <a:schemeClr val="bg1"/>
              </a:solidFill>
              <a:latin typeface="Popins"/>
            </a:rPr>
            <a:t>Identify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distinct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customer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segments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based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on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purchasing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behavior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using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unsupervised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machine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learning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techniques.</a:t>
          </a:r>
        </a:p>
      </dsp:txBody>
      <dsp:txXfrm>
        <a:off x="0" y="2312200"/>
        <a:ext cx="11875724" cy="1076400"/>
      </dsp:txXfrm>
    </dsp:sp>
    <dsp:sp modelId="{8363FA26-7ECB-42CC-8235-4F3B3B515EAD}">
      <dsp:nvSpPr>
        <dsp:cNvPr id="0" name=""/>
        <dsp:cNvSpPr/>
      </dsp:nvSpPr>
      <dsp:spPr>
        <a:xfrm>
          <a:off x="0" y="3746889"/>
          <a:ext cx="11875724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3600" kern="1200" dirty="0">
              <a:latin typeface="Poppins Bold" panose="00000800000000000000" charset="0"/>
              <a:cs typeface="Poppins Bold" panose="00000800000000000000" charset="0"/>
            </a:rPr>
            <a:t>Business </a:t>
          </a:r>
          <a:r>
            <a:rPr lang="fr-BE" sz="3600" kern="1200" dirty="0" err="1">
              <a:latin typeface="Poppins Bold" panose="00000800000000000000" charset="0"/>
              <a:cs typeface="Poppins Bold" panose="00000800000000000000" charset="0"/>
            </a:rPr>
            <a:t>Context</a:t>
          </a:r>
          <a:endParaRPr lang="fr-BE" sz="3600" kern="1200" dirty="0">
            <a:latin typeface="Poppins Bold" panose="00000800000000000000" charset="0"/>
            <a:cs typeface="Poppins Bold" panose="00000800000000000000" charset="0"/>
          </a:endParaRPr>
        </a:p>
      </dsp:txBody>
      <dsp:txXfrm>
        <a:off x="59399" y="3806288"/>
        <a:ext cx="11756926" cy="1098002"/>
      </dsp:txXfrm>
    </dsp:sp>
    <dsp:sp modelId="{7D2D273B-E51C-4505-9186-35D8DE1B7933}">
      <dsp:nvSpPr>
        <dsp:cNvPr id="0" name=""/>
        <dsp:cNvSpPr/>
      </dsp:nvSpPr>
      <dsp:spPr>
        <a:xfrm>
          <a:off x="0" y="5048449"/>
          <a:ext cx="11875724" cy="1446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054" tIns="40640" rIns="227584" bIns="4064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fr-BE" sz="3200" kern="1200" dirty="0">
              <a:solidFill>
                <a:schemeClr val="bg1"/>
              </a:solidFill>
              <a:latin typeface="Popins"/>
            </a:rPr>
            <a:t>The e-commerce platform has a large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customer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base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with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different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purchasing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patterns.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Understanding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these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behaviors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can help the business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develop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targeted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marketing and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retention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 </a:t>
          </a:r>
          <a:r>
            <a:rPr lang="fr-BE" sz="3200" kern="1200" dirty="0" err="1">
              <a:solidFill>
                <a:schemeClr val="bg1"/>
              </a:solidFill>
              <a:latin typeface="Popins"/>
            </a:rPr>
            <a:t>strategies</a:t>
          </a:r>
          <a:r>
            <a:rPr lang="fr-BE" sz="3200" kern="1200" dirty="0">
              <a:solidFill>
                <a:schemeClr val="bg1"/>
              </a:solidFill>
              <a:latin typeface="Popins"/>
            </a:rPr>
            <a:t>.</a:t>
          </a:r>
        </a:p>
      </dsp:txBody>
      <dsp:txXfrm>
        <a:off x="0" y="5048449"/>
        <a:ext cx="11875724" cy="1446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sv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394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3" name="Freeform 3"/>
          <p:cNvSpPr/>
          <p:nvPr/>
        </p:nvSpPr>
        <p:spPr>
          <a:xfrm>
            <a:off x="11004232" y="2015966"/>
            <a:ext cx="6255068" cy="6255068"/>
          </a:xfrm>
          <a:custGeom>
            <a:avLst/>
            <a:gdLst/>
            <a:ahLst/>
            <a:cxnLst/>
            <a:rect l="l" t="t" r="r" b="b"/>
            <a:pathLst>
              <a:path w="6255068" h="6255068">
                <a:moveTo>
                  <a:pt x="0" y="0"/>
                </a:moveTo>
                <a:lnTo>
                  <a:pt x="6255068" y="0"/>
                </a:lnTo>
                <a:lnTo>
                  <a:pt x="6255068" y="6255068"/>
                </a:lnTo>
                <a:lnTo>
                  <a:pt x="0" y="6255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grpSp>
        <p:nvGrpSpPr>
          <p:cNvPr id="4" name="Group 4"/>
          <p:cNvGrpSpPr/>
          <p:nvPr/>
        </p:nvGrpSpPr>
        <p:grpSpPr>
          <a:xfrm>
            <a:off x="1028700" y="5384437"/>
            <a:ext cx="6947174" cy="1438812"/>
            <a:chOff x="0" y="0"/>
            <a:chExt cx="1829708" cy="3789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9708" cy="378946"/>
            </a:xfrm>
            <a:custGeom>
              <a:avLst/>
              <a:gdLst/>
              <a:ahLst/>
              <a:cxnLst/>
              <a:rect l="l" t="t" r="r" b="b"/>
              <a:pathLst>
                <a:path w="1829708" h="378946">
                  <a:moveTo>
                    <a:pt x="111440" y="0"/>
                  </a:moveTo>
                  <a:lnTo>
                    <a:pt x="1718269" y="0"/>
                  </a:lnTo>
                  <a:cubicBezTo>
                    <a:pt x="1779815" y="0"/>
                    <a:pt x="1829708" y="49893"/>
                    <a:pt x="1829708" y="111440"/>
                  </a:cubicBezTo>
                  <a:lnTo>
                    <a:pt x="1829708" y="267506"/>
                  </a:lnTo>
                  <a:cubicBezTo>
                    <a:pt x="1829708" y="297062"/>
                    <a:pt x="1817968" y="325407"/>
                    <a:pt x="1797068" y="346306"/>
                  </a:cubicBezTo>
                  <a:cubicBezTo>
                    <a:pt x="1776169" y="367205"/>
                    <a:pt x="1747824" y="378946"/>
                    <a:pt x="1718269" y="378946"/>
                  </a:cubicBezTo>
                  <a:lnTo>
                    <a:pt x="111440" y="378946"/>
                  </a:lnTo>
                  <a:cubicBezTo>
                    <a:pt x="81884" y="378946"/>
                    <a:pt x="53539" y="367205"/>
                    <a:pt x="32640" y="346306"/>
                  </a:cubicBezTo>
                  <a:cubicBezTo>
                    <a:pt x="11741" y="325407"/>
                    <a:pt x="0" y="297062"/>
                    <a:pt x="0" y="267506"/>
                  </a:cubicBezTo>
                  <a:lnTo>
                    <a:pt x="0" y="111440"/>
                  </a:lnTo>
                  <a:cubicBezTo>
                    <a:pt x="0" y="81884"/>
                    <a:pt x="11741" y="53539"/>
                    <a:pt x="32640" y="32640"/>
                  </a:cubicBezTo>
                  <a:cubicBezTo>
                    <a:pt x="53539" y="11741"/>
                    <a:pt x="81884" y="0"/>
                    <a:pt x="111440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  <p:txBody>
            <a:bodyPr/>
            <a:lstStyle/>
            <a:p>
              <a:endParaRPr lang="fr-B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29708" cy="436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1028700"/>
            <a:ext cx="642386" cy="729984"/>
          </a:xfrm>
          <a:custGeom>
            <a:avLst/>
            <a:gdLst/>
            <a:ahLst/>
            <a:cxnLst/>
            <a:rect l="l" t="t" r="r" b="b"/>
            <a:pathLst>
              <a:path w="642386" h="729984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11" name="TextBox 11"/>
          <p:cNvSpPr txBox="1"/>
          <p:nvPr/>
        </p:nvSpPr>
        <p:spPr>
          <a:xfrm>
            <a:off x="1028700" y="3178002"/>
            <a:ext cx="11021062" cy="18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Analysts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9431" y="5733955"/>
            <a:ext cx="6085713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Turn Data Into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7859" y="1139692"/>
            <a:ext cx="7631341" cy="886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fr-BE" sz="2800" dirty="0">
                <a:solidFill>
                  <a:schemeClr val="bg1"/>
                </a:solidFill>
                <a:latin typeface="Poppins Bold" panose="020B0604020202020204" charset="0"/>
                <a:cs typeface="Poppins Bold" panose="020B0604020202020204" charset="0"/>
              </a:rPr>
              <a:t>Customer Segmentation in E-Commerce Using K-Means Clustering</a:t>
            </a:r>
            <a:endParaRPr lang="en-US" sz="2499" dirty="0">
              <a:solidFill>
                <a:schemeClr val="bg1"/>
              </a:solidFill>
              <a:latin typeface="Poppins Bold" panose="020B0604020202020204" charset="0"/>
              <a:ea typeface="Poppins"/>
              <a:cs typeface="Poppins Bold" panose="020B0604020202020204" charset="0"/>
              <a:sym typeface="Poppins"/>
            </a:endParaRP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01EA280E-468F-DAA4-9F9C-B99E760087E8}"/>
              </a:ext>
            </a:extLst>
          </p:cNvPr>
          <p:cNvSpPr txBox="1"/>
          <p:nvPr/>
        </p:nvSpPr>
        <p:spPr>
          <a:xfrm>
            <a:off x="393010" y="9189595"/>
            <a:ext cx="10351190" cy="283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400" b="1" spc="292" dirty="0">
                <a:solidFill>
                  <a:srgbClr val="FFFFFF"/>
                </a:solidFill>
                <a:latin typeface="Popins"/>
                <a:ea typeface="Montserrat"/>
                <a:cs typeface="Montserrat"/>
                <a:sym typeface="Montserrat"/>
              </a:rPr>
              <a:t>https://github.com/ferrettijaime-cmd/Professional_portfolio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343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r>
              <a:rPr lang="fr-BE" b="1"/>
              <a:t>Goal:</a:t>
            </a:r>
            <a:r>
              <a:rPr lang="fr-BE"/>
              <a:t> Transform customer transaction data into actionable customer segments for business decision-making.</a:t>
            </a:r>
          </a:p>
        </p:txBody>
      </p:sp>
      <p:sp>
        <p:nvSpPr>
          <p:cNvPr id="3" name="Freeform 3"/>
          <p:cNvSpPr/>
          <p:nvPr/>
        </p:nvSpPr>
        <p:spPr>
          <a:xfrm>
            <a:off x="708434" y="348984"/>
            <a:ext cx="2362200" cy="2819400"/>
          </a:xfrm>
          <a:custGeom>
            <a:avLst/>
            <a:gdLst/>
            <a:ahLst/>
            <a:cxnLst/>
            <a:rect l="l" t="t" r="r" b="b"/>
            <a:pathLst>
              <a:path w="4595356" h="5531526">
                <a:moveTo>
                  <a:pt x="0" y="0"/>
                </a:moveTo>
                <a:lnTo>
                  <a:pt x="4595355" y="0"/>
                </a:lnTo>
                <a:lnTo>
                  <a:pt x="4595355" y="5531525"/>
                </a:lnTo>
                <a:lnTo>
                  <a:pt x="0" y="5531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4" name="TextBox 4"/>
          <p:cNvSpPr txBox="1"/>
          <p:nvPr/>
        </p:nvSpPr>
        <p:spPr>
          <a:xfrm>
            <a:off x="3779068" y="772738"/>
            <a:ext cx="8923215" cy="922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859"/>
              </a:lnSpc>
            </a:pPr>
            <a:r>
              <a:rPr lang="fr-BE" sz="7200" dirty="0">
                <a:solidFill>
                  <a:schemeClr val="bg1"/>
                </a:solidFill>
                <a:latin typeface="Poppins Bold" panose="020B0604020202020204" charset="0"/>
                <a:cs typeface="Poppins Bold" panose="020B0604020202020204" charset="0"/>
              </a:rPr>
              <a:t>Project Overview</a:t>
            </a:r>
            <a:endParaRPr lang="en-US" sz="6999" b="1" u="none" strike="noStrike" dirty="0">
              <a:solidFill>
                <a:schemeClr val="bg1"/>
              </a:solidFill>
              <a:latin typeface="Poppins Bold" panose="020B0604020202020204" charset="0"/>
              <a:ea typeface="Poppins Bold"/>
              <a:cs typeface="Poppins Bold" panose="020B0604020202020204" charset="0"/>
              <a:sym typeface="Poppins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graphicFrame>
        <p:nvGraphicFramePr>
          <p:cNvPr id="13" name="Diagramme 12">
            <a:extLst>
              <a:ext uri="{FF2B5EF4-FFF2-40B4-BE49-F238E27FC236}">
                <a16:creationId xmlns:a16="http://schemas.microsoft.com/office/drawing/2014/main" id="{3910B3C1-88DF-8029-736C-685C0A2660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7410147"/>
              </p:ext>
            </p:extLst>
          </p:nvPr>
        </p:nvGraphicFramePr>
        <p:xfrm>
          <a:off x="3658969" y="1530327"/>
          <a:ext cx="11875724" cy="8033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6E525C80-536A-D19D-8AEF-EAEE352C10F7}"/>
              </a:ext>
            </a:extLst>
          </p:cNvPr>
          <p:cNvSpPr txBox="1"/>
          <p:nvPr/>
        </p:nvSpPr>
        <p:spPr>
          <a:xfrm>
            <a:off x="4082506" y="8648390"/>
            <a:ext cx="100570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  <a:latin typeface="Popins"/>
              </a:rPr>
              <a:t>Goal:</a:t>
            </a:r>
            <a:r>
              <a:rPr lang="fr-BE" sz="3200" dirty="0">
                <a:solidFill>
                  <a:schemeClr val="bg1"/>
                </a:solidFill>
                <a:latin typeface="Popins"/>
              </a:rPr>
              <a:t> Transform </a:t>
            </a:r>
            <a:r>
              <a:rPr lang="fr-BE" sz="3200" dirty="0" err="1">
                <a:solidFill>
                  <a:schemeClr val="bg1"/>
                </a:solidFill>
                <a:latin typeface="Popins"/>
              </a:rPr>
              <a:t>customer</a:t>
            </a:r>
            <a:r>
              <a:rPr lang="fr-BE" sz="3200" dirty="0">
                <a:solidFill>
                  <a:schemeClr val="bg1"/>
                </a:solidFill>
                <a:latin typeface="Popins"/>
              </a:rPr>
              <a:t> transaction data </a:t>
            </a:r>
            <a:r>
              <a:rPr lang="fr-BE" sz="3200" dirty="0" err="1">
                <a:solidFill>
                  <a:schemeClr val="bg1"/>
                </a:solidFill>
                <a:latin typeface="Popins"/>
              </a:rPr>
              <a:t>into</a:t>
            </a:r>
            <a:r>
              <a:rPr lang="fr-BE" sz="32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3200" dirty="0" err="1">
                <a:solidFill>
                  <a:schemeClr val="bg1"/>
                </a:solidFill>
                <a:latin typeface="Popins"/>
              </a:rPr>
              <a:t>actionable</a:t>
            </a:r>
            <a:r>
              <a:rPr lang="fr-BE" sz="32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3200" dirty="0" err="1">
                <a:solidFill>
                  <a:schemeClr val="bg1"/>
                </a:solidFill>
                <a:latin typeface="Popins"/>
              </a:rPr>
              <a:t>customer</a:t>
            </a:r>
            <a:r>
              <a:rPr lang="fr-BE" sz="3200" dirty="0">
                <a:solidFill>
                  <a:schemeClr val="bg1"/>
                </a:solidFill>
                <a:latin typeface="Popins"/>
              </a:rPr>
              <a:t> segments for business </a:t>
            </a:r>
            <a:r>
              <a:rPr lang="fr-BE" sz="3200" dirty="0" err="1">
                <a:solidFill>
                  <a:schemeClr val="bg1"/>
                </a:solidFill>
                <a:latin typeface="Popins"/>
              </a:rPr>
              <a:t>decision-making</a:t>
            </a:r>
            <a:r>
              <a:rPr lang="fr-BE" sz="3200" dirty="0">
                <a:solidFill>
                  <a:schemeClr val="bg1"/>
                </a:solidFill>
                <a:latin typeface="Popi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81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BE" sz="2800" dirty="0">
              <a:latin typeface="Popi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540772" y="453067"/>
            <a:ext cx="97917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BE" sz="5400" b="1" dirty="0" err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Exploratory</a:t>
            </a:r>
            <a:r>
              <a:rPr lang="fr-BE" sz="5400" b="1" dirty="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 Data </a:t>
            </a:r>
            <a:r>
              <a:rPr lang="fr-BE" sz="5400" b="1" dirty="0" err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Analysis</a:t>
            </a:r>
            <a:endParaRPr lang="fr-BE" sz="5400" dirty="0">
              <a:solidFill>
                <a:schemeClr val="bg1"/>
              </a:solidFill>
              <a:latin typeface="Poppins Bold" panose="00000800000000000000" charset="0"/>
              <a:cs typeface="Poppins Bold" panose="00000800000000000000" charset="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398466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2738FE3-99A3-C406-ED55-DABDA5099E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717"/>
          <a:stretch>
            <a:fillRect/>
          </a:stretch>
        </p:blipFill>
        <p:spPr>
          <a:xfrm>
            <a:off x="152400" y="1924160"/>
            <a:ext cx="10232318" cy="455243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BFB32D41-097D-2038-76B4-29CF0339DA56}"/>
              </a:ext>
            </a:extLst>
          </p:cNvPr>
          <p:cNvSpPr txBox="1"/>
          <p:nvPr/>
        </p:nvSpPr>
        <p:spPr>
          <a:xfrm>
            <a:off x="10945061" y="2701711"/>
            <a:ext cx="719053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>
                <a:solidFill>
                  <a:schemeClr val="bg1"/>
                </a:solidFill>
                <a:latin typeface="Popins"/>
              </a:rPr>
              <a:t>Customer </a:t>
            </a:r>
            <a:r>
              <a:rPr lang="fr-BE" sz="2800" b="1" dirty="0" err="1">
                <a:solidFill>
                  <a:schemeClr val="bg1"/>
                </a:solidFill>
                <a:latin typeface="Popins"/>
              </a:rPr>
              <a:t>Spending</a:t>
            </a:r>
            <a:endParaRPr lang="fr-BE" sz="2800" b="1" dirty="0">
              <a:solidFill>
                <a:schemeClr val="bg1"/>
              </a:solidFill>
              <a:latin typeface="Popi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BE" sz="2800" dirty="0" err="1">
                <a:solidFill>
                  <a:schemeClr val="bg1"/>
                </a:solidFill>
                <a:latin typeface="Popins"/>
              </a:rPr>
              <a:t>Average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customer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spending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: </a:t>
            </a:r>
            <a:r>
              <a:rPr lang="fr-BE" sz="2800" b="1" dirty="0">
                <a:solidFill>
                  <a:schemeClr val="bg1"/>
                </a:solidFill>
                <a:latin typeface="Popins"/>
              </a:rPr>
              <a:t>173.5 </a:t>
            </a:r>
            <a:r>
              <a:rPr lang="fr-BE" sz="2800" b="1" dirty="0" err="1">
                <a:solidFill>
                  <a:schemeClr val="bg1"/>
                </a:solidFill>
                <a:latin typeface="Popins"/>
              </a:rPr>
              <a:t>monetary</a:t>
            </a:r>
            <a:r>
              <a:rPr lang="fr-BE" sz="2800" b="1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b="1" dirty="0" err="1">
                <a:solidFill>
                  <a:schemeClr val="bg1"/>
                </a:solidFill>
                <a:latin typeface="Popins"/>
              </a:rPr>
              <a:t>units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BE" sz="2800" dirty="0">
                <a:solidFill>
                  <a:schemeClr val="bg1"/>
                </a:solidFill>
                <a:latin typeface="Popins"/>
              </a:rPr>
              <a:t>Median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spending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: </a:t>
            </a:r>
            <a:r>
              <a:rPr lang="fr-BE" sz="2800" b="1" dirty="0">
                <a:solidFill>
                  <a:schemeClr val="bg1"/>
                </a:solidFill>
                <a:latin typeface="Popins"/>
              </a:rPr>
              <a:t>110.6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,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indicating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a right-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skewed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distribution.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BE" sz="2800" dirty="0">
                <a:solidFill>
                  <a:schemeClr val="bg1"/>
                </a:solidFill>
                <a:latin typeface="Popins"/>
              </a:rPr>
              <a:t>A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small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group of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customers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spends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significantly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more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than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the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average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.</a:t>
            </a:r>
          </a:p>
          <a:p>
            <a:endParaRPr lang="fr-BE" sz="2800" dirty="0">
              <a:latin typeface="Popins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40A8E85-DD2F-7EDA-4BE4-55E6961F4D4F}"/>
              </a:ext>
            </a:extLst>
          </p:cNvPr>
          <p:cNvSpPr txBox="1"/>
          <p:nvPr/>
        </p:nvSpPr>
        <p:spPr>
          <a:xfrm>
            <a:off x="1873772" y="7083336"/>
            <a:ext cx="5334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>
                <a:solidFill>
                  <a:schemeClr val="bg1"/>
                </a:solidFill>
                <a:latin typeface="Popins"/>
              </a:rPr>
              <a:t>Purchase Frequency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BE" sz="2800" dirty="0" err="1">
                <a:solidFill>
                  <a:schemeClr val="bg1"/>
                </a:solidFill>
                <a:latin typeface="Popins"/>
              </a:rPr>
              <a:t>Customers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place an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average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of </a:t>
            </a:r>
            <a:r>
              <a:rPr lang="fr-BE" sz="2800" b="1" dirty="0">
                <a:solidFill>
                  <a:schemeClr val="bg1"/>
                </a:solidFill>
                <a:latin typeface="Popins"/>
              </a:rPr>
              <a:t>1.03 </a:t>
            </a:r>
            <a:r>
              <a:rPr lang="fr-BE" sz="2800" b="1" dirty="0" err="1">
                <a:solidFill>
                  <a:schemeClr val="bg1"/>
                </a:solidFill>
                <a:latin typeface="Popins"/>
              </a:rPr>
              <a:t>orders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BE" sz="2800" dirty="0">
                <a:solidFill>
                  <a:schemeClr val="bg1"/>
                </a:solidFill>
                <a:latin typeface="Popins"/>
              </a:rPr>
              <a:t>Median = 1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order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BE" sz="2800" dirty="0">
                <a:solidFill>
                  <a:schemeClr val="bg1"/>
                </a:solidFill>
                <a:latin typeface="Popins"/>
              </a:rPr>
              <a:t>Most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customers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purchase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only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once.</a:t>
            </a:r>
          </a:p>
          <a:p>
            <a:endParaRPr lang="fr-BE" sz="2800" dirty="0">
              <a:solidFill>
                <a:schemeClr val="bg1"/>
              </a:solidFill>
              <a:latin typeface="Po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92FFF67-67D1-BA39-071D-81A05ED13E4F}"/>
              </a:ext>
            </a:extLst>
          </p:cNvPr>
          <p:cNvSpPr txBox="1"/>
          <p:nvPr/>
        </p:nvSpPr>
        <p:spPr>
          <a:xfrm>
            <a:off x="9772650" y="6970953"/>
            <a:ext cx="5334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 err="1">
                <a:solidFill>
                  <a:schemeClr val="bg1"/>
                </a:solidFill>
                <a:latin typeface="Popins"/>
              </a:rPr>
              <a:t>Recency</a:t>
            </a:r>
            <a:endParaRPr lang="fr-BE" sz="2800" b="1" dirty="0">
              <a:solidFill>
                <a:schemeClr val="bg1"/>
              </a:solidFill>
              <a:latin typeface="Popi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BE" sz="2800" dirty="0" err="1">
                <a:solidFill>
                  <a:schemeClr val="bg1"/>
                </a:solidFill>
                <a:latin typeface="Popins"/>
              </a:rPr>
              <a:t>Average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recency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is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b="1" dirty="0">
                <a:solidFill>
                  <a:schemeClr val="bg1"/>
                </a:solidFill>
                <a:latin typeface="Popins"/>
              </a:rPr>
              <a:t>243 </a:t>
            </a:r>
            <a:r>
              <a:rPr lang="fr-BE" sz="2800" b="1" dirty="0" err="1">
                <a:solidFill>
                  <a:schemeClr val="bg1"/>
                </a:solidFill>
                <a:latin typeface="Popins"/>
              </a:rPr>
              <a:t>days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BE" sz="2800" dirty="0">
                <a:solidFill>
                  <a:schemeClr val="bg1"/>
                </a:solidFill>
                <a:latin typeface="Popins"/>
              </a:rPr>
              <a:t>Many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customers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have not made a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purchase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for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several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months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BE" sz="2800" dirty="0" err="1">
                <a:solidFill>
                  <a:schemeClr val="bg1"/>
                </a:solidFill>
                <a:latin typeface="Popins"/>
              </a:rPr>
              <a:t>Indicates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a large population of inactive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customers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.</a:t>
            </a:r>
          </a:p>
          <a:p>
            <a:endParaRPr lang="fr-BE" sz="2800" dirty="0">
              <a:solidFill>
                <a:schemeClr val="bg1"/>
              </a:solidFill>
              <a:latin typeface="Po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BE" sz="3200" dirty="0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8" name="TextBox 8"/>
          <p:cNvSpPr txBox="1"/>
          <p:nvPr/>
        </p:nvSpPr>
        <p:spPr>
          <a:xfrm>
            <a:off x="2791870" y="192702"/>
            <a:ext cx="13006286" cy="835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859"/>
              </a:lnSpc>
            </a:pPr>
            <a:r>
              <a:rPr lang="fr-BE" sz="4800" dirty="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Key Relationships Between Variables</a:t>
            </a:r>
            <a:endParaRPr lang="en-US" sz="4800" b="1" u="none" strike="noStrike" dirty="0">
              <a:solidFill>
                <a:schemeClr val="bg1"/>
              </a:solidFill>
              <a:latin typeface="Poppins Bold" panose="00000800000000000000" charset="0"/>
              <a:ea typeface="Poppins Bold"/>
              <a:cs typeface="Poppins Bold" panose="00000800000000000000" charset="0"/>
              <a:sym typeface="Poppi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72726" y="1741560"/>
            <a:ext cx="139188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8513" y="1785466"/>
            <a:ext cx="5578087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fr-BE" sz="3200" b="1" dirty="0" err="1">
                <a:solidFill>
                  <a:schemeClr val="bg1"/>
                </a:solidFill>
                <a:latin typeface="Popins"/>
              </a:rPr>
              <a:t>total_paid_items</a:t>
            </a:r>
            <a:r>
              <a:rPr lang="fr-BE" sz="3200" b="1" dirty="0">
                <a:solidFill>
                  <a:schemeClr val="bg1"/>
                </a:solidFill>
                <a:latin typeface="Popins"/>
              </a:rPr>
              <a:t> vs </a:t>
            </a:r>
            <a:r>
              <a:rPr lang="fr-BE" sz="3200" b="1" dirty="0" err="1">
                <a:solidFill>
                  <a:schemeClr val="bg1"/>
                </a:solidFill>
                <a:latin typeface="Popins"/>
              </a:rPr>
              <a:t>avg_order_value</a:t>
            </a:r>
            <a:r>
              <a:rPr lang="fr-BE" sz="3200" b="1" dirty="0">
                <a:solidFill>
                  <a:schemeClr val="bg1"/>
                </a:solidFill>
                <a:latin typeface="Popins"/>
              </a:rPr>
              <a:t> (0.98)</a:t>
            </a:r>
            <a:endParaRPr lang="en-US" sz="3200" b="1" dirty="0">
              <a:solidFill>
                <a:schemeClr val="bg1"/>
              </a:solidFill>
              <a:latin typeface="Popins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1609" y="5374288"/>
            <a:ext cx="139188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84BDA4F-5E2E-82CA-A2EC-01C2131229BC}"/>
              </a:ext>
            </a:extLst>
          </p:cNvPr>
          <p:cNvSpPr txBox="1"/>
          <p:nvPr/>
        </p:nvSpPr>
        <p:spPr>
          <a:xfrm>
            <a:off x="372726" y="2727054"/>
            <a:ext cx="6553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sz="2800" dirty="0" err="1">
                <a:solidFill>
                  <a:schemeClr val="bg1"/>
                </a:solidFill>
                <a:latin typeface="Popins"/>
              </a:rPr>
              <a:t>Extremely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strong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positive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correlation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sz="2800" dirty="0">
                <a:solidFill>
                  <a:schemeClr val="bg1"/>
                </a:solidFill>
                <a:latin typeface="Popins"/>
              </a:rPr>
              <a:t>Both variables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contain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nearly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the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same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information.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sz="2800" dirty="0">
                <a:solidFill>
                  <a:schemeClr val="bg1"/>
                </a:solidFill>
                <a:latin typeface="Popins"/>
              </a:rPr>
              <a:t>To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avoid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redundancy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,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avg_order_value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was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excluded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from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the clustering model.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A996AD9-5DEB-088E-EDB7-1D4B4DD2887B}"/>
              </a:ext>
            </a:extLst>
          </p:cNvPr>
          <p:cNvSpPr txBox="1"/>
          <p:nvPr/>
        </p:nvSpPr>
        <p:spPr>
          <a:xfrm>
            <a:off x="1506865" y="5303704"/>
            <a:ext cx="494099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3499"/>
              </a:lnSpc>
              <a:defRPr sz="3200" b="1">
                <a:solidFill>
                  <a:schemeClr val="bg1"/>
                </a:solidFill>
                <a:latin typeface="Popins"/>
              </a:defRPr>
            </a:lvl1pPr>
          </a:lstStyle>
          <a:p>
            <a:r>
              <a:rPr lang="fr-BE" dirty="0" err="1"/>
              <a:t>payment_installments</a:t>
            </a:r>
            <a:r>
              <a:rPr lang="fr-BE" dirty="0"/>
              <a:t> vs </a:t>
            </a:r>
            <a:r>
              <a:rPr lang="fr-BE" dirty="0" err="1"/>
              <a:t>total_paid_items</a:t>
            </a:r>
            <a:r>
              <a:rPr lang="fr-BE" dirty="0"/>
              <a:t> (0.27)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05B0730-19CA-2D02-013D-5952D9F8CF7F}"/>
              </a:ext>
            </a:extLst>
          </p:cNvPr>
          <p:cNvSpPr txBox="1"/>
          <p:nvPr/>
        </p:nvSpPr>
        <p:spPr>
          <a:xfrm>
            <a:off x="372726" y="6329487"/>
            <a:ext cx="563031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57200" indent="-457200">
              <a:buFont typeface="Wingdings" panose="05000000000000000000" pitchFamily="2" charset="2"/>
              <a:buChar char="ü"/>
              <a:defRPr sz="2800">
                <a:solidFill>
                  <a:schemeClr val="bg1"/>
                </a:solidFill>
                <a:latin typeface="Popins"/>
              </a:defRPr>
            </a:lvl1pPr>
          </a:lstStyle>
          <a:p>
            <a:r>
              <a:rPr lang="fr-BE" dirty="0"/>
              <a:t>Weak-to-</a:t>
            </a:r>
            <a:r>
              <a:rPr lang="fr-BE" dirty="0" err="1"/>
              <a:t>moderate</a:t>
            </a:r>
            <a:r>
              <a:rPr lang="fr-BE" dirty="0"/>
              <a:t> positive </a:t>
            </a:r>
            <a:r>
              <a:rPr lang="fr-BE" dirty="0" err="1"/>
              <a:t>relationship</a:t>
            </a:r>
            <a:r>
              <a:rPr lang="fr-BE" dirty="0"/>
              <a:t>. </a:t>
            </a:r>
          </a:p>
          <a:p>
            <a:r>
              <a:rPr lang="fr-BE" dirty="0" err="1"/>
              <a:t>Customers</a:t>
            </a:r>
            <a:r>
              <a:rPr lang="fr-BE" dirty="0"/>
              <a:t> </a:t>
            </a:r>
            <a:r>
              <a:rPr lang="fr-BE" dirty="0" err="1"/>
              <a:t>spending</a:t>
            </a:r>
            <a:r>
              <a:rPr lang="fr-BE" dirty="0"/>
              <a:t> more tend to use a </a:t>
            </a:r>
            <a:r>
              <a:rPr lang="fr-BE" dirty="0" err="1"/>
              <a:t>higher</a:t>
            </a:r>
            <a:r>
              <a:rPr lang="fr-BE" dirty="0"/>
              <a:t> </a:t>
            </a:r>
            <a:r>
              <a:rPr lang="fr-BE" dirty="0" err="1"/>
              <a:t>number</a:t>
            </a:r>
            <a:r>
              <a:rPr lang="fr-BE" dirty="0"/>
              <a:t> of </a:t>
            </a:r>
            <a:r>
              <a:rPr lang="fr-BE" dirty="0" err="1"/>
              <a:t>installments</a:t>
            </a:r>
            <a:r>
              <a:rPr lang="fr-BE" dirty="0"/>
              <a:t>. </a:t>
            </a:r>
          </a:p>
          <a:p>
            <a:r>
              <a:rPr lang="fr-BE" dirty="0" err="1"/>
              <a:t>Indicates</a:t>
            </a:r>
            <a:r>
              <a:rPr lang="fr-BE" dirty="0"/>
              <a:t> a </a:t>
            </a:r>
            <a:r>
              <a:rPr lang="fr-BE" dirty="0" err="1"/>
              <a:t>preference</a:t>
            </a:r>
            <a:r>
              <a:rPr lang="fr-BE" dirty="0"/>
              <a:t> for </a:t>
            </a:r>
            <a:r>
              <a:rPr lang="fr-BE" dirty="0" err="1"/>
              <a:t>financing</a:t>
            </a:r>
            <a:r>
              <a:rPr lang="fr-BE" dirty="0"/>
              <a:t> </a:t>
            </a:r>
            <a:r>
              <a:rPr lang="fr-BE" dirty="0" err="1"/>
              <a:t>higher</a:t>
            </a:r>
            <a:r>
              <a:rPr lang="fr-BE" dirty="0"/>
              <a:t>-value </a:t>
            </a:r>
            <a:r>
              <a:rPr lang="fr-BE" dirty="0" err="1"/>
              <a:t>purchases</a:t>
            </a:r>
            <a:r>
              <a:rPr lang="fr-BE" dirty="0"/>
              <a:t>.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8FC9DFC2-C630-1296-3FC1-6A8273427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652" y="1566458"/>
            <a:ext cx="9341180" cy="7952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BE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076798" y="-8124"/>
            <a:ext cx="10134403" cy="102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400"/>
              </a:lnSpc>
              <a:spcBef>
                <a:spcPct val="0"/>
              </a:spcBef>
            </a:pPr>
            <a:r>
              <a:rPr lang="fr-BE" sz="6000" dirty="0" err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Outlier</a:t>
            </a:r>
            <a:r>
              <a:rPr lang="fr-BE" sz="6000" dirty="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 </a:t>
            </a:r>
            <a:r>
              <a:rPr lang="fr-BE" sz="6000" dirty="0" err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Treatment</a:t>
            </a:r>
            <a:endParaRPr lang="en-US" sz="6000" b="1" u="none" strike="noStrike" dirty="0">
              <a:solidFill>
                <a:schemeClr val="bg1"/>
              </a:solidFill>
              <a:latin typeface="Poppins Bold" panose="00000800000000000000" charset="0"/>
              <a:ea typeface="Poppins Bold"/>
              <a:cs typeface="Poppins Bold" panose="00000800000000000000" charset="0"/>
              <a:sym typeface="Poppins Bold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1028302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65185D73-D619-E259-1418-844FDE854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750" y="1229402"/>
            <a:ext cx="8414291" cy="3816691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96A7A306-1E97-1D61-49F8-B8D71EF45342}"/>
              </a:ext>
            </a:extLst>
          </p:cNvPr>
          <p:cNvSpPr txBox="1"/>
          <p:nvPr/>
        </p:nvSpPr>
        <p:spPr>
          <a:xfrm>
            <a:off x="9203750" y="5037152"/>
            <a:ext cx="84382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 err="1">
                <a:solidFill>
                  <a:schemeClr val="bg1"/>
                </a:solidFill>
                <a:latin typeface="Popins"/>
              </a:rPr>
              <a:t>Approach</a:t>
            </a:r>
            <a:endParaRPr lang="fr-BE" sz="2800" b="1" dirty="0">
              <a:solidFill>
                <a:schemeClr val="bg1"/>
              </a:solidFill>
              <a:latin typeface="Popins"/>
            </a:endParaRPr>
          </a:p>
          <a:p>
            <a:r>
              <a:rPr lang="fr-BE" sz="2800" dirty="0" err="1">
                <a:solidFill>
                  <a:schemeClr val="bg1"/>
                </a:solidFill>
                <a:latin typeface="Popins"/>
              </a:rPr>
              <a:t>Instead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of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removing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customers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, a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logarithmic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transformation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was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applied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:</a:t>
            </a:r>
          </a:p>
          <a:p>
            <a:r>
              <a:rPr lang="fr-BE" sz="2800" dirty="0">
                <a:solidFill>
                  <a:schemeClr val="bg1"/>
                </a:solidFill>
                <a:latin typeface="Popins"/>
              </a:rPr>
              <a:t>np.log1p()</a:t>
            </a:r>
          </a:p>
          <a:p>
            <a:r>
              <a:rPr lang="fr-BE" sz="2800" dirty="0">
                <a:solidFill>
                  <a:schemeClr val="bg1"/>
                </a:solidFill>
                <a:latin typeface="Popins"/>
              </a:rPr>
              <a:t>This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method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:</a:t>
            </a:r>
          </a:p>
          <a:p>
            <a:r>
              <a:rPr lang="fr-BE" sz="2800" dirty="0" err="1">
                <a:solidFill>
                  <a:schemeClr val="bg1"/>
                </a:solidFill>
                <a:latin typeface="Popins"/>
              </a:rPr>
              <a:t>Preserves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all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customer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records. </a:t>
            </a:r>
          </a:p>
          <a:p>
            <a:r>
              <a:rPr lang="fr-BE" sz="2800" dirty="0" err="1">
                <a:solidFill>
                  <a:schemeClr val="bg1"/>
                </a:solidFill>
                <a:latin typeface="Popins"/>
              </a:rPr>
              <a:t>Reduces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the influence of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extreme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values. </a:t>
            </a:r>
          </a:p>
          <a:p>
            <a:r>
              <a:rPr lang="fr-BE" sz="2800" dirty="0">
                <a:solidFill>
                  <a:schemeClr val="bg1"/>
                </a:solidFill>
                <a:latin typeface="Popins"/>
              </a:rPr>
              <a:t>Compresses large values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while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maintaining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their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relative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order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. </a:t>
            </a:r>
          </a:p>
          <a:p>
            <a:r>
              <a:rPr lang="fr-BE" sz="2800" dirty="0" err="1">
                <a:solidFill>
                  <a:schemeClr val="bg1"/>
                </a:solidFill>
                <a:latin typeface="Popins"/>
              </a:rPr>
              <a:t>Produces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more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balanced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distributions for clustering.</a:t>
            </a:r>
          </a:p>
          <a:p>
            <a:endParaRPr lang="fr-BE" sz="2800" dirty="0">
              <a:solidFill>
                <a:schemeClr val="bg1"/>
              </a:solidFill>
              <a:latin typeface="Popins"/>
            </a:endParaRP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40F88118-1643-7FA3-675F-7CD6F62C7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5269005"/>
            <a:ext cx="8001000" cy="4565250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2030864E-4C5F-384B-4EFD-780D7A7F25E5}"/>
              </a:ext>
            </a:extLst>
          </p:cNvPr>
          <p:cNvSpPr txBox="1"/>
          <p:nvPr/>
        </p:nvSpPr>
        <p:spPr>
          <a:xfrm>
            <a:off x="381000" y="1426976"/>
            <a:ext cx="8001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/>
                </a:solidFill>
                <a:latin typeface="Popins"/>
              </a:defRPr>
            </a:lvl1pPr>
          </a:lstStyle>
          <a:p>
            <a:r>
              <a:rPr lang="fr-BE" b="0" dirty="0"/>
              <a:t>Challenge</a:t>
            </a:r>
          </a:p>
          <a:p>
            <a:r>
              <a:rPr lang="fr-BE" b="0" dirty="0" err="1"/>
              <a:t>Several</a:t>
            </a:r>
            <a:r>
              <a:rPr lang="fr-BE" b="0" dirty="0"/>
              <a:t> variables </a:t>
            </a:r>
            <a:r>
              <a:rPr lang="fr-BE" b="0" dirty="0" err="1"/>
              <a:t>exhibited</a:t>
            </a:r>
            <a:r>
              <a:rPr lang="fr-BE" b="0" dirty="0"/>
              <a:t> </a:t>
            </a:r>
            <a:r>
              <a:rPr lang="fr-BE" b="0" dirty="0" err="1"/>
              <a:t>highly</a:t>
            </a:r>
            <a:r>
              <a:rPr lang="fr-BE" b="0" dirty="0"/>
              <a:t> right-</a:t>
            </a:r>
            <a:r>
              <a:rPr lang="fr-BE" b="0" dirty="0" err="1"/>
              <a:t>skewed</a:t>
            </a:r>
            <a:r>
              <a:rPr lang="fr-BE" b="0" dirty="0"/>
              <a:t> distributions and </a:t>
            </a:r>
            <a:r>
              <a:rPr lang="fr-BE" b="0" dirty="0" err="1"/>
              <a:t>extreme</a:t>
            </a:r>
            <a:r>
              <a:rPr lang="fr-BE" b="0" dirty="0"/>
              <a:t> values, </a:t>
            </a:r>
            <a:r>
              <a:rPr lang="fr-BE" b="0" dirty="0" err="1"/>
              <a:t>particularly</a:t>
            </a:r>
            <a:r>
              <a:rPr lang="fr-BE" b="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b="0" dirty="0" err="1"/>
              <a:t>total_paid_items</a:t>
            </a:r>
            <a:r>
              <a:rPr lang="fr-BE" b="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b="0" dirty="0" err="1"/>
              <a:t>customer_lifetime_days</a:t>
            </a:r>
            <a:r>
              <a:rPr lang="fr-BE" b="0" dirty="0"/>
              <a:t> </a:t>
            </a:r>
          </a:p>
          <a:p>
            <a:r>
              <a:rPr lang="fr-BE" b="0" dirty="0" err="1"/>
              <a:t>These</a:t>
            </a:r>
            <a:r>
              <a:rPr lang="fr-BE" b="0" dirty="0"/>
              <a:t> </a:t>
            </a:r>
            <a:r>
              <a:rPr lang="fr-BE" b="0" dirty="0" err="1"/>
              <a:t>extreme</a:t>
            </a:r>
            <a:r>
              <a:rPr lang="fr-BE" b="0" dirty="0"/>
              <a:t> observations </a:t>
            </a:r>
            <a:r>
              <a:rPr lang="fr-BE" b="0" dirty="0" err="1"/>
              <a:t>could</a:t>
            </a:r>
            <a:r>
              <a:rPr lang="fr-BE" b="0" dirty="0"/>
              <a:t> </a:t>
            </a:r>
            <a:r>
              <a:rPr lang="fr-BE" b="0" dirty="0" err="1"/>
              <a:t>dominate</a:t>
            </a:r>
            <a:r>
              <a:rPr lang="fr-BE" b="0" dirty="0"/>
              <a:t> distance </a:t>
            </a:r>
            <a:r>
              <a:rPr lang="fr-BE" b="0" dirty="0" err="1"/>
              <a:t>calculations</a:t>
            </a:r>
            <a:r>
              <a:rPr lang="fr-BE" b="0" dirty="0"/>
              <a:t> in K-Means clustering.</a:t>
            </a:r>
          </a:p>
          <a:p>
            <a:endParaRPr lang="fr-BE" b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3" name="Freeform 3"/>
          <p:cNvSpPr/>
          <p:nvPr/>
        </p:nvSpPr>
        <p:spPr>
          <a:xfrm>
            <a:off x="14478000" y="419100"/>
            <a:ext cx="3379419" cy="3155636"/>
          </a:xfrm>
          <a:custGeom>
            <a:avLst/>
            <a:gdLst/>
            <a:ahLst/>
            <a:cxnLst/>
            <a:rect l="l" t="t" r="r" b="b"/>
            <a:pathLst>
              <a:path w="6344884" h="6344884">
                <a:moveTo>
                  <a:pt x="0" y="0"/>
                </a:moveTo>
                <a:lnTo>
                  <a:pt x="6344885" y="0"/>
                </a:lnTo>
                <a:lnTo>
                  <a:pt x="6344885" y="6344884"/>
                </a:lnTo>
                <a:lnTo>
                  <a:pt x="0" y="6344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grpSp>
        <p:nvGrpSpPr>
          <p:cNvPr id="4" name="Group 4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6844" y="111323"/>
            <a:ext cx="1785430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BE" sz="4000" b="1" dirty="0" err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Selecting</a:t>
            </a:r>
            <a:r>
              <a:rPr lang="fr-BE" sz="4000" b="1" dirty="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 the Optimal Number of Clusters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398466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CFAD755-E4A3-81CD-2B21-AF90F6997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166" y="3931831"/>
            <a:ext cx="7598213" cy="574030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994BFF9C-01F6-AF88-294F-6DDB8F31594C}"/>
              </a:ext>
            </a:extLst>
          </p:cNvPr>
          <p:cNvSpPr txBox="1"/>
          <p:nvPr/>
        </p:nvSpPr>
        <p:spPr>
          <a:xfrm>
            <a:off x="216844" y="1266412"/>
            <a:ext cx="130419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dirty="0" err="1">
                <a:solidFill>
                  <a:schemeClr val="bg1"/>
                </a:solidFill>
                <a:latin typeface="Popins"/>
              </a:rPr>
              <a:t>Elbow</a:t>
            </a:r>
            <a:r>
              <a:rPr lang="fr-BE" sz="2400" b="1" dirty="0">
                <a:solidFill>
                  <a:schemeClr val="bg1"/>
                </a:solidFill>
                <a:latin typeface="Popins"/>
              </a:rPr>
              <a:t> Method</a:t>
            </a:r>
          </a:p>
          <a:p>
            <a:r>
              <a:rPr lang="fr-BE" sz="2400" dirty="0">
                <a:solidFill>
                  <a:schemeClr val="bg1"/>
                </a:solidFill>
                <a:latin typeface="Popins"/>
              </a:rPr>
              <a:t>The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Elbow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Method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was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used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to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determine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the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appropriate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number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of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customer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segments for K-Means clustering.</a:t>
            </a:r>
          </a:p>
          <a:p>
            <a:r>
              <a:rPr lang="fr-BE" sz="2400" dirty="0">
                <a:solidFill>
                  <a:schemeClr val="bg1"/>
                </a:solidFill>
                <a:latin typeface="Popins"/>
              </a:rPr>
              <a:t>For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each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value of </a:t>
            </a:r>
            <a:r>
              <a:rPr lang="fr-BE" sz="2400" b="1" dirty="0">
                <a:solidFill>
                  <a:schemeClr val="bg1"/>
                </a:solidFill>
                <a:latin typeface="Popins"/>
              </a:rPr>
              <a:t>K (1–10)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, a K-Means model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was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trained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and the </a:t>
            </a:r>
            <a:r>
              <a:rPr lang="fr-BE" sz="2400" b="1" dirty="0" err="1">
                <a:solidFill>
                  <a:schemeClr val="bg1"/>
                </a:solidFill>
                <a:latin typeface="Popins"/>
              </a:rPr>
              <a:t>Inertia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metric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was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calculated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.</a:t>
            </a:r>
          </a:p>
          <a:p>
            <a:r>
              <a:rPr lang="fr-BE" sz="2400" b="1" dirty="0" err="1">
                <a:solidFill>
                  <a:schemeClr val="bg1"/>
                </a:solidFill>
                <a:latin typeface="Popins"/>
              </a:rPr>
              <a:t>Inertia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measures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the total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within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-cluster variation,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where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lower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values </a:t>
            </a:r>
            <a:r>
              <a:rPr lang="fr-BE" sz="2400" dirty="0" err="1">
                <a:solidFill>
                  <a:schemeClr val="bg1"/>
                </a:solidFill>
                <a:latin typeface="Popins"/>
              </a:rPr>
              <a:t>indicate</a:t>
            </a:r>
            <a:r>
              <a:rPr lang="fr-BE" sz="2400" dirty="0">
                <a:solidFill>
                  <a:schemeClr val="bg1"/>
                </a:solidFill>
                <a:latin typeface="Popins"/>
              </a:rPr>
              <a:t> more compact clusters.</a:t>
            </a:r>
          </a:p>
          <a:p>
            <a:endParaRPr lang="fr-BE" sz="2400" dirty="0">
              <a:solidFill>
                <a:schemeClr val="bg1"/>
              </a:solidFill>
              <a:latin typeface="Popins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F2123BC-AB34-32FF-B640-D00F79779739}"/>
              </a:ext>
            </a:extLst>
          </p:cNvPr>
          <p:cNvSpPr txBox="1"/>
          <p:nvPr/>
        </p:nvSpPr>
        <p:spPr>
          <a:xfrm>
            <a:off x="8498546" y="3988570"/>
            <a:ext cx="79248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bg1"/>
                </a:solidFill>
                <a:latin typeface="Popins"/>
              </a:defRPr>
            </a:lvl1pPr>
          </a:lstStyle>
          <a:p>
            <a:r>
              <a:rPr lang="fr-BE" b="0" dirty="0" err="1"/>
              <a:t>Interpretation</a:t>
            </a:r>
            <a:endParaRPr lang="fr-BE" b="0" dirty="0"/>
          </a:p>
          <a:p>
            <a:r>
              <a:rPr lang="fr-BE" b="0" dirty="0"/>
              <a:t>The </a:t>
            </a:r>
            <a:r>
              <a:rPr lang="fr-BE" b="0" dirty="0" err="1"/>
              <a:t>curve</a:t>
            </a:r>
            <a:r>
              <a:rPr lang="fr-BE" b="0" dirty="0"/>
              <a:t> </a:t>
            </a:r>
            <a:r>
              <a:rPr lang="fr-BE" b="0" dirty="0" err="1"/>
              <a:t>begins</a:t>
            </a:r>
            <a:r>
              <a:rPr lang="fr-BE" b="0" dirty="0"/>
              <a:t> to </a:t>
            </a:r>
            <a:r>
              <a:rPr lang="fr-BE" b="0" dirty="0" err="1"/>
              <a:t>flatten</a:t>
            </a:r>
            <a:r>
              <a:rPr lang="fr-BE" b="0" dirty="0"/>
              <a:t> </a:t>
            </a:r>
            <a:r>
              <a:rPr lang="fr-BE" b="0" dirty="0" err="1"/>
              <a:t>around</a:t>
            </a:r>
            <a:r>
              <a:rPr lang="fr-BE" b="0" dirty="0"/>
              <a:t> K=4, </a:t>
            </a:r>
            <a:r>
              <a:rPr lang="fr-BE" b="0" dirty="0" err="1"/>
              <a:t>suggesting</a:t>
            </a:r>
            <a:r>
              <a:rPr lang="fr-BE" b="0" dirty="0"/>
              <a:t> </a:t>
            </a:r>
            <a:r>
              <a:rPr lang="fr-BE" b="0" dirty="0" err="1"/>
              <a:t>that</a:t>
            </a:r>
            <a:r>
              <a:rPr lang="fr-BE" b="0" dirty="0"/>
              <a:t> </a:t>
            </a:r>
            <a:r>
              <a:rPr lang="fr-BE" b="0" dirty="0" err="1"/>
              <a:t>most</a:t>
            </a:r>
            <a:r>
              <a:rPr lang="fr-BE" b="0" dirty="0"/>
              <a:t> of the </a:t>
            </a:r>
            <a:r>
              <a:rPr lang="fr-BE" b="0" dirty="0" err="1"/>
              <a:t>meaningful</a:t>
            </a:r>
            <a:r>
              <a:rPr lang="fr-BE" b="0" dirty="0"/>
              <a:t> </a:t>
            </a:r>
            <a:r>
              <a:rPr lang="fr-BE" b="0" dirty="0" err="1"/>
              <a:t>customer</a:t>
            </a:r>
            <a:r>
              <a:rPr lang="fr-BE" b="0" dirty="0"/>
              <a:t> structure has </a:t>
            </a:r>
            <a:r>
              <a:rPr lang="fr-BE" b="0" dirty="0" err="1"/>
              <a:t>already</a:t>
            </a:r>
            <a:r>
              <a:rPr lang="fr-BE" b="0" dirty="0"/>
              <a:t> been </a:t>
            </a:r>
            <a:r>
              <a:rPr lang="fr-BE" b="0" dirty="0" err="1"/>
              <a:t>captured</a:t>
            </a:r>
            <a:r>
              <a:rPr lang="fr-BE" b="0" dirty="0"/>
              <a:t>.</a:t>
            </a:r>
          </a:p>
          <a:p>
            <a:r>
              <a:rPr lang="fr-BE" b="0" dirty="0" err="1"/>
              <a:t>Adding</a:t>
            </a:r>
            <a:r>
              <a:rPr lang="fr-BE" b="0" dirty="0"/>
              <a:t> more clusters continues to </a:t>
            </a:r>
            <a:r>
              <a:rPr lang="fr-BE" b="0" dirty="0" err="1"/>
              <a:t>reduce</a:t>
            </a:r>
            <a:r>
              <a:rPr lang="fr-BE" b="0" dirty="0"/>
              <a:t> </a:t>
            </a:r>
            <a:r>
              <a:rPr lang="fr-BE" b="0" dirty="0" err="1"/>
              <a:t>inertia</a:t>
            </a:r>
            <a:r>
              <a:rPr lang="fr-BE" b="0" dirty="0"/>
              <a:t>, but the </a:t>
            </a:r>
            <a:r>
              <a:rPr lang="fr-BE" b="0" dirty="0" err="1"/>
              <a:t>improvement</a:t>
            </a:r>
            <a:r>
              <a:rPr lang="fr-BE" b="0" dirty="0"/>
              <a:t> </a:t>
            </a:r>
            <a:r>
              <a:rPr lang="fr-BE" b="0" dirty="0" err="1"/>
              <a:t>becomes</a:t>
            </a:r>
            <a:r>
              <a:rPr lang="fr-BE" b="0" dirty="0"/>
              <a:t> </a:t>
            </a:r>
            <a:r>
              <a:rPr lang="fr-BE" b="0" dirty="0" err="1"/>
              <a:t>relatively</a:t>
            </a:r>
            <a:r>
              <a:rPr lang="fr-BE" b="0" dirty="0"/>
              <a:t> </a:t>
            </a:r>
            <a:r>
              <a:rPr lang="fr-BE" b="0" dirty="0" err="1"/>
              <a:t>small</a:t>
            </a:r>
            <a:r>
              <a:rPr lang="fr-BE" b="0" dirty="0"/>
              <a:t> </a:t>
            </a:r>
            <a:r>
              <a:rPr lang="fr-BE" b="0" dirty="0" err="1"/>
              <a:t>compared</a:t>
            </a:r>
            <a:r>
              <a:rPr lang="fr-BE" b="0" dirty="0"/>
              <a:t> to the </a:t>
            </a:r>
            <a:r>
              <a:rPr lang="fr-BE" b="0" dirty="0" err="1"/>
              <a:t>increased</a:t>
            </a:r>
            <a:r>
              <a:rPr lang="fr-BE" b="0" dirty="0"/>
              <a:t> model </a:t>
            </a:r>
            <a:r>
              <a:rPr lang="fr-BE" b="0" dirty="0" err="1"/>
              <a:t>complexity</a:t>
            </a:r>
            <a:r>
              <a:rPr lang="fr-BE" b="0" dirty="0"/>
              <a:t>.</a:t>
            </a:r>
          </a:p>
          <a:p>
            <a:endParaRPr lang="fr-BE" b="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2AAAFF4-3DF7-2E23-3926-D1F5EFDC4782}"/>
              </a:ext>
            </a:extLst>
          </p:cNvPr>
          <p:cNvSpPr txBox="1"/>
          <p:nvPr/>
        </p:nvSpPr>
        <p:spPr>
          <a:xfrm>
            <a:off x="8412722" y="6982183"/>
            <a:ext cx="97038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0">
                <a:solidFill>
                  <a:schemeClr val="bg1"/>
                </a:solidFill>
                <a:latin typeface="Popins"/>
              </a:defRPr>
            </a:lvl1pPr>
          </a:lstStyle>
          <a:p>
            <a:r>
              <a:rPr lang="fr-BE" dirty="0" err="1"/>
              <a:t>Decision</a:t>
            </a:r>
            <a:endParaRPr lang="fr-BE" dirty="0"/>
          </a:p>
          <a:p>
            <a:r>
              <a:rPr lang="fr-BE" dirty="0"/>
              <a:t>Based on the </a:t>
            </a:r>
            <a:r>
              <a:rPr lang="fr-BE" dirty="0" err="1"/>
              <a:t>Elbow</a:t>
            </a:r>
            <a:r>
              <a:rPr lang="fr-BE" dirty="0"/>
              <a:t> Method, K=4 </a:t>
            </a:r>
            <a:r>
              <a:rPr lang="fr-BE" dirty="0" err="1"/>
              <a:t>was</a:t>
            </a:r>
            <a:r>
              <a:rPr lang="fr-BE" dirty="0"/>
              <a:t> </a:t>
            </a:r>
            <a:r>
              <a:rPr lang="fr-BE" dirty="0" err="1"/>
              <a:t>selected</a:t>
            </a:r>
            <a:r>
              <a:rPr lang="fr-BE" dirty="0"/>
              <a:t> as the initial candidate </a:t>
            </a:r>
            <a:r>
              <a:rPr lang="fr-BE" dirty="0" err="1"/>
              <a:t>because</a:t>
            </a:r>
            <a:r>
              <a:rPr lang="fr-BE" dirty="0"/>
              <a:t> </a:t>
            </a:r>
            <a:r>
              <a:rPr lang="fr-BE" dirty="0" err="1"/>
              <a:t>it</a:t>
            </a:r>
            <a:r>
              <a:rPr lang="fr-BE" dirty="0"/>
              <a:t> </a:t>
            </a:r>
            <a:r>
              <a:rPr lang="fr-BE" dirty="0" err="1"/>
              <a:t>provides</a:t>
            </a:r>
            <a:r>
              <a:rPr lang="fr-BE" dirty="0"/>
              <a:t> a balance </a:t>
            </a:r>
            <a:r>
              <a:rPr lang="fr-BE" dirty="0" err="1"/>
              <a:t>between</a:t>
            </a:r>
            <a:r>
              <a:rPr lang="fr-BE" dirty="0"/>
              <a:t> cluster </a:t>
            </a:r>
            <a:r>
              <a:rPr lang="fr-BE" dirty="0" err="1"/>
              <a:t>compactness</a:t>
            </a:r>
            <a:r>
              <a:rPr lang="fr-BE" dirty="0"/>
              <a:t> and model </a:t>
            </a:r>
            <a:r>
              <a:rPr lang="fr-BE" dirty="0" err="1"/>
              <a:t>interpretability</a:t>
            </a:r>
            <a:r>
              <a:rPr lang="fr-BE" dirty="0"/>
              <a:t>.</a:t>
            </a:r>
          </a:p>
          <a:p>
            <a:r>
              <a:rPr lang="fr-BE" dirty="0"/>
              <a:t>This </a:t>
            </a:r>
            <a:r>
              <a:rPr lang="fr-BE" dirty="0" err="1"/>
              <a:t>choice</a:t>
            </a:r>
            <a:r>
              <a:rPr lang="fr-BE" dirty="0"/>
              <a:t> </a:t>
            </a:r>
            <a:r>
              <a:rPr lang="fr-BE" dirty="0" err="1"/>
              <a:t>was</a:t>
            </a:r>
            <a:r>
              <a:rPr lang="fr-BE" dirty="0"/>
              <a:t> </a:t>
            </a:r>
            <a:r>
              <a:rPr lang="fr-BE" dirty="0" err="1"/>
              <a:t>later</a:t>
            </a:r>
            <a:r>
              <a:rPr lang="fr-BE" dirty="0"/>
              <a:t> </a:t>
            </a:r>
            <a:r>
              <a:rPr lang="fr-BE" dirty="0" err="1"/>
              <a:t>validated</a:t>
            </a:r>
            <a:r>
              <a:rPr lang="fr-BE" dirty="0"/>
              <a:t> </a:t>
            </a:r>
            <a:r>
              <a:rPr lang="fr-BE" dirty="0" err="1"/>
              <a:t>using</a:t>
            </a:r>
            <a:r>
              <a:rPr lang="fr-BE" dirty="0"/>
              <a:t> the Silhouette Score and business </a:t>
            </a:r>
            <a:r>
              <a:rPr lang="fr-BE" dirty="0" err="1"/>
              <a:t>interpretation</a:t>
            </a:r>
            <a:r>
              <a:rPr lang="fr-BE" dirty="0"/>
              <a:t> of the </a:t>
            </a:r>
            <a:r>
              <a:rPr lang="fr-BE" dirty="0" err="1"/>
              <a:t>resulting</a:t>
            </a:r>
            <a:r>
              <a:rPr lang="fr-BE" dirty="0"/>
              <a:t> </a:t>
            </a:r>
            <a:r>
              <a:rPr lang="fr-BE" dirty="0" err="1"/>
              <a:t>customer</a:t>
            </a:r>
            <a:r>
              <a:rPr lang="fr-BE" dirty="0"/>
              <a:t> segments.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BE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76400" y="542538"/>
            <a:ext cx="15373879" cy="85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6859"/>
              </a:lnSpc>
              <a:spcBef>
                <a:spcPct val="0"/>
              </a:spcBef>
            </a:pPr>
            <a:r>
              <a:rPr lang="fr-BE" sz="5400" dirty="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Customer Segment </a:t>
            </a:r>
            <a:r>
              <a:rPr lang="fr-BE" sz="5400" dirty="0" err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Interpretation</a:t>
            </a:r>
            <a:endParaRPr lang="en-US" sz="5400" b="1" u="none" strike="noStrike" dirty="0">
              <a:solidFill>
                <a:schemeClr val="bg1"/>
              </a:solidFill>
              <a:latin typeface="Poppins Bold" panose="00000800000000000000" charset="0"/>
              <a:ea typeface="Poppins Bold"/>
              <a:cs typeface="Poppins Bold" panose="00000800000000000000" charset="0"/>
              <a:sym typeface="Poppins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16398466" y="1079804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graphicFrame>
        <p:nvGraphicFramePr>
          <p:cNvPr id="32" name="Tableau 31">
            <a:extLst>
              <a:ext uri="{FF2B5EF4-FFF2-40B4-BE49-F238E27FC236}">
                <a16:creationId xmlns:a16="http://schemas.microsoft.com/office/drawing/2014/main" id="{02917599-640F-089B-BD81-77E8DE5B8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738397"/>
              </p:ext>
            </p:extLst>
          </p:nvPr>
        </p:nvGraphicFramePr>
        <p:xfrm>
          <a:off x="853039" y="1654079"/>
          <a:ext cx="16581921" cy="5273040"/>
        </p:xfrm>
        <a:graphic>
          <a:graphicData uri="http://schemas.openxmlformats.org/drawingml/2006/table">
            <a:tbl>
              <a:tblPr/>
              <a:tblGrid>
                <a:gridCol w="5527307">
                  <a:extLst>
                    <a:ext uri="{9D8B030D-6E8A-4147-A177-3AD203B41FA5}">
                      <a16:colId xmlns:a16="http://schemas.microsoft.com/office/drawing/2014/main" val="3836909763"/>
                    </a:ext>
                  </a:extLst>
                </a:gridCol>
                <a:gridCol w="5527307">
                  <a:extLst>
                    <a:ext uri="{9D8B030D-6E8A-4147-A177-3AD203B41FA5}">
                      <a16:colId xmlns:a16="http://schemas.microsoft.com/office/drawing/2014/main" val="4058092126"/>
                    </a:ext>
                  </a:extLst>
                </a:gridCol>
                <a:gridCol w="5527307">
                  <a:extLst>
                    <a:ext uri="{9D8B030D-6E8A-4147-A177-3AD203B41FA5}">
                      <a16:colId xmlns:a16="http://schemas.microsoft.com/office/drawing/2014/main" val="124600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BE" sz="2800" b="1" dirty="0">
                          <a:solidFill>
                            <a:schemeClr val="bg1"/>
                          </a:solidFill>
                          <a:latin typeface="Popins"/>
                        </a:rPr>
                        <a:t>Segment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BE" sz="2800" b="1" dirty="0">
                          <a:solidFill>
                            <a:schemeClr val="bg1"/>
                          </a:solidFill>
                          <a:latin typeface="Popins"/>
                        </a:rPr>
                        <a:t>Key Characteristics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BE" sz="2800" b="1" dirty="0">
                          <a:solidFill>
                            <a:schemeClr val="bg1"/>
                          </a:solidFill>
                          <a:latin typeface="Popins"/>
                        </a:rPr>
                        <a:t>Business Action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2902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High Value One-Time Buyers (Cluster 0)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High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spending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customers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,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typically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using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multiple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installments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, but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with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only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one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purchase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Encourage a second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purchase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through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personalized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promotions.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4637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Dormant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Customers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(Cluster 1)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fr-BE" sz="2400" kern="1200" dirty="0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Low </a:t>
                      </a:r>
                      <a:r>
                        <a:rPr lang="fr-BE" sz="2400" kern="1200" dirty="0" err="1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spending</a:t>
                      </a:r>
                      <a:r>
                        <a:rPr lang="fr-BE" sz="2400" kern="1200" dirty="0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 </a:t>
                      </a:r>
                      <a:r>
                        <a:rPr lang="fr-BE" sz="2400" kern="1200" dirty="0" err="1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customers</a:t>
                      </a:r>
                      <a:r>
                        <a:rPr lang="fr-BE" sz="2400" kern="1200" dirty="0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 </a:t>
                      </a:r>
                      <a:r>
                        <a:rPr lang="fr-BE" sz="2400" kern="1200" dirty="0" err="1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with</a:t>
                      </a:r>
                      <a:r>
                        <a:rPr lang="fr-BE" sz="2400" kern="1200" dirty="0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 a long </a:t>
                      </a:r>
                      <a:r>
                        <a:rPr lang="fr-BE" sz="2400" kern="1200" dirty="0" err="1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period</a:t>
                      </a:r>
                      <a:r>
                        <a:rPr lang="fr-BE" sz="2400" kern="1200" dirty="0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 </a:t>
                      </a:r>
                      <a:r>
                        <a:rPr lang="fr-BE" sz="2400" kern="1200" dirty="0" err="1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since</a:t>
                      </a:r>
                      <a:r>
                        <a:rPr lang="fr-BE" sz="2400" kern="1200" dirty="0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 </a:t>
                      </a:r>
                      <a:r>
                        <a:rPr lang="fr-BE" sz="2400" kern="1200" dirty="0" err="1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their</a:t>
                      </a:r>
                      <a:r>
                        <a:rPr lang="fr-BE" sz="2400" kern="1200" dirty="0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 last </a:t>
                      </a:r>
                      <a:r>
                        <a:rPr lang="fr-BE" sz="2400" kern="1200" dirty="0" err="1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purchase</a:t>
                      </a:r>
                      <a:r>
                        <a:rPr lang="fr-BE" sz="2400" kern="1200" dirty="0">
                          <a:solidFill>
                            <a:schemeClr val="bg1"/>
                          </a:solidFill>
                          <a:latin typeface="Popins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algn="l" defTabSz="914400" rtl="0" eaLnBrk="1" latinLnBrk="0" hangingPunct="1">
                        <a:buNone/>
                      </a:pPr>
                      <a:endParaRPr lang="fr-BE" sz="2400" kern="1200" dirty="0">
                        <a:solidFill>
                          <a:schemeClr val="bg1"/>
                        </a:solidFill>
                        <a:latin typeface="Popi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Reactivation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campaigns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and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targeted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discounts.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5353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Loyal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Customers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(Cluster 2)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Highest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purchase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frequency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,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longest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customer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lifetime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, and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relatively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recent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activity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.</a:t>
                      </a:r>
                      <a:endParaRPr lang="fr-BE" sz="2400" kern="1200" dirty="0">
                        <a:solidFill>
                          <a:schemeClr val="bg1"/>
                        </a:solidFill>
                        <a:latin typeface="Popin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400" kern="1200" dirty="0">
                        <a:solidFill>
                          <a:schemeClr val="bg1"/>
                        </a:solidFill>
                        <a:latin typeface="Popi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Retention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programs,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loyalty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rewards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, and exclusive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offers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4639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Recent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Customers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(Cluster 3)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Low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spending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customers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with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recent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activity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but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limited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purchase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history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Nurture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engagement and encourage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repeat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 </a:t>
                      </a:r>
                      <a:r>
                        <a:rPr lang="fr-BE" sz="2400" dirty="0" err="1">
                          <a:solidFill>
                            <a:schemeClr val="bg1"/>
                          </a:solidFill>
                          <a:latin typeface="Popins"/>
                        </a:rPr>
                        <a:t>purchases</a:t>
                      </a:r>
                      <a:r>
                        <a:rPr lang="fr-BE" sz="2400" dirty="0">
                          <a:solidFill>
                            <a:schemeClr val="bg1"/>
                          </a:solidFill>
                          <a:latin typeface="Popin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9138448"/>
                  </a:ext>
                </a:extLst>
              </a:tr>
            </a:tbl>
          </a:graphicData>
        </a:graphic>
      </p:graphicFrame>
      <p:pic>
        <p:nvPicPr>
          <p:cNvPr id="35" name="Image 34">
            <a:extLst>
              <a:ext uri="{FF2B5EF4-FFF2-40B4-BE49-F238E27FC236}">
                <a16:creationId xmlns:a16="http://schemas.microsoft.com/office/drawing/2014/main" id="{DEB91FE3-0BC8-315E-7E4A-84F3AB221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2215" y="7181896"/>
            <a:ext cx="13283567" cy="2491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188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BE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368484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8" name="Freeform 8"/>
          <p:cNvSpPr/>
          <p:nvPr/>
        </p:nvSpPr>
        <p:spPr>
          <a:xfrm>
            <a:off x="15130365" y="299728"/>
            <a:ext cx="3124200" cy="1752600"/>
          </a:xfrm>
          <a:custGeom>
            <a:avLst/>
            <a:gdLst/>
            <a:ahLst/>
            <a:cxnLst/>
            <a:rect l="l" t="t" r="r" b="b"/>
            <a:pathLst>
              <a:path w="7104121" h="4593824">
                <a:moveTo>
                  <a:pt x="0" y="0"/>
                </a:moveTo>
                <a:lnTo>
                  <a:pt x="7104121" y="0"/>
                </a:lnTo>
                <a:lnTo>
                  <a:pt x="7104121" y="4593824"/>
                </a:lnTo>
                <a:lnTo>
                  <a:pt x="0" y="45938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BF64E80-1252-103E-548A-EE981BA60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670" y="4176853"/>
            <a:ext cx="8817763" cy="5495281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9D1C049-FA3A-6DD1-D1EB-D958FA83E713}"/>
              </a:ext>
            </a:extLst>
          </p:cNvPr>
          <p:cNvSpPr txBox="1"/>
          <p:nvPr/>
        </p:nvSpPr>
        <p:spPr>
          <a:xfrm>
            <a:off x="5638800" y="299728"/>
            <a:ext cx="998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600" b="1" dirty="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t-SNE </a:t>
            </a:r>
            <a:r>
              <a:rPr lang="fr-BE" sz="3600" b="1" dirty="0" err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Visualization</a:t>
            </a:r>
            <a:r>
              <a:rPr lang="fr-BE" sz="3600" b="1" dirty="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 </a:t>
            </a:r>
            <a:r>
              <a:rPr lang="fr-BE" sz="3600" b="1" dirty="0" err="1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Interpretation</a:t>
            </a:r>
            <a:endParaRPr lang="fr-BE" sz="3600" b="1" dirty="0">
              <a:solidFill>
                <a:schemeClr val="bg1"/>
              </a:solidFill>
              <a:latin typeface="Poppins Bold" panose="00000800000000000000" charset="0"/>
              <a:cs typeface="Poppins Bold" panose="00000800000000000000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43CC95F-8B80-FEB5-0680-6247D599CB96}"/>
              </a:ext>
            </a:extLst>
          </p:cNvPr>
          <p:cNvSpPr txBox="1"/>
          <p:nvPr/>
        </p:nvSpPr>
        <p:spPr>
          <a:xfrm>
            <a:off x="560313" y="1407294"/>
            <a:ext cx="110193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dirty="0">
                <a:solidFill>
                  <a:schemeClr val="bg1"/>
                </a:solidFill>
              </a:rPr>
              <a:t>Cluster </a:t>
            </a:r>
            <a:r>
              <a:rPr lang="fr-BE" sz="2400" b="1" dirty="0" err="1">
                <a:solidFill>
                  <a:schemeClr val="bg1"/>
                </a:solidFill>
              </a:rPr>
              <a:t>Separation</a:t>
            </a:r>
            <a:endParaRPr lang="fr-BE" sz="2400" b="1" dirty="0">
              <a:solidFill>
                <a:schemeClr val="bg1"/>
              </a:solidFill>
            </a:endParaRPr>
          </a:p>
          <a:p>
            <a:r>
              <a:rPr lang="fr-BE" sz="2400" dirty="0">
                <a:solidFill>
                  <a:schemeClr val="bg1"/>
                </a:solidFill>
              </a:rPr>
              <a:t>The t-SNE </a:t>
            </a:r>
            <a:r>
              <a:rPr lang="fr-BE" sz="2400" dirty="0" err="1">
                <a:solidFill>
                  <a:schemeClr val="bg1"/>
                </a:solidFill>
              </a:rPr>
              <a:t>visualization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confirms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that</a:t>
            </a:r>
            <a:r>
              <a:rPr lang="fr-BE" sz="2400" dirty="0">
                <a:solidFill>
                  <a:schemeClr val="bg1"/>
                </a:solidFill>
              </a:rPr>
              <a:t> the K-Means </a:t>
            </a:r>
            <a:r>
              <a:rPr lang="fr-BE" sz="2400" dirty="0" err="1">
                <a:solidFill>
                  <a:schemeClr val="bg1"/>
                </a:solidFill>
              </a:rPr>
              <a:t>algorithm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successfully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identified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meaningful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customer</a:t>
            </a:r>
            <a:r>
              <a:rPr lang="fr-BE" sz="2400" dirty="0">
                <a:solidFill>
                  <a:schemeClr val="bg1"/>
                </a:solidFill>
              </a:rPr>
              <a:t> segments.</a:t>
            </a:r>
          </a:p>
          <a:p>
            <a:r>
              <a:rPr lang="fr-BE" sz="2400" dirty="0">
                <a:solidFill>
                  <a:schemeClr val="bg1"/>
                </a:solidFill>
              </a:rPr>
              <a:t>Most </a:t>
            </a:r>
            <a:r>
              <a:rPr lang="fr-BE" sz="2400" dirty="0" err="1">
                <a:solidFill>
                  <a:schemeClr val="bg1"/>
                </a:solidFill>
              </a:rPr>
              <a:t>customer</a:t>
            </a:r>
            <a:r>
              <a:rPr lang="fr-BE" sz="2400" dirty="0">
                <a:solidFill>
                  <a:schemeClr val="bg1"/>
                </a:solidFill>
              </a:rPr>
              <a:t> groups </a:t>
            </a:r>
            <a:r>
              <a:rPr lang="fr-BE" sz="2400" dirty="0" err="1">
                <a:solidFill>
                  <a:schemeClr val="bg1"/>
                </a:solidFill>
              </a:rPr>
              <a:t>form</a:t>
            </a:r>
            <a:r>
              <a:rPr lang="fr-BE" sz="2400" dirty="0">
                <a:solidFill>
                  <a:schemeClr val="bg1"/>
                </a:solidFill>
              </a:rPr>
              <a:t> distinct </a:t>
            </a:r>
            <a:r>
              <a:rPr lang="fr-BE" sz="2400" dirty="0" err="1">
                <a:solidFill>
                  <a:schemeClr val="bg1"/>
                </a:solidFill>
              </a:rPr>
              <a:t>regions</a:t>
            </a:r>
            <a:r>
              <a:rPr lang="fr-BE" sz="2400" dirty="0">
                <a:solidFill>
                  <a:schemeClr val="bg1"/>
                </a:solidFill>
              </a:rPr>
              <a:t> in the </a:t>
            </a:r>
            <a:r>
              <a:rPr lang="fr-BE" sz="2400" dirty="0" err="1">
                <a:solidFill>
                  <a:schemeClr val="bg1"/>
                </a:solidFill>
              </a:rPr>
              <a:t>feature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space</a:t>
            </a:r>
            <a:r>
              <a:rPr lang="fr-BE" sz="2400" dirty="0">
                <a:solidFill>
                  <a:schemeClr val="bg1"/>
                </a:solidFill>
              </a:rPr>
              <a:t>, </a:t>
            </a:r>
            <a:r>
              <a:rPr lang="fr-BE" sz="2400" dirty="0" err="1">
                <a:solidFill>
                  <a:schemeClr val="bg1"/>
                </a:solidFill>
              </a:rPr>
              <a:t>indicating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that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customers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within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each</a:t>
            </a:r>
            <a:r>
              <a:rPr lang="fr-BE" sz="2400" dirty="0">
                <a:solidFill>
                  <a:schemeClr val="bg1"/>
                </a:solidFill>
              </a:rPr>
              <a:t> segment </a:t>
            </a:r>
            <a:r>
              <a:rPr lang="fr-BE" sz="2400" dirty="0" err="1">
                <a:solidFill>
                  <a:schemeClr val="bg1"/>
                </a:solidFill>
              </a:rPr>
              <a:t>share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similar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purchasing</a:t>
            </a:r>
            <a:r>
              <a:rPr lang="fr-BE" sz="2400" dirty="0">
                <a:solidFill>
                  <a:schemeClr val="bg1"/>
                </a:solidFill>
              </a:rPr>
              <a:t> </a:t>
            </a:r>
            <a:r>
              <a:rPr lang="fr-BE" sz="2400" dirty="0" err="1">
                <a:solidFill>
                  <a:schemeClr val="bg1"/>
                </a:solidFill>
              </a:rPr>
              <a:t>behaviors</a:t>
            </a:r>
            <a:r>
              <a:rPr lang="fr-BE" sz="2400" dirty="0">
                <a:solidFill>
                  <a:schemeClr val="bg1"/>
                </a:solidFill>
              </a:rPr>
              <a:t>.</a:t>
            </a:r>
          </a:p>
          <a:p>
            <a:endParaRPr lang="fr-BE" sz="2400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ECBEEAF-02BD-D71D-06F9-70D5E5A440EC}"/>
              </a:ext>
            </a:extLst>
          </p:cNvPr>
          <p:cNvSpPr txBox="1"/>
          <p:nvPr/>
        </p:nvSpPr>
        <p:spPr>
          <a:xfrm>
            <a:off x="12115800" y="1943100"/>
            <a:ext cx="58812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fr-BE" b="0" dirty="0"/>
              <a:t>Loyal </a:t>
            </a:r>
            <a:r>
              <a:rPr lang="fr-BE" b="0" dirty="0" err="1"/>
              <a:t>Customers</a:t>
            </a:r>
            <a:endParaRPr lang="fr-BE" b="0" dirty="0"/>
          </a:p>
          <a:p>
            <a:r>
              <a:rPr lang="fr-BE" b="0" dirty="0"/>
              <a:t>The Loyal </a:t>
            </a:r>
            <a:r>
              <a:rPr lang="fr-BE" b="0" dirty="0" err="1"/>
              <a:t>Customers</a:t>
            </a:r>
            <a:r>
              <a:rPr lang="fr-BE" b="0" dirty="0"/>
              <a:t> segment </a:t>
            </a:r>
            <a:r>
              <a:rPr lang="fr-BE" b="0" dirty="0" err="1"/>
              <a:t>appears</a:t>
            </a:r>
            <a:r>
              <a:rPr lang="fr-BE" b="0" dirty="0"/>
              <a:t> </a:t>
            </a:r>
            <a:r>
              <a:rPr lang="fr-BE" b="0" dirty="0" err="1"/>
              <a:t>clearly</a:t>
            </a:r>
            <a:r>
              <a:rPr lang="fr-BE" b="0" dirty="0"/>
              <a:t> </a:t>
            </a:r>
            <a:r>
              <a:rPr lang="fr-BE" b="0" dirty="0" err="1"/>
              <a:t>isolated</a:t>
            </a:r>
            <a:r>
              <a:rPr lang="fr-BE" b="0" dirty="0"/>
              <a:t> </a:t>
            </a:r>
            <a:r>
              <a:rPr lang="fr-BE" b="0" dirty="0" err="1"/>
              <a:t>from</a:t>
            </a:r>
            <a:r>
              <a:rPr lang="fr-BE" b="0" dirty="0"/>
              <a:t> the </a:t>
            </a:r>
            <a:r>
              <a:rPr lang="fr-BE" b="0" dirty="0" err="1"/>
              <a:t>remaining</a:t>
            </a:r>
            <a:r>
              <a:rPr lang="fr-BE" b="0" dirty="0"/>
              <a:t> groups.</a:t>
            </a:r>
          </a:p>
          <a:p>
            <a:r>
              <a:rPr lang="fr-BE" b="0" dirty="0"/>
              <a:t>This </a:t>
            </a:r>
            <a:r>
              <a:rPr lang="fr-BE" b="0" dirty="0" err="1"/>
              <a:t>suggests</a:t>
            </a:r>
            <a:r>
              <a:rPr lang="fr-BE" b="0" dirty="0"/>
              <a:t> </a:t>
            </a:r>
            <a:r>
              <a:rPr lang="fr-BE" b="0" dirty="0" err="1"/>
              <a:t>that</a:t>
            </a:r>
            <a:r>
              <a:rPr lang="fr-BE" b="0" dirty="0"/>
              <a:t> </a:t>
            </a:r>
            <a:r>
              <a:rPr lang="fr-BE" b="0" dirty="0" err="1"/>
              <a:t>repeat</a:t>
            </a:r>
            <a:r>
              <a:rPr lang="fr-BE" b="0" dirty="0"/>
              <a:t> </a:t>
            </a:r>
            <a:r>
              <a:rPr lang="fr-BE" b="0" dirty="0" err="1"/>
              <a:t>buyers</a:t>
            </a:r>
            <a:r>
              <a:rPr lang="fr-BE" b="0" dirty="0"/>
              <a:t> </a:t>
            </a:r>
            <a:r>
              <a:rPr lang="fr-BE" b="0" dirty="0" err="1"/>
              <a:t>exhibit</a:t>
            </a:r>
            <a:r>
              <a:rPr lang="fr-BE" b="0" dirty="0"/>
              <a:t> a unique </a:t>
            </a:r>
            <a:r>
              <a:rPr lang="fr-BE" b="0" dirty="0" err="1"/>
              <a:t>behavioral</a:t>
            </a:r>
            <a:r>
              <a:rPr lang="fr-BE" b="0" dirty="0"/>
              <a:t> pattern </a:t>
            </a:r>
            <a:r>
              <a:rPr lang="fr-BE" b="0" dirty="0" err="1"/>
              <a:t>characterized</a:t>
            </a:r>
            <a:r>
              <a:rPr lang="fr-BE" b="0" dirty="0"/>
              <a:t> by: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BE" b="0" dirty="0" err="1"/>
              <a:t>Higher</a:t>
            </a:r>
            <a:r>
              <a:rPr lang="fr-BE" b="0" dirty="0"/>
              <a:t> </a:t>
            </a:r>
            <a:r>
              <a:rPr lang="fr-BE" b="0" dirty="0" err="1"/>
              <a:t>purchase</a:t>
            </a:r>
            <a:r>
              <a:rPr lang="fr-BE" b="0" dirty="0"/>
              <a:t> </a:t>
            </a:r>
            <a:r>
              <a:rPr lang="fr-BE" b="0" dirty="0" err="1"/>
              <a:t>frequency</a:t>
            </a:r>
            <a:r>
              <a:rPr lang="fr-BE" b="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BE" b="0" dirty="0"/>
              <a:t>Longer </a:t>
            </a:r>
            <a:r>
              <a:rPr lang="fr-BE" b="0" dirty="0" err="1"/>
              <a:t>customer</a:t>
            </a:r>
            <a:r>
              <a:rPr lang="fr-BE" b="0" dirty="0"/>
              <a:t> </a:t>
            </a:r>
            <a:r>
              <a:rPr lang="fr-BE" b="0" dirty="0" err="1"/>
              <a:t>lifetime</a:t>
            </a:r>
            <a:r>
              <a:rPr lang="fr-BE" b="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BE" b="0" dirty="0"/>
              <a:t>More </a:t>
            </a:r>
            <a:r>
              <a:rPr lang="fr-BE" b="0" dirty="0" err="1"/>
              <a:t>recent</a:t>
            </a:r>
            <a:r>
              <a:rPr lang="fr-BE" b="0" dirty="0"/>
              <a:t> </a:t>
            </a:r>
            <a:r>
              <a:rPr lang="fr-BE" b="0" dirty="0" err="1"/>
              <a:t>activity</a:t>
            </a:r>
            <a:r>
              <a:rPr lang="fr-BE" b="0" dirty="0"/>
              <a:t>. </a:t>
            </a:r>
          </a:p>
          <a:p>
            <a:r>
              <a:rPr lang="fr-BE" b="0" dirty="0"/>
              <a:t>The </a:t>
            </a:r>
            <a:r>
              <a:rPr lang="fr-BE" b="0" dirty="0" err="1"/>
              <a:t>strong</a:t>
            </a:r>
            <a:r>
              <a:rPr lang="fr-BE" b="0" dirty="0"/>
              <a:t> </a:t>
            </a:r>
            <a:r>
              <a:rPr lang="fr-BE" b="0" dirty="0" err="1"/>
              <a:t>separation</a:t>
            </a:r>
            <a:r>
              <a:rPr lang="fr-BE" b="0" dirty="0"/>
              <a:t> </a:t>
            </a:r>
            <a:r>
              <a:rPr lang="fr-BE" b="0" dirty="0" err="1"/>
              <a:t>indicates</a:t>
            </a:r>
            <a:r>
              <a:rPr lang="fr-BE" b="0" dirty="0"/>
              <a:t> </a:t>
            </a:r>
            <a:r>
              <a:rPr lang="fr-BE" b="0" dirty="0" err="1"/>
              <a:t>that</a:t>
            </a:r>
            <a:r>
              <a:rPr lang="fr-BE" b="0" dirty="0"/>
              <a:t> </a:t>
            </a:r>
            <a:r>
              <a:rPr lang="fr-BE" b="0" dirty="0" err="1"/>
              <a:t>this</a:t>
            </a:r>
            <a:r>
              <a:rPr lang="fr-BE" b="0" dirty="0"/>
              <a:t> segment </a:t>
            </a:r>
            <a:r>
              <a:rPr lang="fr-BE" b="0" dirty="0" err="1"/>
              <a:t>is</a:t>
            </a:r>
            <a:r>
              <a:rPr lang="fr-BE" b="0" dirty="0"/>
              <a:t> </a:t>
            </a:r>
            <a:r>
              <a:rPr lang="fr-BE" b="0" dirty="0" err="1"/>
              <a:t>significantly</a:t>
            </a:r>
            <a:r>
              <a:rPr lang="fr-BE" b="0" dirty="0"/>
              <a:t> </a:t>
            </a:r>
            <a:r>
              <a:rPr lang="fr-BE" b="0" dirty="0" err="1"/>
              <a:t>different</a:t>
            </a:r>
            <a:r>
              <a:rPr lang="fr-BE" b="0" dirty="0"/>
              <a:t> </a:t>
            </a:r>
            <a:r>
              <a:rPr lang="fr-BE" b="0" dirty="0" err="1"/>
              <a:t>from</a:t>
            </a:r>
            <a:r>
              <a:rPr lang="fr-BE" b="0" dirty="0"/>
              <a:t> the </a:t>
            </a:r>
            <a:r>
              <a:rPr lang="fr-BE" b="0" dirty="0" err="1"/>
              <a:t>rest</a:t>
            </a:r>
            <a:r>
              <a:rPr lang="fr-BE" b="0" dirty="0"/>
              <a:t> of the </a:t>
            </a:r>
            <a:r>
              <a:rPr lang="fr-BE" b="0" dirty="0" err="1"/>
              <a:t>customer</a:t>
            </a:r>
            <a:r>
              <a:rPr lang="fr-BE" b="0" dirty="0"/>
              <a:t> base.</a:t>
            </a:r>
          </a:p>
          <a:p>
            <a:endParaRPr lang="fr-BE" b="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94D1CBE-FF5B-666F-BED3-A2734685B329}"/>
              </a:ext>
            </a:extLst>
          </p:cNvPr>
          <p:cNvSpPr txBox="1"/>
          <p:nvPr/>
        </p:nvSpPr>
        <p:spPr>
          <a:xfrm>
            <a:off x="9321760" y="6625146"/>
            <a:ext cx="59574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fr-BE" dirty="0"/>
              <a:t>The t-SNE </a:t>
            </a:r>
            <a:r>
              <a:rPr lang="fr-BE" dirty="0" err="1"/>
              <a:t>visualization</a:t>
            </a:r>
            <a:r>
              <a:rPr lang="fr-BE" dirty="0"/>
              <a:t> supports the clustering </a:t>
            </a:r>
            <a:r>
              <a:rPr lang="fr-BE" dirty="0" err="1"/>
              <a:t>results</a:t>
            </a:r>
            <a:r>
              <a:rPr lang="fr-BE" dirty="0"/>
              <a:t> by </a:t>
            </a:r>
            <a:r>
              <a:rPr lang="fr-BE" dirty="0" err="1"/>
              <a:t>showing</a:t>
            </a:r>
            <a:r>
              <a:rPr lang="fr-BE" dirty="0"/>
              <a:t> </a:t>
            </a:r>
            <a:r>
              <a:rPr lang="fr-BE" dirty="0" err="1"/>
              <a:t>that</a:t>
            </a:r>
            <a:r>
              <a:rPr lang="fr-BE" dirty="0"/>
              <a:t> Loyal </a:t>
            </a:r>
            <a:r>
              <a:rPr lang="fr-BE" dirty="0" err="1"/>
              <a:t>Customers</a:t>
            </a:r>
            <a:r>
              <a:rPr lang="fr-BE" dirty="0"/>
              <a:t> </a:t>
            </a:r>
            <a:r>
              <a:rPr lang="fr-BE" dirty="0" err="1"/>
              <a:t>form</a:t>
            </a:r>
            <a:r>
              <a:rPr lang="fr-BE" dirty="0"/>
              <a:t> a </a:t>
            </a:r>
            <a:r>
              <a:rPr lang="fr-BE" dirty="0" err="1"/>
              <a:t>clearly</a:t>
            </a:r>
            <a:r>
              <a:rPr lang="fr-BE" dirty="0"/>
              <a:t> </a:t>
            </a:r>
            <a:r>
              <a:rPr lang="fr-BE" dirty="0" err="1"/>
              <a:t>differentiated</a:t>
            </a:r>
            <a:r>
              <a:rPr lang="fr-BE" dirty="0"/>
              <a:t> segment, </a:t>
            </a:r>
            <a:r>
              <a:rPr lang="fr-BE" dirty="0" err="1"/>
              <a:t>while</a:t>
            </a:r>
            <a:r>
              <a:rPr lang="fr-BE" dirty="0"/>
              <a:t> </a:t>
            </a:r>
            <a:r>
              <a:rPr lang="fr-BE" dirty="0" err="1"/>
              <a:t>Recent</a:t>
            </a:r>
            <a:r>
              <a:rPr lang="fr-BE" dirty="0"/>
              <a:t> </a:t>
            </a:r>
            <a:r>
              <a:rPr lang="fr-BE" dirty="0" err="1"/>
              <a:t>Customers</a:t>
            </a:r>
            <a:r>
              <a:rPr lang="fr-BE" dirty="0"/>
              <a:t>, Dormant </a:t>
            </a:r>
            <a:r>
              <a:rPr lang="fr-BE" dirty="0" err="1"/>
              <a:t>Customers</a:t>
            </a:r>
            <a:r>
              <a:rPr lang="fr-BE" dirty="0"/>
              <a:t>, and High Value One-Time Buyers </a:t>
            </a:r>
            <a:r>
              <a:rPr lang="fr-BE" dirty="0" err="1"/>
              <a:t>exhibit</a:t>
            </a:r>
            <a:r>
              <a:rPr lang="fr-BE" dirty="0"/>
              <a:t> </a:t>
            </a:r>
            <a:r>
              <a:rPr lang="fr-BE" dirty="0" err="1"/>
              <a:t>moderate</a:t>
            </a:r>
            <a:r>
              <a:rPr lang="fr-BE" dirty="0"/>
              <a:t> </a:t>
            </a:r>
            <a:r>
              <a:rPr lang="fr-BE" dirty="0" err="1"/>
              <a:t>overlap</a:t>
            </a:r>
            <a:r>
              <a:rPr lang="fr-BE" dirty="0"/>
              <a:t>, </a:t>
            </a:r>
            <a:r>
              <a:rPr lang="fr-BE" dirty="0" err="1"/>
              <a:t>reflecting</a:t>
            </a:r>
            <a:r>
              <a:rPr lang="fr-BE" dirty="0"/>
              <a:t> </a:t>
            </a:r>
            <a:r>
              <a:rPr lang="fr-BE" dirty="0" err="1"/>
              <a:t>gradual</a:t>
            </a:r>
            <a:r>
              <a:rPr lang="fr-BE" dirty="0"/>
              <a:t> transitions in </a:t>
            </a:r>
            <a:r>
              <a:rPr lang="fr-BE" dirty="0" err="1"/>
              <a:t>customer</a:t>
            </a:r>
            <a:r>
              <a:rPr lang="fr-BE" dirty="0"/>
              <a:t> </a:t>
            </a:r>
            <a:r>
              <a:rPr lang="fr-BE" dirty="0" err="1"/>
              <a:t>behavior</a:t>
            </a:r>
            <a:r>
              <a:rPr lang="fr-BE" dirty="0"/>
              <a:t> </a:t>
            </a:r>
            <a:r>
              <a:rPr lang="fr-BE" dirty="0" err="1"/>
              <a:t>rather</a:t>
            </a:r>
            <a:r>
              <a:rPr lang="fr-BE" dirty="0"/>
              <a:t> </a:t>
            </a:r>
            <a:r>
              <a:rPr lang="fr-BE" dirty="0" err="1"/>
              <a:t>than</a:t>
            </a:r>
            <a:r>
              <a:rPr lang="fr-BE" dirty="0"/>
              <a:t> </a:t>
            </a:r>
            <a:r>
              <a:rPr lang="fr-BE" dirty="0" err="1"/>
              <a:t>perfectly</a:t>
            </a:r>
            <a:r>
              <a:rPr lang="fr-BE" dirty="0"/>
              <a:t> </a:t>
            </a:r>
            <a:r>
              <a:rPr lang="fr-BE" dirty="0" err="1"/>
              <a:t>separated</a:t>
            </a:r>
            <a:r>
              <a:rPr lang="fr-BE" dirty="0"/>
              <a:t> groups.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55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BE"/>
          </a:p>
        </p:txBody>
      </p:sp>
      <p:grpSp>
        <p:nvGrpSpPr>
          <p:cNvPr id="4" name="Group 4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086350" y="266700"/>
            <a:ext cx="9144000" cy="18070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859"/>
              </a:lnSpc>
            </a:pPr>
            <a:r>
              <a:rPr lang="fr-BE" sz="7200" dirty="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Business Recommendations</a:t>
            </a:r>
            <a:endParaRPr lang="en-US" sz="6999" b="1" u="none" strike="noStrike" dirty="0">
              <a:solidFill>
                <a:schemeClr val="bg1"/>
              </a:solidFill>
              <a:latin typeface="Poppins Bold" panose="00000800000000000000" charset="0"/>
              <a:ea typeface="Poppins Bold"/>
              <a:cs typeface="Poppins Bold" panose="00000800000000000000" charset="0"/>
              <a:sym typeface="Poppins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398466" y="1079804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B0B9A59-36A1-F98A-E53E-2873F979019D}"/>
              </a:ext>
            </a:extLst>
          </p:cNvPr>
          <p:cNvSpPr txBox="1"/>
          <p:nvPr/>
        </p:nvSpPr>
        <p:spPr>
          <a:xfrm>
            <a:off x="228600" y="1946169"/>
            <a:ext cx="6324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b="1" dirty="0">
                <a:solidFill>
                  <a:schemeClr val="bg1"/>
                </a:solidFill>
                <a:latin typeface="Popins"/>
                <a:cs typeface="Poppins Bold" panose="00000800000000000000" charset="0"/>
              </a:rPr>
              <a:t>Loyal </a:t>
            </a:r>
            <a:r>
              <a:rPr lang="fr-BE" sz="2800" b="1" dirty="0" err="1">
                <a:solidFill>
                  <a:schemeClr val="bg1"/>
                </a:solidFill>
                <a:latin typeface="Popins"/>
                <a:cs typeface="Poppins Bold" panose="00000800000000000000" charset="0"/>
              </a:rPr>
              <a:t>Customers</a:t>
            </a:r>
            <a:r>
              <a:rPr lang="fr-BE" sz="2800" b="1" dirty="0">
                <a:solidFill>
                  <a:schemeClr val="bg1"/>
                </a:solidFill>
                <a:latin typeface="Popins"/>
                <a:cs typeface="Poppins Bold" panose="00000800000000000000" charset="0"/>
              </a:rPr>
              <a:t> (2.1% of </a:t>
            </a:r>
            <a:r>
              <a:rPr lang="fr-BE" sz="2800" b="1" dirty="0" err="1">
                <a:solidFill>
                  <a:schemeClr val="bg1"/>
                </a:solidFill>
                <a:latin typeface="Popins"/>
                <a:cs typeface="Poppins Bold" panose="00000800000000000000" charset="0"/>
              </a:rPr>
              <a:t>customers</a:t>
            </a:r>
            <a:r>
              <a:rPr lang="fr-BE" sz="2800" b="1" dirty="0">
                <a:solidFill>
                  <a:schemeClr val="bg1"/>
                </a:solidFill>
                <a:latin typeface="Popins"/>
                <a:cs typeface="Poppins Bold" panose="00000800000000000000" charset="0"/>
              </a:rPr>
              <a:t>)</a:t>
            </a:r>
          </a:p>
          <a:p>
            <a:endParaRPr lang="fr-BE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sz="2800" dirty="0" err="1">
                <a:solidFill>
                  <a:schemeClr val="bg1"/>
                </a:solidFill>
                <a:latin typeface="Popins"/>
              </a:rPr>
              <a:t>Prioritize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retention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through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loyalty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programs and exclusive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benefits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sz="2800" dirty="0" err="1">
                <a:solidFill>
                  <a:schemeClr val="bg1"/>
                </a:solidFill>
                <a:latin typeface="Popins"/>
              </a:rPr>
              <a:t>Increase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customer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lifetime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value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with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personalized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product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recommendations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sz="2800" dirty="0">
                <a:solidFill>
                  <a:schemeClr val="bg1"/>
                </a:solidFill>
                <a:latin typeface="Popins"/>
              </a:rPr>
              <a:t>Use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this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segment as a benchmark to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identify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characteristics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that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can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be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replicated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in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other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</a:t>
            </a:r>
            <a:r>
              <a:rPr lang="fr-BE" sz="2800" dirty="0" err="1">
                <a:solidFill>
                  <a:schemeClr val="bg1"/>
                </a:solidFill>
                <a:latin typeface="Popins"/>
              </a:rPr>
              <a:t>customer</a:t>
            </a:r>
            <a:r>
              <a:rPr lang="fr-BE" sz="2800" dirty="0">
                <a:solidFill>
                  <a:schemeClr val="bg1"/>
                </a:solidFill>
                <a:latin typeface="Popins"/>
              </a:rPr>
              <a:t> groups.</a:t>
            </a:r>
          </a:p>
          <a:p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76B47D1-DAB1-2B58-5FC5-6602799A451F}"/>
              </a:ext>
            </a:extLst>
          </p:cNvPr>
          <p:cNvSpPr txBox="1"/>
          <p:nvPr/>
        </p:nvSpPr>
        <p:spPr>
          <a:xfrm>
            <a:off x="12401939" y="1963266"/>
            <a:ext cx="56388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Popins"/>
                <a:cs typeface="Poppins Bold" panose="00000800000000000000" charset="0"/>
              </a:defRPr>
            </a:lvl1pPr>
          </a:lstStyle>
          <a:p>
            <a:r>
              <a:rPr lang="fr-BE" sz="2800" dirty="0" err="1"/>
              <a:t>Recent</a:t>
            </a:r>
            <a:r>
              <a:rPr lang="fr-BE" sz="2800" dirty="0"/>
              <a:t> </a:t>
            </a:r>
            <a:r>
              <a:rPr lang="fr-BE" sz="2800" dirty="0" err="1"/>
              <a:t>Customers</a:t>
            </a:r>
            <a:r>
              <a:rPr lang="fr-BE" sz="2800" dirty="0"/>
              <a:t> (47.1% of </a:t>
            </a:r>
            <a:r>
              <a:rPr lang="fr-BE" sz="2800" dirty="0" err="1"/>
              <a:t>customers</a:t>
            </a:r>
            <a:r>
              <a:rPr lang="fr-BE" sz="2800" dirty="0"/>
              <a:t>)</a:t>
            </a:r>
          </a:p>
          <a:p>
            <a:endParaRPr lang="fr-BE" b="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sz="2800" b="0" dirty="0"/>
              <a:t>Encourage a second </a:t>
            </a:r>
            <a:r>
              <a:rPr lang="fr-BE" sz="2800" b="0" dirty="0" err="1"/>
              <a:t>purchase</a:t>
            </a:r>
            <a:r>
              <a:rPr lang="fr-BE" sz="2800" b="0" dirty="0"/>
              <a:t> </a:t>
            </a:r>
            <a:r>
              <a:rPr lang="fr-BE" sz="2800" b="0" dirty="0" err="1"/>
              <a:t>through</a:t>
            </a:r>
            <a:r>
              <a:rPr lang="fr-BE" sz="2800" b="0" dirty="0"/>
              <a:t> </a:t>
            </a:r>
            <a:r>
              <a:rPr lang="fr-BE" sz="2800" b="0" dirty="0" err="1"/>
              <a:t>targeted</a:t>
            </a:r>
            <a:r>
              <a:rPr lang="fr-BE" sz="2800" b="0" dirty="0"/>
              <a:t> promotions and </a:t>
            </a:r>
            <a:r>
              <a:rPr lang="fr-BE" sz="2800" b="0" dirty="0" err="1"/>
              <a:t>onboarding</a:t>
            </a:r>
            <a:r>
              <a:rPr lang="fr-BE" sz="2800" b="0" dirty="0"/>
              <a:t> </a:t>
            </a:r>
            <a:r>
              <a:rPr lang="fr-BE" sz="2800" b="0" dirty="0" err="1"/>
              <a:t>campaigns</a:t>
            </a:r>
            <a:r>
              <a:rPr lang="fr-BE" sz="2800" b="0" dirty="0"/>
              <a:t>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sz="2800" b="0" dirty="0"/>
              <a:t>Focus on </a:t>
            </a:r>
            <a:r>
              <a:rPr lang="fr-BE" sz="2800" b="0" dirty="0" err="1"/>
              <a:t>converting</a:t>
            </a:r>
            <a:r>
              <a:rPr lang="fr-BE" sz="2800" b="0" dirty="0"/>
              <a:t> first-time </a:t>
            </a:r>
            <a:r>
              <a:rPr lang="fr-BE" sz="2800" b="0" dirty="0" err="1"/>
              <a:t>buyers</a:t>
            </a:r>
            <a:r>
              <a:rPr lang="fr-BE" sz="2800" b="0" dirty="0"/>
              <a:t> </a:t>
            </a:r>
            <a:r>
              <a:rPr lang="fr-BE" sz="2800" b="0" dirty="0" err="1"/>
              <a:t>into</a:t>
            </a:r>
            <a:r>
              <a:rPr lang="fr-BE" sz="2800" b="0" dirty="0"/>
              <a:t> </a:t>
            </a:r>
            <a:r>
              <a:rPr lang="fr-BE" sz="2800" b="0" dirty="0" err="1"/>
              <a:t>repeat</a:t>
            </a:r>
            <a:r>
              <a:rPr lang="fr-BE" sz="2800" b="0" dirty="0"/>
              <a:t> </a:t>
            </a:r>
            <a:r>
              <a:rPr lang="fr-BE" sz="2800" b="0" dirty="0" err="1"/>
              <a:t>customers</a:t>
            </a:r>
            <a:r>
              <a:rPr lang="fr-BE" sz="2800" b="0" dirty="0"/>
              <a:t>.</a:t>
            </a:r>
          </a:p>
          <a:p>
            <a:endParaRPr lang="fr-BE" b="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85B3DAA-A982-B6E2-4E3F-B6CBC5CEB9CB}"/>
              </a:ext>
            </a:extLst>
          </p:cNvPr>
          <p:cNvSpPr txBox="1"/>
          <p:nvPr/>
        </p:nvSpPr>
        <p:spPr>
          <a:xfrm>
            <a:off x="233265" y="6470484"/>
            <a:ext cx="7010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/>
                </a:solidFill>
                <a:latin typeface="Popins"/>
                <a:cs typeface="Poppins Bold" panose="00000800000000000000" charset="0"/>
              </a:defRPr>
            </a:lvl1pPr>
          </a:lstStyle>
          <a:p>
            <a:r>
              <a:rPr lang="fr-BE" dirty="0"/>
              <a:t>Dormant </a:t>
            </a:r>
            <a:r>
              <a:rPr lang="fr-BE" dirty="0" err="1"/>
              <a:t>Customers</a:t>
            </a:r>
            <a:r>
              <a:rPr lang="fr-BE" dirty="0"/>
              <a:t> (33.2% of </a:t>
            </a:r>
            <a:r>
              <a:rPr lang="fr-BE" dirty="0" err="1"/>
              <a:t>customers</a:t>
            </a:r>
            <a:r>
              <a:rPr lang="fr-BE" dirty="0"/>
              <a:t>)</a:t>
            </a:r>
          </a:p>
          <a:p>
            <a:endParaRPr lang="fr-BE" b="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b="0" dirty="0" err="1"/>
              <a:t>Implement</a:t>
            </a:r>
            <a:r>
              <a:rPr lang="fr-BE" b="0" dirty="0"/>
              <a:t> </a:t>
            </a:r>
            <a:r>
              <a:rPr lang="fr-BE" b="0" dirty="0" err="1"/>
              <a:t>reactivation</a:t>
            </a:r>
            <a:r>
              <a:rPr lang="fr-BE" b="0" dirty="0"/>
              <a:t> </a:t>
            </a:r>
            <a:r>
              <a:rPr lang="fr-BE" b="0" dirty="0" err="1"/>
              <a:t>campaigns</a:t>
            </a:r>
            <a:r>
              <a:rPr lang="fr-BE" b="0" dirty="0"/>
              <a:t> </a:t>
            </a:r>
            <a:r>
              <a:rPr lang="fr-BE" b="0" dirty="0" err="1"/>
              <a:t>using</a:t>
            </a:r>
            <a:r>
              <a:rPr lang="fr-BE" b="0" dirty="0"/>
              <a:t> discounts, email marketing, and </a:t>
            </a:r>
            <a:r>
              <a:rPr lang="fr-BE" b="0" dirty="0" err="1"/>
              <a:t>personalized</a:t>
            </a:r>
            <a:r>
              <a:rPr lang="fr-BE" b="0" dirty="0"/>
              <a:t> </a:t>
            </a:r>
            <a:r>
              <a:rPr lang="fr-BE" b="0" dirty="0" err="1"/>
              <a:t>offers</a:t>
            </a:r>
            <a:r>
              <a:rPr lang="fr-BE" b="0" dirty="0"/>
              <a:t>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b="0" dirty="0" err="1"/>
              <a:t>Identify</a:t>
            </a:r>
            <a:r>
              <a:rPr lang="fr-BE" b="0" dirty="0"/>
              <a:t> </a:t>
            </a:r>
            <a:r>
              <a:rPr lang="fr-BE" b="0" dirty="0" err="1"/>
              <a:t>reasons</a:t>
            </a:r>
            <a:r>
              <a:rPr lang="fr-BE" b="0" dirty="0"/>
              <a:t> for </a:t>
            </a:r>
            <a:r>
              <a:rPr lang="fr-BE" b="0" dirty="0" err="1"/>
              <a:t>inactivity</a:t>
            </a:r>
            <a:r>
              <a:rPr lang="fr-BE" b="0" dirty="0"/>
              <a:t> and </a:t>
            </a:r>
            <a:r>
              <a:rPr lang="fr-BE" b="0" dirty="0" err="1"/>
              <a:t>reduce</a:t>
            </a:r>
            <a:r>
              <a:rPr lang="fr-BE" b="0" dirty="0"/>
              <a:t> </a:t>
            </a:r>
            <a:r>
              <a:rPr lang="fr-BE" b="0" dirty="0" err="1"/>
              <a:t>customer</a:t>
            </a:r>
            <a:r>
              <a:rPr lang="fr-BE" b="0" dirty="0"/>
              <a:t> </a:t>
            </a:r>
            <a:r>
              <a:rPr lang="fr-BE" b="0" dirty="0" err="1"/>
              <a:t>churn</a:t>
            </a:r>
            <a:r>
              <a:rPr lang="fr-BE" b="0" dirty="0"/>
              <a:t>.</a:t>
            </a:r>
          </a:p>
          <a:p>
            <a:endParaRPr lang="fr-BE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5286221-0B62-58DC-DC39-2CD322F1D5BB}"/>
              </a:ext>
            </a:extLst>
          </p:cNvPr>
          <p:cNvSpPr txBox="1"/>
          <p:nvPr/>
        </p:nvSpPr>
        <p:spPr>
          <a:xfrm>
            <a:off x="12525570" y="6084864"/>
            <a:ext cx="56387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/>
                </a:solidFill>
                <a:latin typeface="Popins"/>
                <a:cs typeface="Poppins Bold" panose="00000800000000000000" charset="0"/>
              </a:defRPr>
            </a:lvl1pPr>
          </a:lstStyle>
          <a:p>
            <a:r>
              <a:rPr lang="fr-BE" dirty="0"/>
              <a:t>High Value One-Time Buyers (17.6% of </a:t>
            </a:r>
            <a:r>
              <a:rPr lang="fr-BE" dirty="0" err="1"/>
              <a:t>customers</a:t>
            </a:r>
            <a:r>
              <a:rPr lang="fr-BE" dirty="0"/>
              <a:t>)</a:t>
            </a:r>
          </a:p>
          <a:p>
            <a:endParaRPr lang="fr-BE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b="0" dirty="0" err="1"/>
              <a:t>Develop</a:t>
            </a:r>
            <a:r>
              <a:rPr lang="fr-BE" b="0" dirty="0"/>
              <a:t> </a:t>
            </a:r>
            <a:r>
              <a:rPr lang="fr-BE" b="0" dirty="0" err="1"/>
              <a:t>strategies</a:t>
            </a:r>
            <a:r>
              <a:rPr lang="fr-BE" b="0" dirty="0"/>
              <a:t> to </a:t>
            </a:r>
            <a:r>
              <a:rPr lang="fr-BE" b="0" dirty="0" err="1"/>
              <a:t>transform</a:t>
            </a:r>
            <a:r>
              <a:rPr lang="fr-BE" b="0" dirty="0"/>
              <a:t> high-</a:t>
            </a:r>
            <a:r>
              <a:rPr lang="fr-BE" b="0" dirty="0" err="1"/>
              <a:t>spending</a:t>
            </a:r>
            <a:r>
              <a:rPr lang="fr-BE" b="0" dirty="0"/>
              <a:t> </a:t>
            </a:r>
            <a:r>
              <a:rPr lang="fr-BE" b="0" dirty="0" err="1"/>
              <a:t>buyers</a:t>
            </a:r>
            <a:r>
              <a:rPr lang="fr-BE" b="0" dirty="0"/>
              <a:t> </a:t>
            </a:r>
            <a:r>
              <a:rPr lang="fr-BE" b="0" dirty="0" err="1"/>
              <a:t>into</a:t>
            </a:r>
            <a:r>
              <a:rPr lang="fr-BE" b="0" dirty="0"/>
              <a:t> </a:t>
            </a:r>
            <a:r>
              <a:rPr lang="fr-BE" b="0" dirty="0" err="1"/>
              <a:t>repeat</a:t>
            </a:r>
            <a:r>
              <a:rPr lang="fr-BE" b="0" dirty="0"/>
              <a:t> </a:t>
            </a:r>
            <a:r>
              <a:rPr lang="fr-BE" b="0" dirty="0" err="1"/>
              <a:t>customers</a:t>
            </a:r>
            <a:r>
              <a:rPr lang="fr-BE" b="0" dirty="0"/>
              <a:t>.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BE" b="0" dirty="0"/>
              <a:t>Offer cross-</a:t>
            </a:r>
            <a:r>
              <a:rPr lang="fr-BE" b="0" dirty="0" err="1"/>
              <a:t>selling</a:t>
            </a:r>
            <a:r>
              <a:rPr lang="fr-BE" b="0" dirty="0"/>
              <a:t> and </a:t>
            </a:r>
            <a:r>
              <a:rPr lang="fr-BE" b="0" dirty="0" err="1"/>
              <a:t>personalized</a:t>
            </a:r>
            <a:r>
              <a:rPr lang="fr-BE" b="0" dirty="0"/>
              <a:t> follow-up </a:t>
            </a:r>
            <a:r>
              <a:rPr lang="fr-BE" b="0" dirty="0" err="1"/>
              <a:t>campaigns</a:t>
            </a:r>
            <a:r>
              <a:rPr lang="fr-BE" b="0" dirty="0"/>
              <a:t>.</a:t>
            </a:r>
          </a:p>
          <a:p>
            <a:endParaRPr lang="fr-BE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D9827EB8-266F-3A1D-24C3-C309B2F1FBC0}"/>
              </a:ext>
            </a:extLst>
          </p:cNvPr>
          <p:cNvGrpSpPr/>
          <p:nvPr/>
        </p:nvGrpSpPr>
        <p:grpSpPr>
          <a:xfrm>
            <a:off x="6834148" y="2757327"/>
            <a:ext cx="5019599" cy="4736465"/>
            <a:chOff x="6834148" y="2757327"/>
            <a:chExt cx="5019599" cy="4736465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06D0F471-586D-C4E0-3253-041DB1B3BA98}"/>
                </a:ext>
              </a:extLst>
            </p:cNvPr>
            <p:cNvSpPr/>
            <p:nvPr/>
          </p:nvSpPr>
          <p:spPr>
            <a:xfrm>
              <a:off x="7771509" y="3582212"/>
              <a:ext cx="3379419" cy="3155636"/>
            </a:xfrm>
            <a:custGeom>
              <a:avLst/>
              <a:gdLst/>
              <a:ahLst/>
              <a:cxnLst/>
              <a:rect l="l" t="t" r="r" b="b"/>
              <a:pathLst>
                <a:path w="6344884" h="6344884">
                  <a:moveTo>
                    <a:pt x="0" y="0"/>
                  </a:moveTo>
                  <a:lnTo>
                    <a:pt x="6344885" y="0"/>
                  </a:lnTo>
                  <a:lnTo>
                    <a:pt x="6344885" y="6344884"/>
                  </a:lnTo>
                  <a:lnTo>
                    <a:pt x="0" y="6344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BE"/>
            </a:p>
          </p:txBody>
        </p:sp>
        <p:sp>
          <p:nvSpPr>
            <p:cNvPr id="20" name="Flèche : gauche 19">
              <a:extLst>
                <a:ext uri="{FF2B5EF4-FFF2-40B4-BE49-F238E27FC236}">
                  <a16:creationId xmlns:a16="http://schemas.microsoft.com/office/drawing/2014/main" id="{E4E4CA5C-8204-71D4-0C39-DBE515F1C682}"/>
                </a:ext>
              </a:extLst>
            </p:cNvPr>
            <p:cNvSpPr/>
            <p:nvPr/>
          </p:nvSpPr>
          <p:spPr>
            <a:xfrm rot="7662415">
              <a:off x="10445081" y="2894527"/>
              <a:ext cx="1432775" cy="1158376"/>
            </a:xfrm>
            <a:prstGeom prst="leftArrow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1" name="Flèche : gauche 20">
              <a:extLst>
                <a:ext uri="{FF2B5EF4-FFF2-40B4-BE49-F238E27FC236}">
                  <a16:creationId xmlns:a16="http://schemas.microsoft.com/office/drawing/2014/main" id="{4FE278BB-5857-31E8-F07E-CBD8A8FE91E3}"/>
                </a:ext>
              </a:extLst>
            </p:cNvPr>
            <p:cNvSpPr/>
            <p:nvPr/>
          </p:nvSpPr>
          <p:spPr>
            <a:xfrm rot="2387412">
              <a:off x="6834148" y="2926691"/>
              <a:ext cx="1432775" cy="1158376"/>
            </a:xfrm>
            <a:prstGeom prst="leftArrow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2" name="Flèche : gauche 21">
              <a:extLst>
                <a:ext uri="{FF2B5EF4-FFF2-40B4-BE49-F238E27FC236}">
                  <a16:creationId xmlns:a16="http://schemas.microsoft.com/office/drawing/2014/main" id="{B3D9531B-B9CC-20B0-5DF7-D99F02BA2D10}"/>
                </a:ext>
              </a:extLst>
            </p:cNvPr>
            <p:cNvSpPr/>
            <p:nvPr/>
          </p:nvSpPr>
          <p:spPr>
            <a:xfrm rot="18775030">
              <a:off x="6993306" y="6195367"/>
              <a:ext cx="1432775" cy="1158376"/>
            </a:xfrm>
            <a:prstGeom prst="leftArrow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sp>
          <p:nvSpPr>
            <p:cNvPr id="23" name="Flèche : gauche 22">
              <a:extLst>
                <a:ext uri="{FF2B5EF4-FFF2-40B4-BE49-F238E27FC236}">
                  <a16:creationId xmlns:a16="http://schemas.microsoft.com/office/drawing/2014/main" id="{64C93385-D536-8AA9-E9EF-78015D62BF98}"/>
                </a:ext>
              </a:extLst>
            </p:cNvPr>
            <p:cNvSpPr/>
            <p:nvPr/>
          </p:nvSpPr>
          <p:spPr>
            <a:xfrm rot="13660022">
              <a:off x="10558171" y="6198217"/>
              <a:ext cx="1432775" cy="1158376"/>
            </a:xfrm>
            <a:prstGeom prst="leftArrow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BE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15651" y="3178002"/>
            <a:ext cx="9056698" cy="18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670413" y="5384437"/>
            <a:ext cx="6947174" cy="1438812"/>
            <a:chOff x="0" y="0"/>
            <a:chExt cx="1829708" cy="3789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9708" cy="378946"/>
            </a:xfrm>
            <a:custGeom>
              <a:avLst/>
              <a:gdLst/>
              <a:ahLst/>
              <a:cxnLst/>
              <a:rect l="l" t="t" r="r" b="b"/>
              <a:pathLst>
                <a:path w="1829708" h="378946">
                  <a:moveTo>
                    <a:pt x="111440" y="0"/>
                  </a:moveTo>
                  <a:lnTo>
                    <a:pt x="1718269" y="0"/>
                  </a:lnTo>
                  <a:cubicBezTo>
                    <a:pt x="1779815" y="0"/>
                    <a:pt x="1829708" y="49893"/>
                    <a:pt x="1829708" y="111440"/>
                  </a:cubicBezTo>
                  <a:lnTo>
                    <a:pt x="1829708" y="267506"/>
                  </a:lnTo>
                  <a:cubicBezTo>
                    <a:pt x="1829708" y="297062"/>
                    <a:pt x="1817968" y="325407"/>
                    <a:pt x="1797068" y="346306"/>
                  </a:cubicBezTo>
                  <a:cubicBezTo>
                    <a:pt x="1776169" y="367205"/>
                    <a:pt x="1747824" y="378946"/>
                    <a:pt x="1718269" y="378946"/>
                  </a:cubicBezTo>
                  <a:lnTo>
                    <a:pt x="111440" y="378946"/>
                  </a:lnTo>
                  <a:cubicBezTo>
                    <a:pt x="81884" y="378946"/>
                    <a:pt x="53539" y="367205"/>
                    <a:pt x="32640" y="346306"/>
                  </a:cubicBezTo>
                  <a:cubicBezTo>
                    <a:pt x="11741" y="325407"/>
                    <a:pt x="0" y="297062"/>
                    <a:pt x="0" y="267506"/>
                  </a:cubicBezTo>
                  <a:lnTo>
                    <a:pt x="0" y="111440"/>
                  </a:lnTo>
                  <a:cubicBezTo>
                    <a:pt x="0" y="81884"/>
                    <a:pt x="11741" y="53539"/>
                    <a:pt x="32640" y="32640"/>
                  </a:cubicBezTo>
                  <a:cubicBezTo>
                    <a:pt x="53539" y="11741"/>
                    <a:pt x="81884" y="0"/>
                    <a:pt x="111440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  <p:txBody>
            <a:bodyPr/>
            <a:lstStyle/>
            <a:p>
              <a:endParaRPr lang="fr-B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29708" cy="436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101144" y="5733955"/>
            <a:ext cx="6085713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your attention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398466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15" name="Freeform 15"/>
          <p:cNvSpPr/>
          <p:nvPr/>
        </p:nvSpPr>
        <p:spPr>
          <a:xfrm>
            <a:off x="10287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EEF5E288-0B0E-5E9A-23B8-BB81291EE907}"/>
              </a:ext>
            </a:extLst>
          </p:cNvPr>
          <p:cNvSpPr txBox="1"/>
          <p:nvPr/>
        </p:nvSpPr>
        <p:spPr>
          <a:xfrm>
            <a:off x="4114800" y="7237083"/>
            <a:ext cx="10351190" cy="283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400" b="1" spc="292" dirty="0">
                <a:solidFill>
                  <a:srgbClr val="FFFFFF"/>
                </a:solidFill>
                <a:latin typeface="Popins"/>
                <a:ea typeface="Montserrat"/>
                <a:cs typeface="Montserrat"/>
                <a:sym typeface="Montserrat"/>
              </a:rPr>
              <a:t>https://github.com/ferrettijaime-cmd/Professional_portfolio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</Words>
  <Application>Microsoft Office PowerPoint</Application>
  <PresentationFormat>Personnalisé</PresentationFormat>
  <Paragraphs>109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Popins</vt:lpstr>
      <vt:lpstr>Calibri</vt:lpstr>
      <vt:lpstr>Poppins</vt:lpstr>
      <vt:lpstr>Wingdings</vt:lpstr>
      <vt:lpstr>Poppins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Jeanina Martinez</cp:lastModifiedBy>
  <cp:revision>2</cp:revision>
  <dcterms:created xsi:type="dcterms:W3CDTF">2006-08-16T00:00:00Z</dcterms:created>
  <dcterms:modified xsi:type="dcterms:W3CDTF">2026-06-04T14:43:31Z</dcterms:modified>
  <dc:identifier>DAHLnCyyKfs</dc:identifier>
</cp:coreProperties>
</file>