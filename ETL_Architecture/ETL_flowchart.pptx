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66" r:id="rId2"/>
    <p:sldId id="256" r:id="rId3"/>
    <p:sldId id="258" r:id="rId4"/>
    <p:sldId id="267" r:id="rId5"/>
    <p:sldId id="260" r:id="rId6"/>
    <p:sldId id="262" r:id="rId7"/>
    <p:sldId id="263" r:id="rId8"/>
    <p:sldId id="265" r:id="rId9"/>
  </p:sldIdLst>
  <p:sldSz cx="18288000" cy="10287000"/>
  <p:notesSz cx="6858000" cy="9144000"/>
  <p:embeddedFontLst>
    <p:embeddedFont>
      <p:font typeface="Montserrat" panose="00000500000000000000" pitchFamily="2" charset="0"/>
      <p:regular r:id="rId10"/>
      <p:bold r:id="rId11"/>
      <p:italic r:id="rId12"/>
      <p:boldItalic r:id="rId13"/>
    </p:embeddedFont>
    <p:embeddedFont>
      <p:font typeface="TT Hoves" panose="020B0604020202020204" charset="0"/>
      <p:regular r:id="rId14"/>
    </p:embeddedFont>
    <p:embeddedFont>
      <p:font typeface="TT Hoves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966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13" Type="http://schemas.openxmlformats.org/officeDocument/2006/relationships/image" Target="../media/image19.sv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18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11" Type="http://schemas.openxmlformats.org/officeDocument/2006/relationships/image" Target="../media/image17.svg"/><Relationship Id="rId5" Type="http://schemas.openxmlformats.org/officeDocument/2006/relationships/image" Target="../media/image11.svg"/><Relationship Id="rId15" Type="http://schemas.openxmlformats.org/officeDocument/2006/relationships/image" Target="../media/image21.sv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svg"/><Relationship Id="rId14" Type="http://schemas.openxmlformats.org/officeDocument/2006/relationships/image" Target="../media/image20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31.png"/><Relationship Id="rId7" Type="http://schemas.openxmlformats.org/officeDocument/2006/relationships/image" Target="../media/image35.svg"/><Relationship Id="rId2" Type="http://schemas.openxmlformats.org/officeDocument/2006/relationships/image" Target="../media/image3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11" Type="http://schemas.openxmlformats.org/officeDocument/2006/relationships/image" Target="../media/image19.svg"/><Relationship Id="rId5" Type="http://schemas.openxmlformats.org/officeDocument/2006/relationships/image" Target="../media/image33.png"/><Relationship Id="rId10" Type="http://schemas.openxmlformats.org/officeDocument/2006/relationships/image" Target="../media/image16.svg"/><Relationship Id="rId4" Type="http://schemas.openxmlformats.org/officeDocument/2006/relationships/image" Target="../media/image32.png"/><Relationship Id="rId9" Type="http://schemas.openxmlformats.org/officeDocument/2006/relationships/image" Target="../media/image17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3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AE1F70-5C73-F4BD-BC33-6229F3C7C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313BAED-B9C6-338A-E318-BF89A622A5FF}"/>
              </a:ext>
            </a:extLst>
          </p:cNvPr>
          <p:cNvSpPr/>
          <p:nvPr/>
        </p:nvSpPr>
        <p:spPr>
          <a:xfrm>
            <a:off x="952500" y="577314"/>
            <a:ext cx="8534270" cy="8708439"/>
          </a:xfrm>
          <a:custGeom>
            <a:avLst/>
            <a:gdLst/>
            <a:ahLst/>
            <a:cxnLst/>
            <a:rect l="l" t="t" r="r" b="b"/>
            <a:pathLst>
              <a:path w="8534270" h="8708439">
                <a:moveTo>
                  <a:pt x="0" y="0"/>
                </a:moveTo>
                <a:lnTo>
                  <a:pt x="8534270" y="0"/>
                </a:lnTo>
                <a:lnTo>
                  <a:pt x="8534270" y="8708440"/>
                </a:lnTo>
                <a:lnTo>
                  <a:pt x="0" y="87084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BE"/>
          </a:p>
        </p:txBody>
      </p:sp>
      <p:sp>
        <p:nvSpPr>
          <p:cNvPr id="23" name="Freeform 23">
            <a:extLst>
              <a:ext uri="{FF2B5EF4-FFF2-40B4-BE49-F238E27FC236}">
                <a16:creationId xmlns:a16="http://schemas.microsoft.com/office/drawing/2014/main" id="{3D595F45-CF77-802C-2D92-464B67F4BD3A}"/>
              </a:ext>
            </a:extLst>
          </p:cNvPr>
          <p:cNvSpPr/>
          <p:nvPr/>
        </p:nvSpPr>
        <p:spPr>
          <a:xfrm>
            <a:off x="7749291" y="6363569"/>
            <a:ext cx="610791" cy="610791"/>
          </a:xfrm>
          <a:custGeom>
            <a:avLst/>
            <a:gdLst/>
            <a:ahLst/>
            <a:cxnLst/>
            <a:rect l="l" t="t" r="r" b="b"/>
            <a:pathLst>
              <a:path w="610791" h="610791">
                <a:moveTo>
                  <a:pt x="0" y="0"/>
                </a:moveTo>
                <a:lnTo>
                  <a:pt x="610791" y="0"/>
                </a:lnTo>
                <a:lnTo>
                  <a:pt x="610791" y="610791"/>
                </a:lnTo>
                <a:lnTo>
                  <a:pt x="0" y="6107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BE"/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2CE36E2B-22C5-2C3E-002C-9B94D1AA06B4}"/>
              </a:ext>
            </a:extLst>
          </p:cNvPr>
          <p:cNvSpPr/>
          <p:nvPr/>
        </p:nvSpPr>
        <p:spPr>
          <a:xfrm>
            <a:off x="1760822" y="5652124"/>
            <a:ext cx="452487" cy="711446"/>
          </a:xfrm>
          <a:custGeom>
            <a:avLst/>
            <a:gdLst/>
            <a:ahLst/>
            <a:cxnLst/>
            <a:rect l="l" t="t" r="r" b="b"/>
            <a:pathLst>
              <a:path w="452487" h="711446">
                <a:moveTo>
                  <a:pt x="0" y="0"/>
                </a:moveTo>
                <a:lnTo>
                  <a:pt x="452487" y="0"/>
                </a:lnTo>
                <a:lnTo>
                  <a:pt x="452487" y="711445"/>
                </a:lnTo>
                <a:lnTo>
                  <a:pt x="0" y="7114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BE"/>
          </a:p>
        </p:txBody>
      </p:sp>
      <p:sp>
        <p:nvSpPr>
          <p:cNvPr id="25" name="Freeform 25">
            <a:extLst>
              <a:ext uri="{FF2B5EF4-FFF2-40B4-BE49-F238E27FC236}">
                <a16:creationId xmlns:a16="http://schemas.microsoft.com/office/drawing/2014/main" id="{C2E4671F-D1FC-7026-EE03-2CF2D106B66E}"/>
              </a:ext>
            </a:extLst>
          </p:cNvPr>
          <p:cNvSpPr/>
          <p:nvPr/>
        </p:nvSpPr>
        <p:spPr>
          <a:xfrm>
            <a:off x="4528432" y="8074294"/>
            <a:ext cx="427700" cy="427700"/>
          </a:xfrm>
          <a:custGeom>
            <a:avLst/>
            <a:gdLst/>
            <a:ahLst/>
            <a:cxnLst/>
            <a:rect l="l" t="t" r="r" b="b"/>
            <a:pathLst>
              <a:path w="427700" h="427700">
                <a:moveTo>
                  <a:pt x="0" y="0"/>
                </a:moveTo>
                <a:lnTo>
                  <a:pt x="427700" y="0"/>
                </a:lnTo>
                <a:lnTo>
                  <a:pt x="427700" y="427700"/>
                </a:lnTo>
                <a:lnTo>
                  <a:pt x="0" y="4277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BE"/>
          </a:p>
        </p:txBody>
      </p:sp>
      <p:sp>
        <p:nvSpPr>
          <p:cNvPr id="26" name="Freeform 26">
            <a:extLst>
              <a:ext uri="{FF2B5EF4-FFF2-40B4-BE49-F238E27FC236}">
                <a16:creationId xmlns:a16="http://schemas.microsoft.com/office/drawing/2014/main" id="{F1412131-2C85-B58B-48AF-7525C0F16981}"/>
              </a:ext>
            </a:extLst>
          </p:cNvPr>
          <p:cNvSpPr/>
          <p:nvPr/>
        </p:nvSpPr>
        <p:spPr>
          <a:xfrm>
            <a:off x="2859268" y="2148050"/>
            <a:ext cx="708073" cy="681038"/>
          </a:xfrm>
          <a:custGeom>
            <a:avLst/>
            <a:gdLst/>
            <a:ahLst/>
            <a:cxnLst/>
            <a:rect l="l" t="t" r="r" b="b"/>
            <a:pathLst>
              <a:path w="708073" h="681038">
                <a:moveTo>
                  <a:pt x="0" y="0"/>
                </a:moveTo>
                <a:lnTo>
                  <a:pt x="708074" y="0"/>
                </a:lnTo>
                <a:lnTo>
                  <a:pt x="708074" y="681038"/>
                </a:lnTo>
                <a:lnTo>
                  <a:pt x="0" y="6810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BE"/>
          </a:p>
        </p:txBody>
      </p:sp>
      <p:sp>
        <p:nvSpPr>
          <p:cNvPr id="27" name="Freeform 27">
            <a:extLst>
              <a:ext uri="{FF2B5EF4-FFF2-40B4-BE49-F238E27FC236}">
                <a16:creationId xmlns:a16="http://schemas.microsoft.com/office/drawing/2014/main" id="{358F7B7C-F5A2-A863-2422-DE6D7B40BD81}"/>
              </a:ext>
            </a:extLst>
          </p:cNvPr>
          <p:cNvSpPr/>
          <p:nvPr/>
        </p:nvSpPr>
        <p:spPr>
          <a:xfrm>
            <a:off x="7457379" y="2730887"/>
            <a:ext cx="597308" cy="682992"/>
          </a:xfrm>
          <a:custGeom>
            <a:avLst/>
            <a:gdLst/>
            <a:ahLst/>
            <a:cxnLst/>
            <a:rect l="l" t="t" r="r" b="b"/>
            <a:pathLst>
              <a:path w="597308" h="682992">
                <a:moveTo>
                  <a:pt x="0" y="0"/>
                </a:moveTo>
                <a:lnTo>
                  <a:pt x="597307" y="0"/>
                </a:lnTo>
                <a:lnTo>
                  <a:pt x="597307" y="682992"/>
                </a:lnTo>
                <a:lnTo>
                  <a:pt x="0" y="6829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BE"/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F66937E4-7448-57CA-30C5-1EBA33A78029}"/>
              </a:ext>
            </a:extLst>
          </p:cNvPr>
          <p:cNvSpPr txBox="1"/>
          <p:nvPr/>
        </p:nvSpPr>
        <p:spPr>
          <a:xfrm>
            <a:off x="3445542" y="4410075"/>
            <a:ext cx="3548186" cy="1522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32"/>
              </a:lnSpc>
            </a:pPr>
            <a:r>
              <a:rPr lang="en-US" sz="3600" b="1" dirty="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Workflow Process</a:t>
            </a:r>
          </a:p>
          <a:p>
            <a:pPr algn="ctr">
              <a:lnSpc>
                <a:spcPts val="4032"/>
              </a:lnSpc>
            </a:pPr>
            <a:r>
              <a:rPr lang="en-US" sz="3600" b="1" dirty="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Stages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7CDB1649-79F5-F6E1-DBFD-8334F453B4AC}"/>
              </a:ext>
            </a:extLst>
          </p:cNvPr>
          <p:cNvSpPr txBox="1"/>
          <p:nvPr/>
        </p:nvSpPr>
        <p:spPr>
          <a:xfrm>
            <a:off x="11994573" y="6621748"/>
            <a:ext cx="6324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8000" dirty="0">
                <a:latin typeface="TT Hoves Bold" panose="020B0604020202020204" charset="0"/>
              </a:rPr>
              <a:t>ETL Process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90056ADC-6CC1-732A-ECF1-999902C5DBFD}"/>
              </a:ext>
            </a:extLst>
          </p:cNvPr>
          <p:cNvSpPr txBox="1"/>
          <p:nvPr/>
        </p:nvSpPr>
        <p:spPr>
          <a:xfrm>
            <a:off x="13561484" y="8762533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6600">
                <a:latin typeface="TT Hoves Bold" panose="020B0604020202020204" charset="0"/>
              </a:defRPr>
            </a:lvl1pPr>
          </a:lstStyle>
          <a:p>
            <a:r>
              <a:rPr lang="fr-BE" sz="2800" dirty="0" err="1"/>
              <a:t>Created</a:t>
            </a:r>
            <a:r>
              <a:rPr lang="fr-BE" sz="2800" dirty="0"/>
              <a:t> by Jaime Ferretti</a:t>
            </a:r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0444A3ED-AEF2-8479-3274-70C40D8BF3E3}"/>
              </a:ext>
            </a:extLst>
          </p:cNvPr>
          <p:cNvSpPr txBox="1"/>
          <p:nvPr/>
        </p:nvSpPr>
        <p:spPr>
          <a:xfrm>
            <a:off x="7774173" y="9597007"/>
            <a:ext cx="115061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800">
                <a:latin typeface="TT Hoves Bold" panose="020B0604020202020204" charset="0"/>
              </a:defRPr>
            </a:lvl1pPr>
          </a:lstStyle>
          <a:p>
            <a:r>
              <a:rPr lang="en-US" dirty="0">
                <a:sym typeface="Montserrat"/>
              </a:rPr>
              <a:t>https://github.com/ferrettijaime-cmd/Professional_portfolio</a:t>
            </a:r>
          </a:p>
        </p:txBody>
      </p:sp>
      <p:sp>
        <p:nvSpPr>
          <p:cNvPr id="50" name="Triangle rectangle 49">
            <a:extLst>
              <a:ext uri="{FF2B5EF4-FFF2-40B4-BE49-F238E27FC236}">
                <a16:creationId xmlns:a16="http://schemas.microsoft.com/office/drawing/2014/main" id="{222B60C1-655A-EE35-A587-DD74BAE311A8}"/>
              </a:ext>
            </a:extLst>
          </p:cNvPr>
          <p:cNvSpPr/>
          <p:nvPr/>
        </p:nvSpPr>
        <p:spPr>
          <a:xfrm rot="10800000">
            <a:off x="12725400" y="-27214"/>
            <a:ext cx="5551714" cy="6161314"/>
          </a:xfrm>
          <a:prstGeom prst="rtTriangl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6595384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riangle rectangle 45">
            <a:extLst>
              <a:ext uri="{FF2B5EF4-FFF2-40B4-BE49-F238E27FC236}">
                <a16:creationId xmlns:a16="http://schemas.microsoft.com/office/drawing/2014/main" id="{59B98527-CCFD-1C3D-8AA1-59594BF555CF}"/>
              </a:ext>
            </a:extLst>
          </p:cNvPr>
          <p:cNvSpPr/>
          <p:nvPr/>
        </p:nvSpPr>
        <p:spPr>
          <a:xfrm>
            <a:off x="0" y="3390900"/>
            <a:ext cx="7162800" cy="6896100"/>
          </a:xfrm>
          <a:prstGeom prst="rtTriangl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24" name="Freeform 24"/>
          <p:cNvSpPr/>
          <p:nvPr/>
        </p:nvSpPr>
        <p:spPr>
          <a:xfrm>
            <a:off x="5715000" y="9545994"/>
            <a:ext cx="452487" cy="711446"/>
          </a:xfrm>
          <a:custGeom>
            <a:avLst/>
            <a:gdLst/>
            <a:ahLst/>
            <a:cxnLst/>
            <a:rect l="l" t="t" r="r" b="b"/>
            <a:pathLst>
              <a:path w="452487" h="711446">
                <a:moveTo>
                  <a:pt x="0" y="0"/>
                </a:moveTo>
                <a:lnTo>
                  <a:pt x="452487" y="0"/>
                </a:lnTo>
                <a:lnTo>
                  <a:pt x="452487" y="711445"/>
                </a:lnTo>
                <a:lnTo>
                  <a:pt x="0" y="7114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BE"/>
          </a:p>
        </p:txBody>
      </p:sp>
      <p:sp>
        <p:nvSpPr>
          <p:cNvPr id="25" name="Freeform 25"/>
          <p:cNvSpPr/>
          <p:nvPr/>
        </p:nvSpPr>
        <p:spPr>
          <a:xfrm>
            <a:off x="174758" y="4394672"/>
            <a:ext cx="427700" cy="427700"/>
          </a:xfrm>
          <a:custGeom>
            <a:avLst/>
            <a:gdLst/>
            <a:ahLst/>
            <a:cxnLst/>
            <a:rect l="l" t="t" r="r" b="b"/>
            <a:pathLst>
              <a:path w="427700" h="427700">
                <a:moveTo>
                  <a:pt x="0" y="0"/>
                </a:moveTo>
                <a:lnTo>
                  <a:pt x="427700" y="0"/>
                </a:lnTo>
                <a:lnTo>
                  <a:pt x="427700" y="427700"/>
                </a:lnTo>
                <a:lnTo>
                  <a:pt x="0" y="4277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BE"/>
          </a:p>
        </p:txBody>
      </p:sp>
      <p:sp>
        <p:nvSpPr>
          <p:cNvPr id="26" name="Freeform 26"/>
          <p:cNvSpPr/>
          <p:nvPr/>
        </p:nvSpPr>
        <p:spPr>
          <a:xfrm>
            <a:off x="3160936" y="716902"/>
            <a:ext cx="2096864" cy="1852450"/>
          </a:xfrm>
          <a:custGeom>
            <a:avLst/>
            <a:gdLst/>
            <a:ahLst/>
            <a:cxnLst/>
            <a:rect l="l" t="t" r="r" b="b"/>
            <a:pathLst>
              <a:path w="708073" h="681038">
                <a:moveTo>
                  <a:pt x="0" y="0"/>
                </a:moveTo>
                <a:lnTo>
                  <a:pt x="708074" y="0"/>
                </a:lnTo>
                <a:lnTo>
                  <a:pt x="708074" y="681038"/>
                </a:lnTo>
                <a:lnTo>
                  <a:pt x="0" y="6810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BE"/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CDC5DF00-7CB9-46CB-33E4-31E821E15ADB}"/>
              </a:ext>
            </a:extLst>
          </p:cNvPr>
          <p:cNvSpPr txBox="1"/>
          <p:nvPr/>
        </p:nvSpPr>
        <p:spPr>
          <a:xfrm>
            <a:off x="5257800" y="716902"/>
            <a:ext cx="9601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8000" dirty="0">
                <a:latin typeface="TT Hoves Bold" panose="020B0604020202020204" charset="0"/>
              </a:rPr>
              <a:t>Project Overview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5D71FBE4-F6ED-2948-80F5-2B45707AB839}"/>
              </a:ext>
            </a:extLst>
          </p:cNvPr>
          <p:cNvSpPr txBox="1"/>
          <p:nvPr/>
        </p:nvSpPr>
        <p:spPr>
          <a:xfrm>
            <a:off x="2438400" y="2869071"/>
            <a:ext cx="149352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3200" dirty="0">
                <a:latin typeface="TT Hoves" panose="020B0604020202020204" charset="0"/>
              </a:rPr>
              <a:t>This </a:t>
            </a:r>
            <a:r>
              <a:rPr lang="fr-BE" sz="3200" dirty="0" err="1">
                <a:latin typeface="TT Hoves" panose="020B0604020202020204" charset="0"/>
              </a:rPr>
              <a:t>project</a:t>
            </a:r>
            <a:r>
              <a:rPr lang="fr-BE" sz="3200" dirty="0">
                <a:latin typeface="TT Hoves" panose="020B0604020202020204" charset="0"/>
              </a:rPr>
              <a:t> </a:t>
            </a:r>
            <a:r>
              <a:rPr lang="fr-BE" sz="3200" dirty="0" err="1">
                <a:latin typeface="TT Hoves" panose="020B0604020202020204" charset="0"/>
              </a:rPr>
              <a:t>focuses</a:t>
            </a:r>
            <a:r>
              <a:rPr lang="fr-BE" sz="3200" dirty="0">
                <a:latin typeface="TT Hoves" panose="020B0604020202020204" charset="0"/>
              </a:rPr>
              <a:t> on </a:t>
            </a:r>
            <a:r>
              <a:rPr lang="fr-BE" sz="3200" dirty="0" err="1">
                <a:latin typeface="TT Hoves" panose="020B0604020202020204" charset="0"/>
              </a:rPr>
              <a:t>designing</a:t>
            </a:r>
            <a:r>
              <a:rPr lang="fr-BE" sz="3200" dirty="0">
                <a:latin typeface="TT Hoves" panose="020B0604020202020204" charset="0"/>
              </a:rPr>
              <a:t> and </a:t>
            </a:r>
            <a:r>
              <a:rPr lang="fr-BE" sz="3200" dirty="0" err="1">
                <a:latin typeface="TT Hoves" panose="020B0604020202020204" charset="0"/>
              </a:rPr>
              <a:t>implementing</a:t>
            </a:r>
            <a:r>
              <a:rPr lang="fr-BE" sz="3200" dirty="0">
                <a:latin typeface="TT Hoves" panose="020B0604020202020204" charset="0"/>
              </a:rPr>
              <a:t> a scalable </a:t>
            </a:r>
            <a:r>
              <a:rPr lang="fr-BE" sz="3200" dirty="0" err="1">
                <a:latin typeface="TT Hoves" panose="020B0604020202020204" charset="0"/>
              </a:rPr>
              <a:t>analytics</a:t>
            </a:r>
            <a:r>
              <a:rPr lang="fr-BE" sz="3200" dirty="0">
                <a:latin typeface="TT Hoves" panose="020B0604020202020204" charset="0"/>
              </a:rPr>
              <a:t> pipeline for e-commerce data.</a:t>
            </a:r>
          </a:p>
          <a:p>
            <a:endParaRPr lang="fr-BE" sz="3200" dirty="0">
              <a:latin typeface="TT Hoves" panose="020B0604020202020204" charset="0"/>
            </a:endParaRPr>
          </a:p>
          <a:p>
            <a:r>
              <a:rPr lang="fr-BE" sz="3200" dirty="0">
                <a:latin typeface="TT Hoves" panose="020B0604020202020204" charset="0"/>
              </a:rPr>
              <a:t>The workflow </a:t>
            </a:r>
            <a:r>
              <a:rPr lang="fr-BE" sz="3200" dirty="0" err="1">
                <a:latin typeface="TT Hoves" panose="020B0604020202020204" charset="0"/>
              </a:rPr>
              <a:t>begins</a:t>
            </a:r>
            <a:r>
              <a:rPr lang="fr-BE" sz="3200" dirty="0">
                <a:latin typeface="TT Hoves" panose="020B0604020202020204" charset="0"/>
              </a:rPr>
              <a:t> </a:t>
            </a:r>
            <a:r>
              <a:rPr lang="fr-BE" sz="3200" dirty="0" err="1">
                <a:latin typeface="TT Hoves" panose="020B0604020202020204" charset="0"/>
              </a:rPr>
              <a:t>with</a:t>
            </a:r>
            <a:r>
              <a:rPr lang="fr-BE" sz="3200" dirty="0">
                <a:latin typeface="TT Hoves" panose="020B0604020202020204" charset="0"/>
              </a:rPr>
              <a:t> </a:t>
            </a:r>
            <a:r>
              <a:rPr lang="fr-BE" sz="3200" dirty="0" err="1">
                <a:latin typeface="TT Hoves" panose="020B0604020202020204" charset="0"/>
              </a:rPr>
              <a:t>extracting</a:t>
            </a:r>
            <a:r>
              <a:rPr lang="fr-BE" sz="3200" dirty="0">
                <a:latin typeface="TT Hoves" panose="020B0604020202020204" charset="0"/>
              </a:rPr>
              <a:t> multiple CSV </a:t>
            </a:r>
            <a:r>
              <a:rPr lang="fr-BE" sz="3200" dirty="0" err="1">
                <a:latin typeface="TT Hoves" panose="020B0604020202020204" charset="0"/>
              </a:rPr>
              <a:t>datasets</a:t>
            </a:r>
            <a:r>
              <a:rPr lang="fr-BE" sz="3200" dirty="0">
                <a:latin typeface="TT Hoves" panose="020B0604020202020204" charset="0"/>
              </a:rPr>
              <a:t> </a:t>
            </a:r>
            <a:r>
              <a:rPr lang="fr-BE" sz="3200" dirty="0" err="1">
                <a:latin typeface="TT Hoves" panose="020B0604020202020204" charset="0"/>
              </a:rPr>
              <a:t>using</a:t>
            </a:r>
            <a:r>
              <a:rPr lang="fr-BE" sz="3200" dirty="0">
                <a:latin typeface="TT Hoves" panose="020B0604020202020204" charset="0"/>
              </a:rPr>
              <a:t> Python and </a:t>
            </a:r>
            <a:r>
              <a:rPr lang="fr-BE" sz="3200" dirty="0" err="1">
                <a:latin typeface="TT Hoves" panose="020B0604020202020204" charset="0"/>
              </a:rPr>
              <a:t>loading</a:t>
            </a:r>
            <a:r>
              <a:rPr lang="fr-BE" sz="3200" dirty="0">
                <a:latin typeface="TT Hoves" panose="020B0604020202020204" charset="0"/>
              </a:rPr>
              <a:t> </a:t>
            </a:r>
            <a:r>
              <a:rPr lang="fr-BE" sz="3200" dirty="0" err="1">
                <a:latin typeface="TT Hoves" panose="020B0604020202020204" charset="0"/>
              </a:rPr>
              <a:t>them</a:t>
            </a:r>
            <a:r>
              <a:rPr lang="fr-BE" sz="3200" dirty="0">
                <a:latin typeface="TT Hoves" panose="020B0604020202020204" charset="0"/>
              </a:rPr>
              <a:t> </a:t>
            </a:r>
            <a:r>
              <a:rPr lang="fr-BE" sz="3200" dirty="0" err="1">
                <a:latin typeface="TT Hoves" panose="020B0604020202020204" charset="0"/>
              </a:rPr>
              <a:t>into</a:t>
            </a:r>
            <a:r>
              <a:rPr lang="fr-BE" sz="3200" dirty="0">
                <a:latin typeface="TT Hoves" panose="020B0604020202020204" charset="0"/>
              </a:rPr>
              <a:t> PostgreSQL. The data </a:t>
            </a:r>
            <a:r>
              <a:rPr lang="fr-BE" sz="3200" dirty="0" err="1">
                <a:latin typeface="TT Hoves" panose="020B0604020202020204" charset="0"/>
              </a:rPr>
              <a:t>is</a:t>
            </a:r>
            <a:r>
              <a:rPr lang="fr-BE" sz="3200" dirty="0">
                <a:latin typeface="TT Hoves" panose="020B0604020202020204" charset="0"/>
              </a:rPr>
              <a:t> </a:t>
            </a:r>
            <a:r>
              <a:rPr lang="fr-BE" sz="3200" dirty="0" err="1">
                <a:latin typeface="TT Hoves" panose="020B0604020202020204" charset="0"/>
              </a:rPr>
              <a:t>then</a:t>
            </a:r>
            <a:r>
              <a:rPr lang="fr-BE" sz="3200" dirty="0">
                <a:latin typeface="TT Hoves" panose="020B0604020202020204" charset="0"/>
              </a:rPr>
              <a:t> </a:t>
            </a:r>
            <a:r>
              <a:rPr lang="fr-BE" sz="3200" dirty="0" err="1">
                <a:latin typeface="TT Hoves" panose="020B0604020202020204" charset="0"/>
              </a:rPr>
              <a:t>transformed</a:t>
            </a:r>
            <a:r>
              <a:rPr lang="fr-BE" sz="3200" dirty="0">
                <a:latin typeface="TT Hoves" panose="020B0604020202020204" charset="0"/>
              </a:rPr>
              <a:t> </a:t>
            </a:r>
            <a:r>
              <a:rPr lang="fr-BE" sz="3200" dirty="0" err="1">
                <a:latin typeface="TT Hoves" panose="020B0604020202020204" charset="0"/>
              </a:rPr>
              <a:t>through</a:t>
            </a:r>
            <a:r>
              <a:rPr lang="fr-BE" sz="3200" dirty="0">
                <a:latin typeface="TT Hoves" panose="020B0604020202020204" charset="0"/>
              </a:rPr>
              <a:t> a </a:t>
            </a:r>
            <a:r>
              <a:rPr lang="fr-BE" sz="3200" dirty="0" err="1">
                <a:latin typeface="TT Hoves" panose="020B0604020202020204" charset="0"/>
              </a:rPr>
              <a:t>layered</a:t>
            </a:r>
            <a:r>
              <a:rPr lang="fr-BE" sz="3200" dirty="0">
                <a:latin typeface="TT Hoves" panose="020B0604020202020204" charset="0"/>
              </a:rPr>
              <a:t> architecture </a:t>
            </a:r>
            <a:r>
              <a:rPr lang="fr-BE" sz="3200" dirty="0" err="1">
                <a:latin typeface="TT Hoves" panose="020B0604020202020204" charset="0"/>
              </a:rPr>
              <a:t>consisting</a:t>
            </a:r>
            <a:r>
              <a:rPr lang="fr-BE" sz="3200" dirty="0">
                <a:latin typeface="TT Hoves" panose="020B0604020202020204" charset="0"/>
              </a:rPr>
              <a:t> of RAW, STAGING, and ANALYTICS </a:t>
            </a:r>
            <a:r>
              <a:rPr lang="fr-BE" sz="3200" dirty="0" err="1">
                <a:latin typeface="TT Hoves" panose="020B0604020202020204" charset="0"/>
              </a:rPr>
              <a:t>schemas</a:t>
            </a:r>
            <a:r>
              <a:rPr lang="fr-BE" sz="3200" dirty="0">
                <a:latin typeface="TT Hoves" panose="020B0604020202020204" charset="0"/>
              </a:rPr>
              <a:t>. A </a:t>
            </a:r>
            <a:r>
              <a:rPr lang="fr-BE" sz="3200" dirty="0" err="1">
                <a:latin typeface="TT Hoves" panose="020B0604020202020204" charset="0"/>
              </a:rPr>
              <a:t>dimensional</a:t>
            </a:r>
            <a:r>
              <a:rPr lang="fr-BE" sz="3200" dirty="0">
                <a:latin typeface="TT Hoves" panose="020B0604020202020204" charset="0"/>
              </a:rPr>
              <a:t> model </a:t>
            </a:r>
            <a:r>
              <a:rPr lang="fr-BE" sz="3200" dirty="0" err="1">
                <a:latin typeface="TT Hoves" panose="020B0604020202020204" charset="0"/>
              </a:rPr>
              <a:t>was</a:t>
            </a:r>
            <a:r>
              <a:rPr lang="fr-BE" sz="3200" dirty="0">
                <a:latin typeface="TT Hoves" panose="020B0604020202020204" charset="0"/>
              </a:rPr>
              <a:t> </a:t>
            </a:r>
            <a:r>
              <a:rPr lang="fr-BE" sz="3200" dirty="0" err="1">
                <a:latin typeface="TT Hoves" panose="020B0604020202020204" charset="0"/>
              </a:rPr>
              <a:t>created</a:t>
            </a:r>
            <a:r>
              <a:rPr lang="fr-BE" sz="3200" dirty="0">
                <a:latin typeface="TT Hoves" panose="020B0604020202020204" charset="0"/>
              </a:rPr>
              <a:t> </a:t>
            </a:r>
            <a:r>
              <a:rPr lang="fr-BE" sz="3200" dirty="0" err="1">
                <a:latin typeface="TT Hoves" panose="020B0604020202020204" charset="0"/>
              </a:rPr>
              <a:t>using</a:t>
            </a:r>
            <a:r>
              <a:rPr lang="fr-BE" sz="3200" dirty="0">
                <a:latin typeface="TT Hoves" panose="020B0604020202020204" charset="0"/>
              </a:rPr>
              <a:t> </a:t>
            </a:r>
            <a:r>
              <a:rPr lang="fr-BE" sz="3200" dirty="0" err="1">
                <a:latin typeface="TT Hoves" panose="020B0604020202020204" charset="0"/>
              </a:rPr>
              <a:t>fact</a:t>
            </a:r>
            <a:r>
              <a:rPr lang="fr-BE" sz="3200" dirty="0">
                <a:latin typeface="TT Hoves" panose="020B0604020202020204" charset="0"/>
              </a:rPr>
              <a:t> and dimension tables, </a:t>
            </a:r>
            <a:r>
              <a:rPr lang="fr-BE" sz="3200" dirty="0" err="1">
                <a:latin typeface="TT Hoves" panose="020B0604020202020204" charset="0"/>
              </a:rPr>
              <a:t>including</a:t>
            </a:r>
            <a:r>
              <a:rPr lang="fr-BE" sz="3200" dirty="0">
                <a:latin typeface="TT Hoves" panose="020B0604020202020204" charset="0"/>
              </a:rPr>
              <a:t> </a:t>
            </a:r>
            <a:r>
              <a:rPr lang="fr-BE" sz="3200" dirty="0" err="1">
                <a:latin typeface="TT Hoves" panose="020B0604020202020204" charset="0"/>
              </a:rPr>
              <a:t>primary</a:t>
            </a:r>
            <a:r>
              <a:rPr lang="fr-BE" sz="3200" dirty="0">
                <a:latin typeface="TT Hoves" panose="020B0604020202020204" charset="0"/>
              </a:rPr>
              <a:t> and </a:t>
            </a:r>
            <a:r>
              <a:rPr lang="fr-BE" sz="3200" dirty="0" err="1">
                <a:latin typeface="TT Hoves" panose="020B0604020202020204" charset="0"/>
              </a:rPr>
              <a:t>foreign</a:t>
            </a:r>
            <a:r>
              <a:rPr lang="fr-BE" sz="3200" dirty="0">
                <a:latin typeface="TT Hoves" panose="020B0604020202020204" charset="0"/>
              </a:rPr>
              <a:t> key </a:t>
            </a:r>
            <a:r>
              <a:rPr lang="fr-BE" sz="3200" dirty="0" err="1">
                <a:latin typeface="TT Hoves" panose="020B0604020202020204" charset="0"/>
              </a:rPr>
              <a:t>relationships</a:t>
            </a:r>
            <a:r>
              <a:rPr lang="fr-BE" sz="3200" dirty="0">
                <a:latin typeface="TT Hoves" panose="020B0604020202020204" charset="0"/>
              </a:rPr>
              <a:t> to support </a:t>
            </a:r>
            <a:r>
              <a:rPr lang="fr-BE" sz="3200" dirty="0" err="1">
                <a:latin typeface="TT Hoves" panose="020B0604020202020204" charset="0"/>
              </a:rPr>
              <a:t>analytical</a:t>
            </a:r>
            <a:r>
              <a:rPr lang="fr-BE" sz="3200" dirty="0">
                <a:latin typeface="TT Hoves" panose="020B0604020202020204" charset="0"/>
              </a:rPr>
              <a:t> </a:t>
            </a:r>
            <a:r>
              <a:rPr lang="fr-BE" sz="3200" dirty="0" err="1">
                <a:latin typeface="TT Hoves" panose="020B0604020202020204" charset="0"/>
              </a:rPr>
              <a:t>workloads</a:t>
            </a:r>
            <a:r>
              <a:rPr lang="fr-BE" sz="3200" dirty="0">
                <a:latin typeface="TT Hoves" panose="020B0604020202020204" charset="0"/>
              </a:rPr>
              <a:t>.</a:t>
            </a:r>
          </a:p>
          <a:p>
            <a:endParaRPr lang="fr-BE" sz="3200" dirty="0">
              <a:latin typeface="TT Hoves" panose="020B0604020202020204" charset="0"/>
            </a:endParaRPr>
          </a:p>
          <a:p>
            <a:r>
              <a:rPr lang="fr-BE" sz="3200" dirty="0">
                <a:latin typeface="TT Hoves" panose="020B0604020202020204" charset="0"/>
              </a:rPr>
              <a:t>The </a:t>
            </a:r>
            <a:r>
              <a:rPr lang="fr-BE" sz="3200" dirty="0" err="1">
                <a:latin typeface="TT Hoves" panose="020B0604020202020204" charset="0"/>
              </a:rPr>
              <a:t>resulting</a:t>
            </a:r>
            <a:r>
              <a:rPr lang="fr-BE" sz="3200" dirty="0">
                <a:latin typeface="TT Hoves" panose="020B0604020202020204" charset="0"/>
              </a:rPr>
              <a:t> </a:t>
            </a:r>
            <a:r>
              <a:rPr lang="fr-BE" sz="3200" dirty="0" err="1">
                <a:latin typeface="TT Hoves" panose="020B0604020202020204" charset="0"/>
              </a:rPr>
              <a:t>analytical</a:t>
            </a:r>
            <a:r>
              <a:rPr lang="fr-BE" sz="3200" dirty="0">
                <a:latin typeface="TT Hoves" panose="020B0604020202020204" charset="0"/>
              </a:rPr>
              <a:t> </a:t>
            </a:r>
            <a:r>
              <a:rPr lang="fr-BE" sz="3200" dirty="0" err="1">
                <a:latin typeface="TT Hoves" panose="020B0604020202020204" charset="0"/>
              </a:rPr>
              <a:t>environment</a:t>
            </a:r>
            <a:r>
              <a:rPr lang="fr-BE" sz="3200" dirty="0">
                <a:latin typeface="TT Hoves" panose="020B0604020202020204" charset="0"/>
              </a:rPr>
              <a:t> serves as the </a:t>
            </a:r>
            <a:r>
              <a:rPr lang="fr-BE" sz="3200" dirty="0" err="1">
                <a:latin typeface="TT Hoves" panose="020B0604020202020204" charset="0"/>
              </a:rPr>
              <a:t>foundation</a:t>
            </a:r>
            <a:r>
              <a:rPr lang="fr-BE" sz="3200" dirty="0">
                <a:latin typeface="TT Hoves" panose="020B0604020202020204" charset="0"/>
              </a:rPr>
              <a:t> for </a:t>
            </a:r>
            <a:r>
              <a:rPr lang="fr-BE" sz="3200" dirty="0" err="1">
                <a:latin typeface="TT Hoves" panose="020B0604020202020204" charset="0"/>
              </a:rPr>
              <a:t>exploratory</a:t>
            </a:r>
            <a:r>
              <a:rPr lang="fr-BE" sz="3200" dirty="0">
                <a:latin typeface="TT Hoves" panose="020B0604020202020204" charset="0"/>
              </a:rPr>
              <a:t> </a:t>
            </a:r>
            <a:r>
              <a:rPr lang="fr-BE" sz="3200" dirty="0" err="1">
                <a:latin typeface="TT Hoves" panose="020B0604020202020204" charset="0"/>
              </a:rPr>
              <a:t>analysis</a:t>
            </a:r>
            <a:r>
              <a:rPr lang="fr-BE" sz="3200" dirty="0">
                <a:latin typeface="TT Hoves" panose="020B0604020202020204" charset="0"/>
              </a:rPr>
              <a:t>, machine </a:t>
            </a:r>
            <a:r>
              <a:rPr lang="fr-BE" sz="3200" dirty="0" err="1">
                <a:latin typeface="TT Hoves" panose="020B0604020202020204" charset="0"/>
              </a:rPr>
              <a:t>learning</a:t>
            </a:r>
            <a:r>
              <a:rPr lang="fr-BE" sz="3200" dirty="0">
                <a:latin typeface="TT Hoves" panose="020B0604020202020204" charset="0"/>
              </a:rPr>
              <a:t> </a:t>
            </a:r>
            <a:r>
              <a:rPr lang="fr-BE" sz="3200" dirty="0" err="1">
                <a:latin typeface="TT Hoves" panose="020B0604020202020204" charset="0"/>
              </a:rPr>
              <a:t>models</a:t>
            </a:r>
            <a:r>
              <a:rPr lang="fr-BE" sz="3200" dirty="0">
                <a:latin typeface="TT Hoves" panose="020B0604020202020204" charset="0"/>
              </a:rPr>
              <a:t>, and business intelligence </a:t>
            </a:r>
            <a:r>
              <a:rPr lang="fr-BE" sz="3200" dirty="0" err="1">
                <a:latin typeface="TT Hoves" panose="020B0604020202020204" charset="0"/>
              </a:rPr>
              <a:t>reporting</a:t>
            </a:r>
            <a:r>
              <a:rPr lang="fr-BE" sz="3200" dirty="0">
                <a:latin typeface="TT Hoves" panose="020B0604020202020204" charset="0"/>
              </a:rPr>
              <a:t>.</a:t>
            </a:r>
          </a:p>
          <a:p>
            <a:endParaRPr lang="fr-BE" sz="3200" dirty="0">
              <a:latin typeface="TT Hoves Bold" panose="020B06040202020202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891061" y="465909"/>
            <a:ext cx="2573598" cy="1208847"/>
          </a:xfrm>
          <a:custGeom>
            <a:avLst/>
            <a:gdLst/>
            <a:ahLst/>
            <a:cxnLst/>
            <a:rect l="l" t="t" r="r" b="b"/>
            <a:pathLst>
              <a:path w="2470699" h="1086349">
                <a:moveTo>
                  <a:pt x="0" y="0"/>
                </a:moveTo>
                <a:lnTo>
                  <a:pt x="2470699" y="0"/>
                </a:lnTo>
                <a:lnTo>
                  <a:pt x="2470699" y="1086349"/>
                </a:lnTo>
                <a:lnTo>
                  <a:pt x="0" y="10863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BE" dirty="0"/>
          </a:p>
        </p:txBody>
      </p:sp>
      <p:sp>
        <p:nvSpPr>
          <p:cNvPr id="3" name="Freeform 3"/>
          <p:cNvSpPr/>
          <p:nvPr/>
        </p:nvSpPr>
        <p:spPr>
          <a:xfrm>
            <a:off x="8921014" y="465909"/>
            <a:ext cx="2573598" cy="1208847"/>
          </a:xfrm>
          <a:custGeom>
            <a:avLst/>
            <a:gdLst/>
            <a:ahLst/>
            <a:cxnLst/>
            <a:rect l="l" t="t" r="r" b="b"/>
            <a:pathLst>
              <a:path w="2470699" h="1086349">
                <a:moveTo>
                  <a:pt x="0" y="0"/>
                </a:moveTo>
                <a:lnTo>
                  <a:pt x="2470700" y="0"/>
                </a:lnTo>
                <a:lnTo>
                  <a:pt x="2470700" y="1086349"/>
                </a:lnTo>
                <a:lnTo>
                  <a:pt x="0" y="10863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BE"/>
          </a:p>
        </p:txBody>
      </p:sp>
      <p:sp>
        <p:nvSpPr>
          <p:cNvPr id="4" name="Freeform 4"/>
          <p:cNvSpPr/>
          <p:nvPr/>
        </p:nvSpPr>
        <p:spPr>
          <a:xfrm>
            <a:off x="11950967" y="465909"/>
            <a:ext cx="2573598" cy="1208847"/>
          </a:xfrm>
          <a:custGeom>
            <a:avLst/>
            <a:gdLst/>
            <a:ahLst/>
            <a:cxnLst/>
            <a:rect l="l" t="t" r="r" b="b"/>
            <a:pathLst>
              <a:path w="2470699" h="1086349">
                <a:moveTo>
                  <a:pt x="0" y="0"/>
                </a:moveTo>
                <a:lnTo>
                  <a:pt x="2470700" y="0"/>
                </a:lnTo>
                <a:lnTo>
                  <a:pt x="2470700" y="1086349"/>
                </a:lnTo>
                <a:lnTo>
                  <a:pt x="0" y="10863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BE"/>
          </a:p>
        </p:txBody>
      </p:sp>
      <p:sp>
        <p:nvSpPr>
          <p:cNvPr id="5" name="Freeform 5"/>
          <p:cNvSpPr/>
          <p:nvPr/>
        </p:nvSpPr>
        <p:spPr>
          <a:xfrm>
            <a:off x="14980921" y="465909"/>
            <a:ext cx="2573598" cy="1208847"/>
          </a:xfrm>
          <a:custGeom>
            <a:avLst/>
            <a:gdLst/>
            <a:ahLst/>
            <a:cxnLst/>
            <a:rect l="l" t="t" r="r" b="b"/>
            <a:pathLst>
              <a:path w="2470699" h="1086349">
                <a:moveTo>
                  <a:pt x="0" y="0"/>
                </a:moveTo>
                <a:lnTo>
                  <a:pt x="2470699" y="0"/>
                </a:lnTo>
                <a:lnTo>
                  <a:pt x="2470699" y="1086349"/>
                </a:lnTo>
                <a:lnTo>
                  <a:pt x="0" y="10863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BE"/>
          </a:p>
        </p:txBody>
      </p:sp>
      <p:sp>
        <p:nvSpPr>
          <p:cNvPr id="6" name="Freeform 6"/>
          <p:cNvSpPr/>
          <p:nvPr/>
        </p:nvSpPr>
        <p:spPr>
          <a:xfrm>
            <a:off x="5891061" y="5379952"/>
            <a:ext cx="2573598" cy="1208847"/>
          </a:xfrm>
          <a:custGeom>
            <a:avLst/>
            <a:gdLst/>
            <a:ahLst/>
            <a:cxnLst/>
            <a:rect l="l" t="t" r="r" b="b"/>
            <a:pathLst>
              <a:path w="2470699" h="1086349">
                <a:moveTo>
                  <a:pt x="0" y="0"/>
                </a:moveTo>
                <a:lnTo>
                  <a:pt x="2470699" y="0"/>
                </a:lnTo>
                <a:lnTo>
                  <a:pt x="2470699" y="1086349"/>
                </a:lnTo>
                <a:lnTo>
                  <a:pt x="0" y="10863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BE"/>
          </a:p>
        </p:txBody>
      </p:sp>
      <p:grpSp>
        <p:nvGrpSpPr>
          <p:cNvPr id="7" name="Group 7"/>
          <p:cNvGrpSpPr/>
          <p:nvPr/>
        </p:nvGrpSpPr>
        <p:grpSpPr>
          <a:xfrm>
            <a:off x="5891061" y="1704658"/>
            <a:ext cx="2573598" cy="3144488"/>
            <a:chOff x="0" y="0"/>
            <a:chExt cx="650719" cy="9272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50719" cy="927200"/>
            </a:xfrm>
            <a:custGeom>
              <a:avLst/>
              <a:gdLst/>
              <a:ahLst/>
              <a:cxnLst/>
              <a:rect l="l" t="t" r="r" b="b"/>
              <a:pathLst>
                <a:path w="650719" h="927200">
                  <a:moveTo>
                    <a:pt x="72070" y="0"/>
                  </a:moveTo>
                  <a:lnTo>
                    <a:pt x="578649" y="0"/>
                  </a:lnTo>
                  <a:cubicBezTo>
                    <a:pt x="597763" y="0"/>
                    <a:pt x="616094" y="7593"/>
                    <a:pt x="629610" y="21109"/>
                  </a:cubicBezTo>
                  <a:cubicBezTo>
                    <a:pt x="643126" y="34625"/>
                    <a:pt x="650719" y="52956"/>
                    <a:pt x="650719" y="72070"/>
                  </a:cubicBezTo>
                  <a:lnTo>
                    <a:pt x="650719" y="855130"/>
                  </a:lnTo>
                  <a:cubicBezTo>
                    <a:pt x="650719" y="874244"/>
                    <a:pt x="643126" y="892576"/>
                    <a:pt x="629610" y="906091"/>
                  </a:cubicBezTo>
                  <a:cubicBezTo>
                    <a:pt x="616094" y="919607"/>
                    <a:pt x="597763" y="927200"/>
                    <a:pt x="578649" y="927200"/>
                  </a:cubicBezTo>
                  <a:lnTo>
                    <a:pt x="72070" y="927200"/>
                  </a:lnTo>
                  <a:cubicBezTo>
                    <a:pt x="52956" y="927200"/>
                    <a:pt x="34625" y="919607"/>
                    <a:pt x="21109" y="906091"/>
                  </a:cubicBezTo>
                  <a:cubicBezTo>
                    <a:pt x="7593" y="892576"/>
                    <a:pt x="0" y="874244"/>
                    <a:pt x="0" y="855130"/>
                  </a:cubicBezTo>
                  <a:lnTo>
                    <a:pt x="0" y="72070"/>
                  </a:lnTo>
                  <a:cubicBezTo>
                    <a:pt x="0" y="52956"/>
                    <a:pt x="7593" y="34625"/>
                    <a:pt x="21109" y="21109"/>
                  </a:cubicBezTo>
                  <a:cubicBezTo>
                    <a:pt x="34625" y="7593"/>
                    <a:pt x="52956" y="0"/>
                    <a:pt x="7207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BE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650719" cy="9462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968445" y="1704658"/>
            <a:ext cx="2573598" cy="3144488"/>
            <a:chOff x="0" y="0"/>
            <a:chExt cx="650719" cy="9272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50719" cy="927200"/>
            </a:xfrm>
            <a:custGeom>
              <a:avLst/>
              <a:gdLst/>
              <a:ahLst/>
              <a:cxnLst/>
              <a:rect l="l" t="t" r="r" b="b"/>
              <a:pathLst>
                <a:path w="650719" h="927200">
                  <a:moveTo>
                    <a:pt x="72070" y="0"/>
                  </a:moveTo>
                  <a:lnTo>
                    <a:pt x="578649" y="0"/>
                  </a:lnTo>
                  <a:cubicBezTo>
                    <a:pt x="597763" y="0"/>
                    <a:pt x="616094" y="7593"/>
                    <a:pt x="629610" y="21109"/>
                  </a:cubicBezTo>
                  <a:cubicBezTo>
                    <a:pt x="643126" y="34625"/>
                    <a:pt x="650719" y="52956"/>
                    <a:pt x="650719" y="72070"/>
                  </a:cubicBezTo>
                  <a:lnTo>
                    <a:pt x="650719" y="855130"/>
                  </a:lnTo>
                  <a:cubicBezTo>
                    <a:pt x="650719" y="874244"/>
                    <a:pt x="643126" y="892576"/>
                    <a:pt x="629610" y="906091"/>
                  </a:cubicBezTo>
                  <a:cubicBezTo>
                    <a:pt x="616094" y="919607"/>
                    <a:pt x="597763" y="927200"/>
                    <a:pt x="578649" y="927200"/>
                  </a:cubicBezTo>
                  <a:lnTo>
                    <a:pt x="72070" y="927200"/>
                  </a:lnTo>
                  <a:cubicBezTo>
                    <a:pt x="52956" y="927200"/>
                    <a:pt x="34625" y="919607"/>
                    <a:pt x="21109" y="906091"/>
                  </a:cubicBezTo>
                  <a:cubicBezTo>
                    <a:pt x="7593" y="892576"/>
                    <a:pt x="0" y="874244"/>
                    <a:pt x="0" y="855130"/>
                  </a:cubicBezTo>
                  <a:lnTo>
                    <a:pt x="0" y="72070"/>
                  </a:lnTo>
                  <a:cubicBezTo>
                    <a:pt x="0" y="52956"/>
                    <a:pt x="7593" y="34625"/>
                    <a:pt x="21109" y="21109"/>
                  </a:cubicBezTo>
                  <a:cubicBezTo>
                    <a:pt x="34625" y="7593"/>
                    <a:pt x="52956" y="0"/>
                    <a:pt x="7207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BE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50719" cy="9462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045829" y="1704658"/>
            <a:ext cx="2573598" cy="3144488"/>
            <a:chOff x="0" y="0"/>
            <a:chExt cx="650719" cy="9272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50719" cy="927200"/>
            </a:xfrm>
            <a:custGeom>
              <a:avLst/>
              <a:gdLst/>
              <a:ahLst/>
              <a:cxnLst/>
              <a:rect l="l" t="t" r="r" b="b"/>
              <a:pathLst>
                <a:path w="650719" h="927200">
                  <a:moveTo>
                    <a:pt x="72070" y="0"/>
                  </a:moveTo>
                  <a:lnTo>
                    <a:pt x="578649" y="0"/>
                  </a:lnTo>
                  <a:cubicBezTo>
                    <a:pt x="597763" y="0"/>
                    <a:pt x="616094" y="7593"/>
                    <a:pt x="629610" y="21109"/>
                  </a:cubicBezTo>
                  <a:cubicBezTo>
                    <a:pt x="643126" y="34625"/>
                    <a:pt x="650719" y="52956"/>
                    <a:pt x="650719" y="72070"/>
                  </a:cubicBezTo>
                  <a:lnTo>
                    <a:pt x="650719" y="855130"/>
                  </a:lnTo>
                  <a:cubicBezTo>
                    <a:pt x="650719" y="874244"/>
                    <a:pt x="643126" y="892576"/>
                    <a:pt x="629610" y="906091"/>
                  </a:cubicBezTo>
                  <a:cubicBezTo>
                    <a:pt x="616094" y="919607"/>
                    <a:pt x="597763" y="927200"/>
                    <a:pt x="578649" y="927200"/>
                  </a:cubicBezTo>
                  <a:lnTo>
                    <a:pt x="72070" y="927200"/>
                  </a:lnTo>
                  <a:cubicBezTo>
                    <a:pt x="52956" y="927200"/>
                    <a:pt x="34625" y="919607"/>
                    <a:pt x="21109" y="906091"/>
                  </a:cubicBezTo>
                  <a:cubicBezTo>
                    <a:pt x="7593" y="892576"/>
                    <a:pt x="0" y="874244"/>
                    <a:pt x="0" y="855130"/>
                  </a:cubicBezTo>
                  <a:lnTo>
                    <a:pt x="0" y="72070"/>
                  </a:lnTo>
                  <a:cubicBezTo>
                    <a:pt x="0" y="52956"/>
                    <a:pt x="7593" y="34625"/>
                    <a:pt x="21109" y="21109"/>
                  </a:cubicBezTo>
                  <a:cubicBezTo>
                    <a:pt x="34625" y="7593"/>
                    <a:pt x="52956" y="0"/>
                    <a:pt x="7207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BE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650719" cy="9462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5123212" y="1704658"/>
            <a:ext cx="2573598" cy="3144488"/>
            <a:chOff x="0" y="0"/>
            <a:chExt cx="650719" cy="9272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50719" cy="927200"/>
            </a:xfrm>
            <a:custGeom>
              <a:avLst/>
              <a:gdLst/>
              <a:ahLst/>
              <a:cxnLst/>
              <a:rect l="l" t="t" r="r" b="b"/>
              <a:pathLst>
                <a:path w="650719" h="927200">
                  <a:moveTo>
                    <a:pt x="72070" y="0"/>
                  </a:moveTo>
                  <a:lnTo>
                    <a:pt x="578649" y="0"/>
                  </a:lnTo>
                  <a:cubicBezTo>
                    <a:pt x="597763" y="0"/>
                    <a:pt x="616094" y="7593"/>
                    <a:pt x="629610" y="21109"/>
                  </a:cubicBezTo>
                  <a:cubicBezTo>
                    <a:pt x="643126" y="34625"/>
                    <a:pt x="650719" y="52956"/>
                    <a:pt x="650719" y="72070"/>
                  </a:cubicBezTo>
                  <a:lnTo>
                    <a:pt x="650719" y="855130"/>
                  </a:lnTo>
                  <a:cubicBezTo>
                    <a:pt x="650719" y="874244"/>
                    <a:pt x="643126" y="892576"/>
                    <a:pt x="629610" y="906091"/>
                  </a:cubicBezTo>
                  <a:cubicBezTo>
                    <a:pt x="616094" y="919607"/>
                    <a:pt x="597763" y="927200"/>
                    <a:pt x="578649" y="927200"/>
                  </a:cubicBezTo>
                  <a:lnTo>
                    <a:pt x="72070" y="927200"/>
                  </a:lnTo>
                  <a:cubicBezTo>
                    <a:pt x="52956" y="927200"/>
                    <a:pt x="34625" y="919607"/>
                    <a:pt x="21109" y="906091"/>
                  </a:cubicBezTo>
                  <a:cubicBezTo>
                    <a:pt x="7593" y="892576"/>
                    <a:pt x="0" y="874244"/>
                    <a:pt x="0" y="855130"/>
                  </a:cubicBezTo>
                  <a:lnTo>
                    <a:pt x="0" y="72070"/>
                  </a:lnTo>
                  <a:cubicBezTo>
                    <a:pt x="0" y="52956"/>
                    <a:pt x="7593" y="34625"/>
                    <a:pt x="21109" y="21109"/>
                  </a:cubicBezTo>
                  <a:cubicBezTo>
                    <a:pt x="34625" y="7593"/>
                    <a:pt x="52956" y="0"/>
                    <a:pt x="7207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BE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650719" cy="9462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080783" y="6618701"/>
            <a:ext cx="2573598" cy="3144488"/>
            <a:chOff x="0" y="0"/>
            <a:chExt cx="650719" cy="9272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50719" cy="927200"/>
            </a:xfrm>
            <a:custGeom>
              <a:avLst/>
              <a:gdLst/>
              <a:ahLst/>
              <a:cxnLst/>
              <a:rect l="l" t="t" r="r" b="b"/>
              <a:pathLst>
                <a:path w="650719" h="927200">
                  <a:moveTo>
                    <a:pt x="72070" y="0"/>
                  </a:moveTo>
                  <a:lnTo>
                    <a:pt x="578649" y="0"/>
                  </a:lnTo>
                  <a:cubicBezTo>
                    <a:pt x="597763" y="0"/>
                    <a:pt x="616094" y="7593"/>
                    <a:pt x="629610" y="21109"/>
                  </a:cubicBezTo>
                  <a:cubicBezTo>
                    <a:pt x="643126" y="34625"/>
                    <a:pt x="650719" y="52956"/>
                    <a:pt x="650719" y="72070"/>
                  </a:cubicBezTo>
                  <a:lnTo>
                    <a:pt x="650719" y="855130"/>
                  </a:lnTo>
                  <a:cubicBezTo>
                    <a:pt x="650719" y="874244"/>
                    <a:pt x="643126" y="892576"/>
                    <a:pt x="629610" y="906091"/>
                  </a:cubicBezTo>
                  <a:cubicBezTo>
                    <a:pt x="616094" y="919607"/>
                    <a:pt x="597763" y="927200"/>
                    <a:pt x="578649" y="927200"/>
                  </a:cubicBezTo>
                  <a:lnTo>
                    <a:pt x="72070" y="927200"/>
                  </a:lnTo>
                  <a:cubicBezTo>
                    <a:pt x="52956" y="927200"/>
                    <a:pt x="34625" y="919607"/>
                    <a:pt x="21109" y="906091"/>
                  </a:cubicBezTo>
                  <a:cubicBezTo>
                    <a:pt x="7593" y="892576"/>
                    <a:pt x="0" y="874244"/>
                    <a:pt x="0" y="855130"/>
                  </a:cubicBezTo>
                  <a:lnTo>
                    <a:pt x="0" y="72070"/>
                  </a:lnTo>
                  <a:cubicBezTo>
                    <a:pt x="0" y="52956"/>
                    <a:pt x="7593" y="34625"/>
                    <a:pt x="21109" y="21109"/>
                  </a:cubicBezTo>
                  <a:cubicBezTo>
                    <a:pt x="34625" y="7593"/>
                    <a:pt x="52956" y="0"/>
                    <a:pt x="7207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BE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650719" cy="9462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001291" y="4838700"/>
            <a:ext cx="2350112" cy="174634"/>
            <a:chOff x="0" y="0"/>
            <a:chExt cx="594212" cy="41334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94212" cy="41334"/>
            </a:xfrm>
            <a:custGeom>
              <a:avLst/>
              <a:gdLst/>
              <a:ahLst/>
              <a:cxnLst/>
              <a:rect l="l" t="t" r="r" b="b"/>
              <a:pathLst>
                <a:path w="594212" h="41334">
                  <a:moveTo>
                    <a:pt x="20667" y="0"/>
                  </a:moveTo>
                  <a:lnTo>
                    <a:pt x="573545" y="0"/>
                  </a:lnTo>
                  <a:cubicBezTo>
                    <a:pt x="584959" y="0"/>
                    <a:pt x="594212" y="9253"/>
                    <a:pt x="594212" y="20667"/>
                  </a:cubicBezTo>
                  <a:lnTo>
                    <a:pt x="594212" y="20667"/>
                  </a:lnTo>
                  <a:cubicBezTo>
                    <a:pt x="594212" y="32081"/>
                    <a:pt x="584959" y="41334"/>
                    <a:pt x="573545" y="41334"/>
                  </a:cubicBezTo>
                  <a:lnTo>
                    <a:pt x="20667" y="41334"/>
                  </a:lnTo>
                  <a:cubicBezTo>
                    <a:pt x="9253" y="41334"/>
                    <a:pt x="0" y="32081"/>
                    <a:pt x="0" y="20667"/>
                  </a:cubicBezTo>
                  <a:lnTo>
                    <a:pt x="0" y="20667"/>
                  </a:lnTo>
                  <a:cubicBezTo>
                    <a:pt x="0" y="9253"/>
                    <a:pt x="9253" y="0"/>
                    <a:pt x="20667" y="0"/>
                  </a:cubicBezTo>
                  <a:close/>
                </a:path>
              </a:pathLst>
            </a:custGeom>
            <a:solidFill>
              <a:srgbClr val="56E11B"/>
            </a:solidFill>
          </p:spPr>
          <p:txBody>
            <a:bodyPr/>
            <a:lstStyle/>
            <a:p>
              <a:endParaRPr lang="fr-BE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594212" cy="794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078675" y="4838700"/>
            <a:ext cx="2350112" cy="174634"/>
            <a:chOff x="0" y="0"/>
            <a:chExt cx="594212" cy="41334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94212" cy="41334"/>
            </a:xfrm>
            <a:custGeom>
              <a:avLst/>
              <a:gdLst/>
              <a:ahLst/>
              <a:cxnLst/>
              <a:rect l="l" t="t" r="r" b="b"/>
              <a:pathLst>
                <a:path w="594212" h="41334">
                  <a:moveTo>
                    <a:pt x="20667" y="0"/>
                  </a:moveTo>
                  <a:lnTo>
                    <a:pt x="573545" y="0"/>
                  </a:lnTo>
                  <a:cubicBezTo>
                    <a:pt x="584959" y="0"/>
                    <a:pt x="594212" y="9253"/>
                    <a:pt x="594212" y="20667"/>
                  </a:cubicBezTo>
                  <a:lnTo>
                    <a:pt x="594212" y="20667"/>
                  </a:lnTo>
                  <a:cubicBezTo>
                    <a:pt x="594212" y="32081"/>
                    <a:pt x="584959" y="41334"/>
                    <a:pt x="573545" y="41334"/>
                  </a:cubicBezTo>
                  <a:lnTo>
                    <a:pt x="20667" y="41334"/>
                  </a:lnTo>
                  <a:cubicBezTo>
                    <a:pt x="9253" y="41334"/>
                    <a:pt x="0" y="32081"/>
                    <a:pt x="0" y="20667"/>
                  </a:cubicBezTo>
                  <a:lnTo>
                    <a:pt x="0" y="20667"/>
                  </a:lnTo>
                  <a:cubicBezTo>
                    <a:pt x="0" y="9253"/>
                    <a:pt x="9253" y="0"/>
                    <a:pt x="20667" y="0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</p:spPr>
          <p:txBody>
            <a:bodyPr/>
            <a:lstStyle/>
            <a:p>
              <a:endParaRPr lang="fr-BE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594212" cy="794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2155058" y="4838700"/>
            <a:ext cx="2350112" cy="174634"/>
            <a:chOff x="0" y="0"/>
            <a:chExt cx="594212" cy="41334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94212" cy="41334"/>
            </a:xfrm>
            <a:custGeom>
              <a:avLst/>
              <a:gdLst/>
              <a:ahLst/>
              <a:cxnLst/>
              <a:rect l="l" t="t" r="r" b="b"/>
              <a:pathLst>
                <a:path w="594212" h="41334">
                  <a:moveTo>
                    <a:pt x="20667" y="0"/>
                  </a:moveTo>
                  <a:lnTo>
                    <a:pt x="573545" y="0"/>
                  </a:lnTo>
                  <a:cubicBezTo>
                    <a:pt x="584959" y="0"/>
                    <a:pt x="594212" y="9253"/>
                    <a:pt x="594212" y="20667"/>
                  </a:cubicBezTo>
                  <a:lnTo>
                    <a:pt x="594212" y="20667"/>
                  </a:lnTo>
                  <a:cubicBezTo>
                    <a:pt x="594212" y="32081"/>
                    <a:pt x="584959" y="41334"/>
                    <a:pt x="573545" y="41334"/>
                  </a:cubicBezTo>
                  <a:lnTo>
                    <a:pt x="20667" y="41334"/>
                  </a:lnTo>
                  <a:cubicBezTo>
                    <a:pt x="9253" y="41334"/>
                    <a:pt x="0" y="32081"/>
                    <a:pt x="0" y="20667"/>
                  </a:cubicBezTo>
                  <a:lnTo>
                    <a:pt x="0" y="20667"/>
                  </a:lnTo>
                  <a:cubicBezTo>
                    <a:pt x="0" y="9253"/>
                    <a:pt x="9253" y="0"/>
                    <a:pt x="20667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</p:spPr>
          <p:txBody>
            <a:bodyPr/>
            <a:lstStyle/>
            <a:p>
              <a:endParaRPr lang="fr-BE" dirty="0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594212" cy="794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5231941" y="4838700"/>
            <a:ext cx="2350112" cy="174634"/>
            <a:chOff x="0" y="0"/>
            <a:chExt cx="594212" cy="41334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594212" cy="41334"/>
            </a:xfrm>
            <a:custGeom>
              <a:avLst/>
              <a:gdLst/>
              <a:ahLst/>
              <a:cxnLst/>
              <a:rect l="l" t="t" r="r" b="b"/>
              <a:pathLst>
                <a:path w="594212" h="41334">
                  <a:moveTo>
                    <a:pt x="20667" y="0"/>
                  </a:moveTo>
                  <a:lnTo>
                    <a:pt x="573545" y="0"/>
                  </a:lnTo>
                  <a:cubicBezTo>
                    <a:pt x="584959" y="0"/>
                    <a:pt x="594212" y="9253"/>
                    <a:pt x="594212" y="20667"/>
                  </a:cubicBezTo>
                  <a:lnTo>
                    <a:pt x="594212" y="20667"/>
                  </a:lnTo>
                  <a:cubicBezTo>
                    <a:pt x="594212" y="32081"/>
                    <a:pt x="584959" y="41334"/>
                    <a:pt x="573545" y="41334"/>
                  </a:cubicBezTo>
                  <a:lnTo>
                    <a:pt x="20667" y="41334"/>
                  </a:lnTo>
                  <a:cubicBezTo>
                    <a:pt x="9253" y="41334"/>
                    <a:pt x="0" y="32081"/>
                    <a:pt x="0" y="20667"/>
                  </a:cubicBezTo>
                  <a:lnTo>
                    <a:pt x="0" y="20667"/>
                  </a:lnTo>
                  <a:cubicBezTo>
                    <a:pt x="0" y="9253"/>
                    <a:pt x="9253" y="0"/>
                    <a:pt x="20667" y="0"/>
                  </a:cubicBez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</p:spPr>
          <p:txBody>
            <a:bodyPr/>
            <a:lstStyle/>
            <a:p>
              <a:endParaRPr lang="fr-BE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594212" cy="794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189011" y="9752743"/>
            <a:ext cx="2350112" cy="174634"/>
            <a:chOff x="0" y="0"/>
            <a:chExt cx="594212" cy="41334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594212" cy="41334"/>
            </a:xfrm>
            <a:custGeom>
              <a:avLst/>
              <a:gdLst/>
              <a:ahLst/>
              <a:cxnLst/>
              <a:rect l="l" t="t" r="r" b="b"/>
              <a:pathLst>
                <a:path w="594212" h="41334">
                  <a:moveTo>
                    <a:pt x="20667" y="0"/>
                  </a:moveTo>
                  <a:lnTo>
                    <a:pt x="573545" y="0"/>
                  </a:lnTo>
                  <a:cubicBezTo>
                    <a:pt x="584959" y="0"/>
                    <a:pt x="594212" y="9253"/>
                    <a:pt x="594212" y="20667"/>
                  </a:cubicBezTo>
                  <a:lnTo>
                    <a:pt x="594212" y="20667"/>
                  </a:lnTo>
                  <a:cubicBezTo>
                    <a:pt x="594212" y="32081"/>
                    <a:pt x="584959" y="41334"/>
                    <a:pt x="573545" y="41334"/>
                  </a:cubicBezTo>
                  <a:lnTo>
                    <a:pt x="20667" y="41334"/>
                  </a:lnTo>
                  <a:cubicBezTo>
                    <a:pt x="9253" y="41334"/>
                    <a:pt x="0" y="32081"/>
                    <a:pt x="0" y="20667"/>
                  </a:cubicBezTo>
                  <a:lnTo>
                    <a:pt x="0" y="20667"/>
                  </a:lnTo>
                  <a:cubicBezTo>
                    <a:pt x="0" y="9253"/>
                    <a:pt x="9253" y="0"/>
                    <a:pt x="20667" y="0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</p:spPr>
          <p:txBody>
            <a:bodyPr/>
            <a:lstStyle/>
            <a:p>
              <a:endParaRPr lang="fr-BE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594212" cy="794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9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7" name="Freeform 37"/>
          <p:cNvSpPr/>
          <p:nvPr/>
        </p:nvSpPr>
        <p:spPr>
          <a:xfrm>
            <a:off x="6845226" y="2098798"/>
            <a:ext cx="639080" cy="656642"/>
          </a:xfrm>
          <a:custGeom>
            <a:avLst/>
            <a:gdLst/>
            <a:ahLst/>
            <a:cxnLst/>
            <a:rect l="l" t="t" r="r" b="b"/>
            <a:pathLst>
              <a:path w="613528" h="590102">
                <a:moveTo>
                  <a:pt x="0" y="0"/>
                </a:moveTo>
                <a:lnTo>
                  <a:pt x="613527" y="0"/>
                </a:lnTo>
                <a:lnTo>
                  <a:pt x="613527" y="590102"/>
                </a:lnTo>
                <a:lnTo>
                  <a:pt x="0" y="5901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BE"/>
          </a:p>
        </p:txBody>
      </p:sp>
      <p:sp>
        <p:nvSpPr>
          <p:cNvPr id="41" name="TextBox 41"/>
          <p:cNvSpPr txBox="1"/>
          <p:nvPr/>
        </p:nvSpPr>
        <p:spPr>
          <a:xfrm>
            <a:off x="0" y="872221"/>
            <a:ext cx="5384255" cy="12935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5400" b="1" dirty="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Workflow </a:t>
            </a:r>
          </a:p>
          <a:p>
            <a:pPr algn="ctr">
              <a:lnSpc>
                <a:spcPts val="5040"/>
              </a:lnSpc>
            </a:pPr>
            <a:r>
              <a:rPr lang="en-US" sz="5400" b="1" dirty="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Steps Guide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083951" y="3038158"/>
            <a:ext cx="2182521" cy="2623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 dirty="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Original data file.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161334" y="3038158"/>
            <a:ext cx="2182521" cy="5445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 dirty="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Data extraction using Python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896070" y="872221"/>
            <a:ext cx="2194712" cy="2623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fr-BE" sz="1600" dirty="0">
                <a:latin typeface="TT Hoves Bold" panose="020B0604020202020204" charset="0"/>
              </a:rPr>
              <a:t>CSV Files</a:t>
            </a:r>
            <a:endParaRPr lang="en-US" sz="1600" b="1" dirty="0">
              <a:solidFill>
                <a:srgbClr val="000000"/>
              </a:solidFill>
              <a:latin typeface="TT Hoves Bold" panose="020B0604020202020204" charset="0"/>
              <a:ea typeface="TT Hoves Bold"/>
              <a:cs typeface="TT Hoves Bold"/>
              <a:sym typeface="TT Hoves Bold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8946910" y="872221"/>
            <a:ext cx="2194712" cy="2623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fr-BE" sz="1600" dirty="0">
                <a:latin typeface="TT Hoves Bold" panose="020B0604020202020204" charset="0"/>
              </a:rPr>
              <a:t>extract_load.py</a:t>
            </a:r>
            <a:endParaRPr lang="en-US" sz="1600" b="1" dirty="0">
              <a:solidFill>
                <a:srgbClr val="000000"/>
              </a:solidFill>
              <a:latin typeface="TT Hoves Bold" panose="020B0604020202020204" charset="0"/>
              <a:ea typeface="TT Hoves Bold"/>
              <a:cs typeface="TT Hoves Bold"/>
              <a:sym typeface="TT Hoves Bold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11997750" y="872221"/>
            <a:ext cx="2194712" cy="2623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fr-BE" sz="1600" dirty="0">
                <a:latin typeface="TT Hoves Bold" panose="020B0604020202020204" charset="0"/>
              </a:rPr>
              <a:t>RAW Schema</a:t>
            </a:r>
            <a:endParaRPr lang="en-US" sz="1600" b="1" dirty="0">
              <a:solidFill>
                <a:srgbClr val="000000"/>
              </a:solidFill>
              <a:latin typeface="TT Hoves Bold" panose="020B0604020202020204" charset="0"/>
              <a:ea typeface="TT Hoves Bold"/>
              <a:cs typeface="TT Hoves Bold"/>
              <a:sym typeface="TT Hoves Bold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15048590" y="872221"/>
            <a:ext cx="2194712" cy="2623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fr-BE" sz="1600" dirty="0">
                <a:latin typeface="TT Hoves Bold" panose="020B0604020202020204" charset="0"/>
              </a:rPr>
              <a:t>run_staging.py</a:t>
            </a:r>
            <a:endParaRPr lang="en-US" sz="1600" b="1" dirty="0">
              <a:solidFill>
                <a:srgbClr val="000000"/>
              </a:solidFill>
              <a:latin typeface="TT Hoves Bold" panose="020B0604020202020204" charset="0"/>
              <a:ea typeface="TT Hoves Bold"/>
              <a:cs typeface="TT Hoves Bold"/>
              <a:sym typeface="TT Hoves Bold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5979616" y="5786264"/>
            <a:ext cx="2194712" cy="2623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fr-BE" sz="1600" dirty="0">
                <a:latin typeface="TT Hoves Bold" panose="020B0604020202020204" charset="0"/>
              </a:rPr>
              <a:t>STAGING Schema</a:t>
            </a:r>
            <a:endParaRPr lang="en-US" sz="1600" b="1" dirty="0">
              <a:solidFill>
                <a:srgbClr val="000000"/>
              </a:solidFill>
              <a:latin typeface="TT Hoves Bold" panose="020B0604020202020204" charset="0"/>
              <a:ea typeface="TT Hoves Bold"/>
              <a:cs typeface="TT Hoves Bold"/>
              <a:sym typeface="TT Hoves Bold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15371998" y="2761513"/>
            <a:ext cx="2182521" cy="13908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 dirty="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Sending semi-processed data to staging schema, automating the process with Python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271671" y="7952201"/>
            <a:ext cx="2182521" cy="5445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 dirty="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Data type modification using SQL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577525" y="4338878"/>
            <a:ext cx="1181828" cy="5102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63"/>
              </a:lnSpc>
            </a:pPr>
            <a:r>
              <a:rPr lang="en-US" sz="3045" b="1">
                <a:solidFill>
                  <a:srgbClr val="56E11B"/>
                </a:solidFill>
                <a:latin typeface="TT Hoves Bold"/>
                <a:ea typeface="TT Hoves Bold"/>
                <a:cs typeface="TT Hoves Bold"/>
                <a:sym typeface="TT Hoves Bold"/>
              </a:rPr>
              <a:t>01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9654909" y="4338878"/>
            <a:ext cx="1181828" cy="5102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63"/>
              </a:lnSpc>
            </a:pPr>
            <a:r>
              <a:rPr lang="en-US" sz="3045" b="1" dirty="0">
                <a:solidFill>
                  <a:schemeClr val="bg1">
                    <a:lumMod val="65000"/>
                  </a:schemeClr>
                </a:solidFill>
                <a:latin typeface="TT Hoves Bold"/>
                <a:ea typeface="TT Hoves Bold"/>
                <a:cs typeface="TT Hoves Bold"/>
                <a:sym typeface="TT Hoves Bold"/>
              </a:rPr>
              <a:t>02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5809677" y="4338878"/>
            <a:ext cx="1181828" cy="5102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63"/>
              </a:lnSpc>
            </a:pPr>
            <a:r>
              <a:rPr lang="en-US" sz="3045" b="1" dirty="0">
                <a:solidFill>
                  <a:schemeClr val="tx2">
                    <a:lumMod val="40000"/>
                    <a:lumOff val="60000"/>
                  </a:schemeClr>
                </a:solidFill>
                <a:latin typeface="TT Hoves Bold"/>
                <a:ea typeface="TT Hoves Bold"/>
                <a:cs typeface="TT Hoves Bold"/>
                <a:sym typeface="TT Hoves Bold"/>
              </a:rPr>
              <a:t>04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2732293" y="4338878"/>
            <a:ext cx="1181828" cy="5102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63"/>
              </a:lnSpc>
            </a:pPr>
            <a:r>
              <a:rPr lang="en-US" sz="3045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TT Hoves Bold"/>
                <a:ea typeface="TT Hoves Bold"/>
                <a:cs typeface="TT Hoves Bold"/>
                <a:sym typeface="TT Hoves Bold"/>
              </a:rPr>
              <a:t>03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767248" y="9252921"/>
            <a:ext cx="1181828" cy="5102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63"/>
              </a:lnSpc>
            </a:pPr>
            <a:r>
              <a:rPr lang="en-US" sz="3045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TT Hoves Bold"/>
                <a:ea typeface="TT Hoves Bold"/>
                <a:cs typeface="TT Hoves Bold"/>
                <a:sym typeface="TT Hoves Bold"/>
              </a:rPr>
              <a:t>05</a:t>
            </a:r>
          </a:p>
        </p:txBody>
      </p:sp>
      <p:sp>
        <p:nvSpPr>
          <p:cNvPr id="59" name="Freeform 6">
            <a:extLst>
              <a:ext uri="{FF2B5EF4-FFF2-40B4-BE49-F238E27FC236}">
                <a16:creationId xmlns:a16="http://schemas.microsoft.com/office/drawing/2014/main" id="{982BF093-A2F2-0D89-CC4E-DF91C4BC56DD}"/>
              </a:ext>
            </a:extLst>
          </p:cNvPr>
          <p:cNvSpPr/>
          <p:nvPr/>
        </p:nvSpPr>
        <p:spPr>
          <a:xfrm>
            <a:off x="9052302" y="5379952"/>
            <a:ext cx="2573598" cy="1208847"/>
          </a:xfrm>
          <a:custGeom>
            <a:avLst/>
            <a:gdLst/>
            <a:ahLst/>
            <a:cxnLst/>
            <a:rect l="l" t="t" r="r" b="b"/>
            <a:pathLst>
              <a:path w="2470699" h="1086349">
                <a:moveTo>
                  <a:pt x="0" y="0"/>
                </a:moveTo>
                <a:lnTo>
                  <a:pt x="2470699" y="0"/>
                </a:lnTo>
                <a:lnTo>
                  <a:pt x="2470699" y="1086349"/>
                </a:lnTo>
                <a:lnTo>
                  <a:pt x="0" y="10863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BE"/>
          </a:p>
        </p:txBody>
      </p:sp>
      <p:grpSp>
        <p:nvGrpSpPr>
          <p:cNvPr id="60" name="Group 19">
            <a:extLst>
              <a:ext uri="{FF2B5EF4-FFF2-40B4-BE49-F238E27FC236}">
                <a16:creationId xmlns:a16="http://schemas.microsoft.com/office/drawing/2014/main" id="{9C4CC135-AB97-79F8-74D9-097C94F54422}"/>
              </a:ext>
            </a:extLst>
          </p:cNvPr>
          <p:cNvGrpSpPr/>
          <p:nvPr/>
        </p:nvGrpSpPr>
        <p:grpSpPr>
          <a:xfrm>
            <a:off x="9242024" y="6618701"/>
            <a:ext cx="2573598" cy="3144488"/>
            <a:chOff x="0" y="0"/>
            <a:chExt cx="650719" cy="927200"/>
          </a:xfrm>
        </p:grpSpPr>
        <p:sp>
          <p:nvSpPr>
            <p:cNvPr id="61" name="Freeform 20">
              <a:extLst>
                <a:ext uri="{FF2B5EF4-FFF2-40B4-BE49-F238E27FC236}">
                  <a16:creationId xmlns:a16="http://schemas.microsoft.com/office/drawing/2014/main" id="{1D8842C5-8768-A698-9777-500CAD380979}"/>
                </a:ext>
              </a:extLst>
            </p:cNvPr>
            <p:cNvSpPr/>
            <p:nvPr/>
          </p:nvSpPr>
          <p:spPr>
            <a:xfrm>
              <a:off x="0" y="0"/>
              <a:ext cx="650719" cy="927200"/>
            </a:xfrm>
            <a:custGeom>
              <a:avLst/>
              <a:gdLst/>
              <a:ahLst/>
              <a:cxnLst/>
              <a:rect l="l" t="t" r="r" b="b"/>
              <a:pathLst>
                <a:path w="650719" h="927200">
                  <a:moveTo>
                    <a:pt x="72070" y="0"/>
                  </a:moveTo>
                  <a:lnTo>
                    <a:pt x="578649" y="0"/>
                  </a:lnTo>
                  <a:cubicBezTo>
                    <a:pt x="597763" y="0"/>
                    <a:pt x="616094" y="7593"/>
                    <a:pt x="629610" y="21109"/>
                  </a:cubicBezTo>
                  <a:cubicBezTo>
                    <a:pt x="643126" y="34625"/>
                    <a:pt x="650719" y="52956"/>
                    <a:pt x="650719" y="72070"/>
                  </a:cubicBezTo>
                  <a:lnTo>
                    <a:pt x="650719" y="855130"/>
                  </a:lnTo>
                  <a:cubicBezTo>
                    <a:pt x="650719" y="874244"/>
                    <a:pt x="643126" y="892576"/>
                    <a:pt x="629610" y="906091"/>
                  </a:cubicBezTo>
                  <a:cubicBezTo>
                    <a:pt x="616094" y="919607"/>
                    <a:pt x="597763" y="927200"/>
                    <a:pt x="578649" y="927200"/>
                  </a:cubicBezTo>
                  <a:lnTo>
                    <a:pt x="72070" y="927200"/>
                  </a:lnTo>
                  <a:cubicBezTo>
                    <a:pt x="52956" y="927200"/>
                    <a:pt x="34625" y="919607"/>
                    <a:pt x="21109" y="906091"/>
                  </a:cubicBezTo>
                  <a:cubicBezTo>
                    <a:pt x="7593" y="892576"/>
                    <a:pt x="0" y="874244"/>
                    <a:pt x="0" y="855130"/>
                  </a:cubicBezTo>
                  <a:lnTo>
                    <a:pt x="0" y="72070"/>
                  </a:lnTo>
                  <a:cubicBezTo>
                    <a:pt x="0" y="52956"/>
                    <a:pt x="7593" y="34625"/>
                    <a:pt x="21109" y="21109"/>
                  </a:cubicBezTo>
                  <a:cubicBezTo>
                    <a:pt x="34625" y="7593"/>
                    <a:pt x="52956" y="0"/>
                    <a:pt x="7207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BE"/>
            </a:p>
          </p:txBody>
        </p:sp>
        <p:sp>
          <p:nvSpPr>
            <p:cNvPr id="62" name="TextBox 21">
              <a:extLst>
                <a:ext uri="{FF2B5EF4-FFF2-40B4-BE49-F238E27FC236}">
                  <a16:creationId xmlns:a16="http://schemas.microsoft.com/office/drawing/2014/main" id="{546B1CC7-01B9-3B34-E9EC-4A9ADA381871}"/>
                </a:ext>
              </a:extLst>
            </p:cNvPr>
            <p:cNvSpPr txBox="1"/>
            <p:nvPr/>
          </p:nvSpPr>
          <p:spPr>
            <a:xfrm>
              <a:off x="0" y="-19050"/>
              <a:ext cx="650719" cy="9462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63" name="Group 34">
            <a:extLst>
              <a:ext uri="{FF2B5EF4-FFF2-40B4-BE49-F238E27FC236}">
                <a16:creationId xmlns:a16="http://schemas.microsoft.com/office/drawing/2014/main" id="{0956EA95-0D0B-9618-5365-E56EA39E59DC}"/>
              </a:ext>
            </a:extLst>
          </p:cNvPr>
          <p:cNvGrpSpPr/>
          <p:nvPr/>
        </p:nvGrpSpPr>
        <p:grpSpPr>
          <a:xfrm>
            <a:off x="9350252" y="9752743"/>
            <a:ext cx="2350112" cy="174634"/>
            <a:chOff x="0" y="0"/>
            <a:chExt cx="594212" cy="41334"/>
          </a:xfrm>
        </p:grpSpPr>
        <p:sp>
          <p:nvSpPr>
            <p:cNvPr id="64" name="Freeform 35">
              <a:extLst>
                <a:ext uri="{FF2B5EF4-FFF2-40B4-BE49-F238E27FC236}">
                  <a16:creationId xmlns:a16="http://schemas.microsoft.com/office/drawing/2014/main" id="{36D97D49-DC88-F840-A189-66BCB67E6D71}"/>
                </a:ext>
              </a:extLst>
            </p:cNvPr>
            <p:cNvSpPr/>
            <p:nvPr/>
          </p:nvSpPr>
          <p:spPr>
            <a:xfrm>
              <a:off x="0" y="0"/>
              <a:ext cx="594212" cy="41334"/>
            </a:xfrm>
            <a:custGeom>
              <a:avLst/>
              <a:gdLst/>
              <a:ahLst/>
              <a:cxnLst/>
              <a:rect l="l" t="t" r="r" b="b"/>
              <a:pathLst>
                <a:path w="594212" h="41334">
                  <a:moveTo>
                    <a:pt x="20667" y="0"/>
                  </a:moveTo>
                  <a:lnTo>
                    <a:pt x="573545" y="0"/>
                  </a:lnTo>
                  <a:cubicBezTo>
                    <a:pt x="584959" y="0"/>
                    <a:pt x="594212" y="9253"/>
                    <a:pt x="594212" y="20667"/>
                  </a:cubicBezTo>
                  <a:lnTo>
                    <a:pt x="594212" y="20667"/>
                  </a:lnTo>
                  <a:cubicBezTo>
                    <a:pt x="594212" y="32081"/>
                    <a:pt x="584959" y="41334"/>
                    <a:pt x="573545" y="41334"/>
                  </a:cubicBezTo>
                  <a:lnTo>
                    <a:pt x="20667" y="41334"/>
                  </a:lnTo>
                  <a:cubicBezTo>
                    <a:pt x="9253" y="41334"/>
                    <a:pt x="0" y="32081"/>
                    <a:pt x="0" y="20667"/>
                  </a:cubicBezTo>
                  <a:lnTo>
                    <a:pt x="0" y="20667"/>
                  </a:lnTo>
                  <a:cubicBezTo>
                    <a:pt x="0" y="9253"/>
                    <a:pt x="9253" y="0"/>
                    <a:pt x="20667" y="0"/>
                  </a:cubicBezTo>
                  <a:close/>
                </a:path>
              </a:pathLst>
            </a:custGeom>
            <a:solidFill>
              <a:schemeClr val="accent4"/>
            </a:solidFill>
          </p:spPr>
          <p:txBody>
            <a:bodyPr/>
            <a:lstStyle/>
            <a:p>
              <a:endParaRPr lang="fr-BE" dirty="0"/>
            </a:p>
          </p:txBody>
        </p:sp>
        <p:sp>
          <p:nvSpPr>
            <p:cNvPr id="65" name="TextBox 36">
              <a:extLst>
                <a:ext uri="{FF2B5EF4-FFF2-40B4-BE49-F238E27FC236}">
                  <a16:creationId xmlns:a16="http://schemas.microsoft.com/office/drawing/2014/main" id="{B7109A05-B7CA-697F-D40D-A8A439B6BDC3}"/>
                </a:ext>
              </a:extLst>
            </p:cNvPr>
            <p:cNvSpPr txBox="1"/>
            <p:nvPr/>
          </p:nvSpPr>
          <p:spPr>
            <a:xfrm>
              <a:off x="0" y="-38100"/>
              <a:ext cx="594212" cy="794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9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6" name="TextBox 49">
            <a:extLst>
              <a:ext uri="{FF2B5EF4-FFF2-40B4-BE49-F238E27FC236}">
                <a16:creationId xmlns:a16="http://schemas.microsoft.com/office/drawing/2014/main" id="{B4E90335-ED52-37F9-0E97-11D726B970DA}"/>
              </a:ext>
            </a:extLst>
          </p:cNvPr>
          <p:cNvSpPr txBox="1"/>
          <p:nvPr/>
        </p:nvSpPr>
        <p:spPr>
          <a:xfrm>
            <a:off x="9140857" y="5786264"/>
            <a:ext cx="2194712" cy="2716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fr-BE" sz="1600" dirty="0">
                <a:latin typeface="TT Hoves Bold" panose="020B0604020202020204" charset="0"/>
              </a:rPr>
              <a:t>run_star_schema.py</a:t>
            </a:r>
            <a:endParaRPr lang="en-US" sz="1600" b="1" dirty="0">
              <a:solidFill>
                <a:srgbClr val="000000"/>
              </a:solidFill>
              <a:latin typeface="TT Hoves Bold" panose="020B0604020202020204" charset="0"/>
              <a:ea typeface="TT Hoves Bold"/>
              <a:cs typeface="TT Hoves Bold"/>
              <a:sym typeface="TT Hoves Bold"/>
            </a:endParaRPr>
          </a:p>
        </p:txBody>
      </p:sp>
      <p:sp>
        <p:nvSpPr>
          <p:cNvPr id="67" name="TextBox 52">
            <a:extLst>
              <a:ext uri="{FF2B5EF4-FFF2-40B4-BE49-F238E27FC236}">
                <a16:creationId xmlns:a16="http://schemas.microsoft.com/office/drawing/2014/main" id="{5B0FFFAD-D477-D484-1B26-567A73416C55}"/>
              </a:ext>
            </a:extLst>
          </p:cNvPr>
          <p:cNvSpPr txBox="1"/>
          <p:nvPr/>
        </p:nvSpPr>
        <p:spPr>
          <a:xfrm>
            <a:off x="9517843" y="7913674"/>
            <a:ext cx="2182521" cy="11087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 dirty="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Sending data to the warehouse, automating the process using Python</a:t>
            </a:r>
          </a:p>
        </p:txBody>
      </p:sp>
      <p:sp>
        <p:nvSpPr>
          <p:cNvPr id="68" name="TextBox 57">
            <a:extLst>
              <a:ext uri="{FF2B5EF4-FFF2-40B4-BE49-F238E27FC236}">
                <a16:creationId xmlns:a16="http://schemas.microsoft.com/office/drawing/2014/main" id="{1334B6BC-2B69-9F44-5123-6263B6429A4D}"/>
              </a:ext>
            </a:extLst>
          </p:cNvPr>
          <p:cNvSpPr txBox="1"/>
          <p:nvPr/>
        </p:nvSpPr>
        <p:spPr>
          <a:xfrm>
            <a:off x="9928489" y="9252921"/>
            <a:ext cx="1181828" cy="5102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63"/>
              </a:lnSpc>
            </a:pPr>
            <a:r>
              <a:rPr lang="en-US" sz="3045" b="1" dirty="0">
                <a:solidFill>
                  <a:schemeClr val="accent4"/>
                </a:solidFill>
                <a:latin typeface="TT Hoves Bold"/>
                <a:ea typeface="TT Hoves Bold"/>
                <a:cs typeface="TT Hoves Bold"/>
                <a:sym typeface="TT Hoves Bold"/>
              </a:rPr>
              <a:t>06</a:t>
            </a:r>
          </a:p>
        </p:txBody>
      </p:sp>
      <p:sp>
        <p:nvSpPr>
          <p:cNvPr id="70" name="Freeform 6">
            <a:extLst>
              <a:ext uri="{FF2B5EF4-FFF2-40B4-BE49-F238E27FC236}">
                <a16:creationId xmlns:a16="http://schemas.microsoft.com/office/drawing/2014/main" id="{873916DE-CF09-C45F-94B6-DB8C3C774290}"/>
              </a:ext>
            </a:extLst>
          </p:cNvPr>
          <p:cNvSpPr/>
          <p:nvPr/>
        </p:nvSpPr>
        <p:spPr>
          <a:xfrm>
            <a:off x="12045829" y="5374734"/>
            <a:ext cx="2573598" cy="1208847"/>
          </a:xfrm>
          <a:custGeom>
            <a:avLst/>
            <a:gdLst/>
            <a:ahLst/>
            <a:cxnLst/>
            <a:rect l="l" t="t" r="r" b="b"/>
            <a:pathLst>
              <a:path w="2470699" h="1086349">
                <a:moveTo>
                  <a:pt x="0" y="0"/>
                </a:moveTo>
                <a:lnTo>
                  <a:pt x="2470699" y="0"/>
                </a:lnTo>
                <a:lnTo>
                  <a:pt x="2470699" y="1086349"/>
                </a:lnTo>
                <a:lnTo>
                  <a:pt x="0" y="10863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BE"/>
          </a:p>
        </p:txBody>
      </p:sp>
      <p:grpSp>
        <p:nvGrpSpPr>
          <p:cNvPr id="71" name="Group 19">
            <a:extLst>
              <a:ext uri="{FF2B5EF4-FFF2-40B4-BE49-F238E27FC236}">
                <a16:creationId xmlns:a16="http://schemas.microsoft.com/office/drawing/2014/main" id="{B49BA407-18ED-64D1-4F68-91BCCF129AA1}"/>
              </a:ext>
            </a:extLst>
          </p:cNvPr>
          <p:cNvGrpSpPr/>
          <p:nvPr/>
        </p:nvGrpSpPr>
        <p:grpSpPr>
          <a:xfrm>
            <a:off x="12235551" y="6613483"/>
            <a:ext cx="2573598" cy="3144488"/>
            <a:chOff x="0" y="0"/>
            <a:chExt cx="650719" cy="927200"/>
          </a:xfrm>
        </p:grpSpPr>
        <p:sp>
          <p:nvSpPr>
            <p:cNvPr id="72" name="Freeform 20">
              <a:extLst>
                <a:ext uri="{FF2B5EF4-FFF2-40B4-BE49-F238E27FC236}">
                  <a16:creationId xmlns:a16="http://schemas.microsoft.com/office/drawing/2014/main" id="{57041559-A309-D2B8-D9D1-BAD0A7FB972B}"/>
                </a:ext>
              </a:extLst>
            </p:cNvPr>
            <p:cNvSpPr/>
            <p:nvPr/>
          </p:nvSpPr>
          <p:spPr>
            <a:xfrm>
              <a:off x="0" y="0"/>
              <a:ext cx="650719" cy="927200"/>
            </a:xfrm>
            <a:custGeom>
              <a:avLst/>
              <a:gdLst/>
              <a:ahLst/>
              <a:cxnLst/>
              <a:rect l="l" t="t" r="r" b="b"/>
              <a:pathLst>
                <a:path w="650719" h="927200">
                  <a:moveTo>
                    <a:pt x="72070" y="0"/>
                  </a:moveTo>
                  <a:lnTo>
                    <a:pt x="578649" y="0"/>
                  </a:lnTo>
                  <a:cubicBezTo>
                    <a:pt x="597763" y="0"/>
                    <a:pt x="616094" y="7593"/>
                    <a:pt x="629610" y="21109"/>
                  </a:cubicBezTo>
                  <a:cubicBezTo>
                    <a:pt x="643126" y="34625"/>
                    <a:pt x="650719" y="52956"/>
                    <a:pt x="650719" y="72070"/>
                  </a:cubicBezTo>
                  <a:lnTo>
                    <a:pt x="650719" y="855130"/>
                  </a:lnTo>
                  <a:cubicBezTo>
                    <a:pt x="650719" y="874244"/>
                    <a:pt x="643126" y="892576"/>
                    <a:pt x="629610" y="906091"/>
                  </a:cubicBezTo>
                  <a:cubicBezTo>
                    <a:pt x="616094" y="919607"/>
                    <a:pt x="597763" y="927200"/>
                    <a:pt x="578649" y="927200"/>
                  </a:cubicBezTo>
                  <a:lnTo>
                    <a:pt x="72070" y="927200"/>
                  </a:lnTo>
                  <a:cubicBezTo>
                    <a:pt x="52956" y="927200"/>
                    <a:pt x="34625" y="919607"/>
                    <a:pt x="21109" y="906091"/>
                  </a:cubicBezTo>
                  <a:cubicBezTo>
                    <a:pt x="7593" y="892576"/>
                    <a:pt x="0" y="874244"/>
                    <a:pt x="0" y="855130"/>
                  </a:cubicBezTo>
                  <a:lnTo>
                    <a:pt x="0" y="72070"/>
                  </a:lnTo>
                  <a:cubicBezTo>
                    <a:pt x="0" y="52956"/>
                    <a:pt x="7593" y="34625"/>
                    <a:pt x="21109" y="21109"/>
                  </a:cubicBezTo>
                  <a:cubicBezTo>
                    <a:pt x="34625" y="7593"/>
                    <a:pt x="52956" y="0"/>
                    <a:pt x="7207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BE" dirty="0"/>
            </a:p>
          </p:txBody>
        </p:sp>
        <p:sp>
          <p:nvSpPr>
            <p:cNvPr id="73" name="TextBox 21">
              <a:extLst>
                <a:ext uri="{FF2B5EF4-FFF2-40B4-BE49-F238E27FC236}">
                  <a16:creationId xmlns:a16="http://schemas.microsoft.com/office/drawing/2014/main" id="{8619F8E1-F690-7143-F5B1-4857A835E557}"/>
                </a:ext>
              </a:extLst>
            </p:cNvPr>
            <p:cNvSpPr txBox="1"/>
            <p:nvPr/>
          </p:nvSpPr>
          <p:spPr>
            <a:xfrm>
              <a:off x="0" y="-19050"/>
              <a:ext cx="650719" cy="9462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74" name="Group 34">
            <a:extLst>
              <a:ext uri="{FF2B5EF4-FFF2-40B4-BE49-F238E27FC236}">
                <a16:creationId xmlns:a16="http://schemas.microsoft.com/office/drawing/2014/main" id="{9EE4981D-3C8C-C60F-6F57-45882F47D289}"/>
              </a:ext>
            </a:extLst>
          </p:cNvPr>
          <p:cNvGrpSpPr/>
          <p:nvPr/>
        </p:nvGrpSpPr>
        <p:grpSpPr>
          <a:xfrm>
            <a:off x="12343779" y="9747525"/>
            <a:ext cx="2350112" cy="174634"/>
            <a:chOff x="0" y="0"/>
            <a:chExt cx="594212" cy="41334"/>
          </a:xfrm>
        </p:grpSpPr>
        <p:sp>
          <p:nvSpPr>
            <p:cNvPr id="75" name="Freeform 35">
              <a:extLst>
                <a:ext uri="{FF2B5EF4-FFF2-40B4-BE49-F238E27FC236}">
                  <a16:creationId xmlns:a16="http://schemas.microsoft.com/office/drawing/2014/main" id="{3B12D0CC-D203-859C-609B-967C49E1188F}"/>
                </a:ext>
              </a:extLst>
            </p:cNvPr>
            <p:cNvSpPr/>
            <p:nvPr/>
          </p:nvSpPr>
          <p:spPr>
            <a:xfrm>
              <a:off x="0" y="0"/>
              <a:ext cx="594212" cy="41334"/>
            </a:xfrm>
            <a:custGeom>
              <a:avLst/>
              <a:gdLst/>
              <a:ahLst/>
              <a:cxnLst/>
              <a:rect l="l" t="t" r="r" b="b"/>
              <a:pathLst>
                <a:path w="594212" h="41334">
                  <a:moveTo>
                    <a:pt x="20667" y="0"/>
                  </a:moveTo>
                  <a:lnTo>
                    <a:pt x="573545" y="0"/>
                  </a:lnTo>
                  <a:cubicBezTo>
                    <a:pt x="584959" y="0"/>
                    <a:pt x="594212" y="9253"/>
                    <a:pt x="594212" y="20667"/>
                  </a:cubicBezTo>
                  <a:lnTo>
                    <a:pt x="594212" y="20667"/>
                  </a:lnTo>
                  <a:cubicBezTo>
                    <a:pt x="594212" y="32081"/>
                    <a:pt x="584959" y="41334"/>
                    <a:pt x="573545" y="41334"/>
                  </a:cubicBezTo>
                  <a:lnTo>
                    <a:pt x="20667" y="41334"/>
                  </a:lnTo>
                  <a:cubicBezTo>
                    <a:pt x="9253" y="41334"/>
                    <a:pt x="0" y="32081"/>
                    <a:pt x="0" y="20667"/>
                  </a:cubicBezTo>
                  <a:lnTo>
                    <a:pt x="0" y="20667"/>
                  </a:lnTo>
                  <a:cubicBezTo>
                    <a:pt x="0" y="9253"/>
                    <a:pt x="9253" y="0"/>
                    <a:pt x="20667" y="0"/>
                  </a:cubicBez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</p:spPr>
          <p:txBody>
            <a:bodyPr/>
            <a:lstStyle/>
            <a:p>
              <a:endParaRPr lang="fr-BE" dirty="0"/>
            </a:p>
          </p:txBody>
        </p:sp>
        <p:sp>
          <p:nvSpPr>
            <p:cNvPr id="76" name="TextBox 36">
              <a:extLst>
                <a:ext uri="{FF2B5EF4-FFF2-40B4-BE49-F238E27FC236}">
                  <a16:creationId xmlns:a16="http://schemas.microsoft.com/office/drawing/2014/main" id="{8320F6A2-3392-5EDE-CC12-488D580B3954}"/>
                </a:ext>
              </a:extLst>
            </p:cNvPr>
            <p:cNvSpPr txBox="1"/>
            <p:nvPr/>
          </p:nvSpPr>
          <p:spPr>
            <a:xfrm>
              <a:off x="0" y="-38100"/>
              <a:ext cx="594212" cy="794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9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7" name="TextBox 49">
            <a:extLst>
              <a:ext uri="{FF2B5EF4-FFF2-40B4-BE49-F238E27FC236}">
                <a16:creationId xmlns:a16="http://schemas.microsoft.com/office/drawing/2014/main" id="{0BD1A190-AEEB-D0BA-3D64-1D36B4EA9AAA}"/>
              </a:ext>
            </a:extLst>
          </p:cNvPr>
          <p:cNvSpPr txBox="1"/>
          <p:nvPr/>
        </p:nvSpPr>
        <p:spPr>
          <a:xfrm>
            <a:off x="12134384" y="5781046"/>
            <a:ext cx="2194712" cy="2716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fr-BE" sz="1600" dirty="0"/>
              <a:t>ANALYTICS Schema</a:t>
            </a:r>
            <a:endParaRPr lang="en-US" sz="1600" b="1" dirty="0">
              <a:solidFill>
                <a:srgbClr val="000000"/>
              </a:solidFill>
              <a:latin typeface="TT Hoves Bold" panose="020B0604020202020204" charset="0"/>
              <a:ea typeface="TT Hoves Bold"/>
              <a:cs typeface="TT Hoves Bold"/>
              <a:sym typeface="TT Hoves Bold"/>
            </a:endParaRPr>
          </a:p>
        </p:txBody>
      </p:sp>
      <p:sp>
        <p:nvSpPr>
          <p:cNvPr id="78" name="TextBox 52">
            <a:extLst>
              <a:ext uri="{FF2B5EF4-FFF2-40B4-BE49-F238E27FC236}">
                <a16:creationId xmlns:a16="http://schemas.microsoft.com/office/drawing/2014/main" id="{94DAF2C9-E9A1-9403-750D-B28D67188DFE}"/>
              </a:ext>
            </a:extLst>
          </p:cNvPr>
          <p:cNvSpPr txBox="1"/>
          <p:nvPr/>
        </p:nvSpPr>
        <p:spPr>
          <a:xfrm>
            <a:off x="12426439" y="7946983"/>
            <a:ext cx="2182521" cy="5445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 dirty="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Data Modeling and Star Schema Construction</a:t>
            </a:r>
          </a:p>
        </p:txBody>
      </p:sp>
      <p:sp>
        <p:nvSpPr>
          <p:cNvPr id="79" name="TextBox 57">
            <a:extLst>
              <a:ext uri="{FF2B5EF4-FFF2-40B4-BE49-F238E27FC236}">
                <a16:creationId xmlns:a16="http://schemas.microsoft.com/office/drawing/2014/main" id="{6D1CC470-7791-40E9-E7A8-0840A6FE8536}"/>
              </a:ext>
            </a:extLst>
          </p:cNvPr>
          <p:cNvSpPr txBox="1"/>
          <p:nvPr/>
        </p:nvSpPr>
        <p:spPr>
          <a:xfrm>
            <a:off x="12922016" y="9247703"/>
            <a:ext cx="1181828" cy="5102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63"/>
              </a:lnSpc>
            </a:pPr>
            <a:r>
              <a:rPr lang="en-US" sz="3045" b="1" dirty="0">
                <a:solidFill>
                  <a:schemeClr val="accent3">
                    <a:lumMod val="75000"/>
                  </a:schemeClr>
                </a:solidFill>
                <a:latin typeface="TT Hoves Bold"/>
                <a:ea typeface="TT Hoves Bold"/>
                <a:cs typeface="TT Hoves Bold"/>
                <a:sym typeface="TT Hoves Bold"/>
              </a:rPr>
              <a:t>07</a:t>
            </a:r>
          </a:p>
        </p:txBody>
      </p:sp>
      <p:pic>
        <p:nvPicPr>
          <p:cNvPr id="82" name="Graphique 81" descr="Calendrier mensuel contour">
            <a:extLst>
              <a:ext uri="{FF2B5EF4-FFF2-40B4-BE49-F238E27FC236}">
                <a16:creationId xmlns:a16="http://schemas.microsoft.com/office/drawing/2014/main" id="{07AF7583-2514-32B8-043C-62F7B7EDD3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780566" y="1980565"/>
            <a:ext cx="914400" cy="914400"/>
          </a:xfrm>
          <a:prstGeom prst="rect">
            <a:avLst/>
          </a:prstGeom>
        </p:spPr>
      </p:pic>
      <p:sp>
        <p:nvSpPr>
          <p:cNvPr id="83" name="TextBox 44">
            <a:extLst>
              <a:ext uri="{FF2B5EF4-FFF2-40B4-BE49-F238E27FC236}">
                <a16:creationId xmlns:a16="http://schemas.microsoft.com/office/drawing/2014/main" id="{176577F5-2737-12DC-AAC0-B0F6DE22222C}"/>
              </a:ext>
            </a:extLst>
          </p:cNvPr>
          <p:cNvSpPr txBox="1"/>
          <p:nvPr/>
        </p:nvSpPr>
        <p:spPr>
          <a:xfrm>
            <a:off x="12228588" y="3002651"/>
            <a:ext cx="2182521" cy="5445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 dirty="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Load raw schema data in PostgreSQL</a:t>
            </a:r>
          </a:p>
        </p:txBody>
      </p:sp>
      <p:pic>
        <p:nvPicPr>
          <p:cNvPr id="85" name="Graphique 84" descr="Terminal Cmd avec un remplissage uni">
            <a:extLst>
              <a:ext uri="{FF2B5EF4-FFF2-40B4-BE49-F238E27FC236}">
                <a16:creationId xmlns:a16="http://schemas.microsoft.com/office/drawing/2014/main" id="{D37E93FD-2915-FFA7-275C-353F9143BD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750613" y="1921137"/>
            <a:ext cx="914400" cy="914400"/>
          </a:xfrm>
          <a:prstGeom prst="rect">
            <a:avLst/>
          </a:prstGeom>
        </p:spPr>
      </p:pic>
      <p:pic>
        <p:nvPicPr>
          <p:cNvPr id="87" name="Graphique 86" descr="Liste de contrôle contour">
            <a:extLst>
              <a:ext uri="{FF2B5EF4-FFF2-40B4-BE49-F238E27FC236}">
                <a16:creationId xmlns:a16="http://schemas.microsoft.com/office/drawing/2014/main" id="{F0AA5285-6138-909E-5F5C-76A5198D3C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841810" y="6869517"/>
            <a:ext cx="914400" cy="914400"/>
          </a:xfrm>
          <a:prstGeom prst="rect">
            <a:avLst/>
          </a:prstGeom>
        </p:spPr>
      </p:pic>
      <p:sp>
        <p:nvSpPr>
          <p:cNvPr id="40" name="Freeform 40"/>
          <p:cNvSpPr/>
          <p:nvPr/>
        </p:nvSpPr>
        <p:spPr>
          <a:xfrm>
            <a:off x="13095106" y="6922432"/>
            <a:ext cx="559021" cy="597185"/>
          </a:xfrm>
          <a:custGeom>
            <a:avLst/>
            <a:gdLst/>
            <a:ahLst/>
            <a:cxnLst/>
            <a:rect l="l" t="t" r="r" b="b"/>
            <a:pathLst>
              <a:path w="536670" h="536670">
                <a:moveTo>
                  <a:pt x="0" y="0"/>
                </a:moveTo>
                <a:lnTo>
                  <a:pt x="536670" y="0"/>
                </a:lnTo>
                <a:lnTo>
                  <a:pt x="536670" y="536670"/>
                </a:lnTo>
                <a:lnTo>
                  <a:pt x="0" y="5366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BE"/>
          </a:p>
        </p:txBody>
      </p:sp>
      <p:pic>
        <p:nvPicPr>
          <p:cNvPr id="89" name="Graphique 88" descr="Partager avec un remplissage uni">
            <a:extLst>
              <a:ext uri="{FF2B5EF4-FFF2-40B4-BE49-F238E27FC236}">
                <a16:creationId xmlns:a16="http://schemas.microsoft.com/office/drawing/2014/main" id="{92DFDA54-8D86-6AA7-F332-073C1177F6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6006058" y="1775886"/>
            <a:ext cx="914400" cy="914400"/>
          </a:xfrm>
          <a:prstGeom prst="rect">
            <a:avLst/>
          </a:prstGeom>
        </p:spPr>
      </p:pic>
      <p:pic>
        <p:nvPicPr>
          <p:cNvPr id="90" name="Graphique 89" descr="Partager avec un remplissage uni">
            <a:extLst>
              <a:ext uri="{FF2B5EF4-FFF2-40B4-BE49-F238E27FC236}">
                <a16:creationId xmlns:a16="http://schemas.microsoft.com/office/drawing/2014/main" id="{184DB9E5-C635-54D3-DA97-25B45B4B5A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151903" y="6835086"/>
            <a:ext cx="914400" cy="914400"/>
          </a:xfrm>
          <a:prstGeom prst="rect">
            <a:avLst/>
          </a:prstGeom>
        </p:spPr>
      </p:pic>
      <p:sp>
        <p:nvSpPr>
          <p:cNvPr id="91" name="Freeform 2">
            <a:extLst>
              <a:ext uri="{FF2B5EF4-FFF2-40B4-BE49-F238E27FC236}">
                <a16:creationId xmlns:a16="http://schemas.microsoft.com/office/drawing/2014/main" id="{28869FD7-1BC3-9650-B1D4-A516453F475A}"/>
              </a:ext>
            </a:extLst>
          </p:cNvPr>
          <p:cNvSpPr/>
          <p:nvPr/>
        </p:nvSpPr>
        <p:spPr>
          <a:xfrm>
            <a:off x="426233" y="3169348"/>
            <a:ext cx="4804064" cy="4262759"/>
          </a:xfrm>
          <a:custGeom>
            <a:avLst/>
            <a:gdLst/>
            <a:ahLst/>
            <a:cxnLst/>
            <a:rect l="l" t="t" r="r" b="b"/>
            <a:pathLst>
              <a:path w="6650805" h="5840616">
                <a:moveTo>
                  <a:pt x="0" y="0"/>
                </a:moveTo>
                <a:lnTo>
                  <a:pt x="6650805" y="0"/>
                </a:lnTo>
                <a:lnTo>
                  <a:pt x="6650805" y="5840617"/>
                </a:lnTo>
                <a:lnTo>
                  <a:pt x="0" y="58406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B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3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CCBED4-7F04-D81D-8C87-058203AA7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 28">
            <a:extLst>
              <a:ext uri="{FF2B5EF4-FFF2-40B4-BE49-F238E27FC236}">
                <a16:creationId xmlns:a16="http://schemas.microsoft.com/office/drawing/2014/main" id="{32734FED-F45A-EA77-FB39-45CA2716AA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9180" y="2256771"/>
            <a:ext cx="2724265" cy="4514043"/>
          </a:xfrm>
          <a:prstGeom prst="rect">
            <a:avLst/>
          </a:prstGeom>
        </p:spPr>
      </p:pic>
      <p:sp>
        <p:nvSpPr>
          <p:cNvPr id="30" name="ZoneTexte 29">
            <a:extLst>
              <a:ext uri="{FF2B5EF4-FFF2-40B4-BE49-F238E27FC236}">
                <a16:creationId xmlns:a16="http://schemas.microsoft.com/office/drawing/2014/main" id="{A838EEB0-1EAF-33EF-8EE9-3943312E51ED}"/>
              </a:ext>
            </a:extLst>
          </p:cNvPr>
          <p:cNvSpPr txBox="1"/>
          <p:nvPr/>
        </p:nvSpPr>
        <p:spPr>
          <a:xfrm>
            <a:off x="6896099" y="266700"/>
            <a:ext cx="4495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6000" dirty="0">
                <a:latin typeface="TT Hoves Bold" panose="020B0604020202020204" charset="0"/>
              </a:rPr>
              <a:t>Star Model</a:t>
            </a:r>
          </a:p>
        </p:txBody>
      </p:sp>
      <p:pic>
        <p:nvPicPr>
          <p:cNvPr id="32" name="Image 31">
            <a:extLst>
              <a:ext uri="{FF2B5EF4-FFF2-40B4-BE49-F238E27FC236}">
                <a16:creationId xmlns:a16="http://schemas.microsoft.com/office/drawing/2014/main" id="{913A1A2F-460B-C6B5-A603-D387005DA4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6380" y="3704517"/>
            <a:ext cx="2348956" cy="2743307"/>
          </a:xfrm>
          <a:prstGeom prst="rect">
            <a:avLst/>
          </a:prstGeom>
        </p:spPr>
      </p:pic>
      <p:pic>
        <p:nvPicPr>
          <p:cNvPr id="34" name="Image 33">
            <a:extLst>
              <a:ext uri="{FF2B5EF4-FFF2-40B4-BE49-F238E27FC236}">
                <a16:creationId xmlns:a16="http://schemas.microsoft.com/office/drawing/2014/main" id="{02F7417D-922C-A9E4-D18B-77287A58D4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39749" y="2371097"/>
            <a:ext cx="3242257" cy="1447800"/>
          </a:xfrm>
          <a:prstGeom prst="rect">
            <a:avLst/>
          </a:prstGeom>
        </p:spPr>
      </p:pic>
      <p:pic>
        <p:nvPicPr>
          <p:cNvPr id="36" name="Image 35">
            <a:extLst>
              <a:ext uri="{FF2B5EF4-FFF2-40B4-BE49-F238E27FC236}">
                <a16:creationId xmlns:a16="http://schemas.microsoft.com/office/drawing/2014/main" id="{26B1889B-DB52-C98F-61E2-6E2E9904FB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11992" y="4513792"/>
            <a:ext cx="2147964" cy="1942506"/>
          </a:xfrm>
          <a:prstGeom prst="rect">
            <a:avLst/>
          </a:prstGeom>
        </p:spPr>
      </p:pic>
      <p:pic>
        <p:nvPicPr>
          <p:cNvPr id="38" name="Image 37">
            <a:extLst>
              <a:ext uri="{FF2B5EF4-FFF2-40B4-BE49-F238E27FC236}">
                <a16:creationId xmlns:a16="http://schemas.microsoft.com/office/drawing/2014/main" id="{2C82672C-2ACE-B2DB-6F2D-18A9846097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8909" y="7666971"/>
            <a:ext cx="2583898" cy="1942506"/>
          </a:xfrm>
          <a:prstGeom prst="rect">
            <a:avLst/>
          </a:prstGeom>
        </p:spPr>
      </p:pic>
      <p:pic>
        <p:nvPicPr>
          <p:cNvPr id="40" name="Image 39">
            <a:extLst>
              <a:ext uri="{FF2B5EF4-FFF2-40B4-BE49-F238E27FC236}">
                <a16:creationId xmlns:a16="http://schemas.microsoft.com/office/drawing/2014/main" id="{045A5C17-133B-F6E5-B77B-25CAAFC8E0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11000" y="7381518"/>
            <a:ext cx="2783014" cy="1942506"/>
          </a:xfrm>
          <a:prstGeom prst="rect">
            <a:avLst/>
          </a:prstGeom>
        </p:spPr>
      </p:pic>
      <p:cxnSp>
        <p:nvCxnSpPr>
          <p:cNvPr id="44" name="Connecteur : en angle 43">
            <a:extLst>
              <a:ext uri="{FF2B5EF4-FFF2-40B4-BE49-F238E27FC236}">
                <a16:creationId xmlns:a16="http://schemas.microsoft.com/office/drawing/2014/main" id="{3352DC0E-35D8-72E6-5A9A-CF4486AE94DD}"/>
              </a:ext>
            </a:extLst>
          </p:cNvPr>
          <p:cNvCxnSpPr/>
          <p:nvPr/>
        </p:nvCxnSpPr>
        <p:spPr>
          <a:xfrm>
            <a:off x="5633445" y="2790171"/>
            <a:ext cx="1542935" cy="1524000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eur : en angle 44">
            <a:extLst>
              <a:ext uri="{FF2B5EF4-FFF2-40B4-BE49-F238E27FC236}">
                <a16:creationId xmlns:a16="http://schemas.microsoft.com/office/drawing/2014/main" id="{AEF6BD58-EAB6-814A-4622-01D15C8E76C2}"/>
              </a:ext>
            </a:extLst>
          </p:cNvPr>
          <p:cNvCxnSpPr/>
          <p:nvPr/>
        </p:nvCxnSpPr>
        <p:spPr>
          <a:xfrm>
            <a:off x="5607161" y="3094997"/>
            <a:ext cx="1542935" cy="1524000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" name="Groupe 62">
            <a:extLst>
              <a:ext uri="{FF2B5EF4-FFF2-40B4-BE49-F238E27FC236}">
                <a16:creationId xmlns:a16="http://schemas.microsoft.com/office/drawing/2014/main" id="{1EB81225-782E-35CF-FF0E-9A5B9563F165}"/>
              </a:ext>
            </a:extLst>
          </p:cNvPr>
          <p:cNvGrpSpPr/>
          <p:nvPr/>
        </p:nvGrpSpPr>
        <p:grpSpPr>
          <a:xfrm>
            <a:off x="5607161" y="3475971"/>
            <a:ext cx="1451748" cy="4876800"/>
            <a:chOff x="6534265" y="3467100"/>
            <a:chExt cx="1451748" cy="4876800"/>
          </a:xfrm>
        </p:grpSpPr>
        <p:grpSp>
          <p:nvGrpSpPr>
            <p:cNvPr id="60" name="Groupe 59">
              <a:extLst>
                <a:ext uri="{FF2B5EF4-FFF2-40B4-BE49-F238E27FC236}">
                  <a16:creationId xmlns:a16="http://schemas.microsoft.com/office/drawing/2014/main" id="{CA6C4257-A21F-2890-BBEB-EB41BC415FE9}"/>
                </a:ext>
              </a:extLst>
            </p:cNvPr>
            <p:cNvGrpSpPr/>
            <p:nvPr/>
          </p:nvGrpSpPr>
          <p:grpSpPr>
            <a:xfrm>
              <a:off x="6534265" y="3467100"/>
              <a:ext cx="1271062" cy="4876800"/>
              <a:chOff x="6534265" y="3467100"/>
              <a:chExt cx="1271062" cy="4876800"/>
            </a:xfrm>
          </p:grpSpPr>
          <p:cxnSp>
            <p:nvCxnSpPr>
              <p:cNvPr id="46" name="Connecteur : en angle 45">
                <a:extLst>
                  <a:ext uri="{FF2B5EF4-FFF2-40B4-BE49-F238E27FC236}">
                    <a16:creationId xmlns:a16="http://schemas.microsoft.com/office/drawing/2014/main" id="{2451CAC6-8FD1-B7AE-3291-9427EE8E639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4857801" y="5396373"/>
                <a:ext cx="4871526" cy="1023527"/>
              </a:xfrm>
              <a:prstGeom prst="bentConnector3">
                <a:avLst>
                  <a:gd name="adj1" fmla="val 50000"/>
                </a:avLst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Connecteur droit 55">
                <a:extLst>
                  <a:ext uri="{FF2B5EF4-FFF2-40B4-BE49-F238E27FC236}">
                    <a16:creationId xmlns:a16="http://schemas.microsoft.com/office/drawing/2014/main" id="{701CAF51-35D0-945A-5374-3B0183CE936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34265" y="3467100"/>
                <a:ext cx="247535" cy="527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2" name="Connecteur droit 61">
              <a:extLst>
                <a:ext uri="{FF2B5EF4-FFF2-40B4-BE49-F238E27FC236}">
                  <a16:creationId xmlns:a16="http://schemas.microsoft.com/office/drawing/2014/main" id="{710BC1FE-9EF8-931A-97EE-807786646670}"/>
                </a:ext>
              </a:extLst>
            </p:cNvPr>
            <p:cNvCxnSpPr/>
            <p:nvPr/>
          </p:nvCxnSpPr>
          <p:spPr>
            <a:xfrm>
              <a:off x="7805328" y="8343900"/>
              <a:ext cx="18068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5" name="Connecteur : en angle 64">
            <a:extLst>
              <a:ext uri="{FF2B5EF4-FFF2-40B4-BE49-F238E27FC236}">
                <a16:creationId xmlns:a16="http://schemas.microsoft.com/office/drawing/2014/main" id="{0D7FEFF7-53B9-0156-7F5F-DBEC4C5A1598}"/>
              </a:ext>
            </a:extLst>
          </p:cNvPr>
          <p:cNvCxnSpPr>
            <a:stCxn id="32" idx="3"/>
          </p:cNvCxnSpPr>
          <p:nvPr/>
        </p:nvCxnSpPr>
        <p:spPr>
          <a:xfrm flipV="1">
            <a:off x="9525336" y="3094997"/>
            <a:ext cx="2285664" cy="1981174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66">
            <a:extLst>
              <a:ext uri="{FF2B5EF4-FFF2-40B4-BE49-F238E27FC236}">
                <a16:creationId xmlns:a16="http://schemas.microsoft.com/office/drawing/2014/main" id="{4EB43099-301E-0767-E721-CBEF61C4C0A4}"/>
              </a:ext>
            </a:extLst>
          </p:cNvPr>
          <p:cNvCxnSpPr/>
          <p:nvPr/>
        </p:nvCxnSpPr>
        <p:spPr>
          <a:xfrm>
            <a:off x="9525336" y="5304771"/>
            <a:ext cx="24866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9" name="Groupe 78">
            <a:extLst>
              <a:ext uri="{FF2B5EF4-FFF2-40B4-BE49-F238E27FC236}">
                <a16:creationId xmlns:a16="http://schemas.microsoft.com/office/drawing/2014/main" id="{E09E1E90-168B-1198-4E03-328861511EAE}"/>
              </a:ext>
            </a:extLst>
          </p:cNvPr>
          <p:cNvGrpSpPr/>
          <p:nvPr/>
        </p:nvGrpSpPr>
        <p:grpSpPr>
          <a:xfrm>
            <a:off x="9525336" y="4314170"/>
            <a:ext cx="2314413" cy="3733801"/>
            <a:chOff x="10452440" y="4305299"/>
            <a:chExt cx="2314413" cy="3733801"/>
          </a:xfrm>
        </p:grpSpPr>
        <p:grpSp>
          <p:nvGrpSpPr>
            <p:cNvPr id="76" name="Groupe 75">
              <a:extLst>
                <a:ext uri="{FF2B5EF4-FFF2-40B4-BE49-F238E27FC236}">
                  <a16:creationId xmlns:a16="http://schemas.microsoft.com/office/drawing/2014/main" id="{984E572C-CE28-0608-7629-D3813075D9F7}"/>
                </a:ext>
              </a:extLst>
            </p:cNvPr>
            <p:cNvGrpSpPr/>
            <p:nvPr/>
          </p:nvGrpSpPr>
          <p:grpSpPr>
            <a:xfrm>
              <a:off x="10452440" y="4305299"/>
              <a:ext cx="1968160" cy="3733801"/>
              <a:chOff x="10452440" y="4305299"/>
              <a:chExt cx="1849542" cy="3626499"/>
            </a:xfrm>
          </p:grpSpPr>
          <p:cxnSp>
            <p:nvCxnSpPr>
              <p:cNvPr id="69" name="Connecteur : en angle 68">
                <a:extLst>
                  <a:ext uri="{FF2B5EF4-FFF2-40B4-BE49-F238E27FC236}">
                    <a16:creationId xmlns:a16="http://schemas.microsoft.com/office/drawing/2014/main" id="{7CAAB2A4-CFA4-2FC7-78DE-F26C845C68F5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9804880" y="5434695"/>
                <a:ext cx="3626498" cy="1367707"/>
              </a:xfrm>
              <a:prstGeom prst="bentConnector3">
                <a:avLst>
                  <a:gd name="adj1" fmla="val 50000"/>
                </a:avLst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Connecteur droit 74">
                <a:extLst>
                  <a:ext uri="{FF2B5EF4-FFF2-40B4-BE49-F238E27FC236}">
                    <a16:creationId xmlns:a16="http://schemas.microsoft.com/office/drawing/2014/main" id="{D6F4EA83-7734-BE51-AE7B-7799FFB7146B}"/>
                  </a:ext>
                </a:extLst>
              </p:cNvPr>
              <p:cNvCxnSpPr/>
              <p:nvPr/>
            </p:nvCxnSpPr>
            <p:spPr>
              <a:xfrm>
                <a:off x="10452440" y="4305299"/>
                <a:ext cx="481835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8" name="Connecteur droit 77">
              <a:extLst>
                <a:ext uri="{FF2B5EF4-FFF2-40B4-BE49-F238E27FC236}">
                  <a16:creationId xmlns:a16="http://schemas.microsoft.com/office/drawing/2014/main" id="{831DC2D7-0AC8-7E45-DBFD-FD4B443B80F0}"/>
                </a:ext>
              </a:extLst>
            </p:cNvPr>
            <p:cNvCxnSpPr/>
            <p:nvPr/>
          </p:nvCxnSpPr>
          <p:spPr>
            <a:xfrm>
              <a:off x="12420601" y="8039100"/>
              <a:ext cx="34625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1" name="Graphique 80" descr="Hiérarchie contour">
            <a:extLst>
              <a:ext uri="{FF2B5EF4-FFF2-40B4-BE49-F238E27FC236}">
                <a16:creationId xmlns:a16="http://schemas.microsoft.com/office/drawing/2014/main" id="{C6312C1A-CC86-1F7F-E0BB-C043E68784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490993" y="306169"/>
            <a:ext cx="1962265" cy="1962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335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23170" y="2495666"/>
            <a:ext cx="16464830" cy="2359541"/>
          </a:xfrm>
          <a:custGeom>
            <a:avLst/>
            <a:gdLst/>
            <a:ahLst/>
            <a:cxnLst/>
            <a:rect l="l" t="t" r="r" b="b"/>
            <a:pathLst>
              <a:path w="12486777" h="2359541">
                <a:moveTo>
                  <a:pt x="0" y="0"/>
                </a:moveTo>
                <a:lnTo>
                  <a:pt x="12486777" y="0"/>
                </a:lnTo>
                <a:lnTo>
                  <a:pt x="12486777" y="2359541"/>
                </a:lnTo>
                <a:lnTo>
                  <a:pt x="0" y="23595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32666"/>
            </a:stretch>
          </a:blipFill>
        </p:spPr>
        <p:txBody>
          <a:bodyPr/>
          <a:lstStyle/>
          <a:p>
            <a:endParaRPr lang="fr-BE"/>
          </a:p>
        </p:txBody>
      </p:sp>
      <p:sp>
        <p:nvSpPr>
          <p:cNvPr id="4" name="AutoShape 4"/>
          <p:cNvSpPr/>
          <p:nvPr/>
        </p:nvSpPr>
        <p:spPr>
          <a:xfrm>
            <a:off x="1823170" y="5017565"/>
            <a:ext cx="14773665" cy="0"/>
          </a:xfrm>
          <a:prstGeom prst="line">
            <a:avLst/>
          </a:prstGeom>
          <a:ln w="95250" cap="flat">
            <a:solidFill>
              <a:srgbClr val="DBE0E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BE"/>
          </a:p>
        </p:txBody>
      </p:sp>
      <p:grpSp>
        <p:nvGrpSpPr>
          <p:cNvPr id="5" name="Group 5"/>
          <p:cNvGrpSpPr/>
          <p:nvPr/>
        </p:nvGrpSpPr>
        <p:grpSpPr>
          <a:xfrm>
            <a:off x="3642025" y="4914900"/>
            <a:ext cx="267956" cy="267956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6E11B"/>
            </a:solidFill>
          </p:spPr>
          <p:txBody>
            <a:bodyPr/>
            <a:lstStyle/>
            <a:p>
              <a:endParaRPr lang="fr-BE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280603" y="4914900"/>
            <a:ext cx="267956" cy="267956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C267"/>
            </a:solidFill>
          </p:spPr>
          <p:txBody>
            <a:bodyPr/>
            <a:lstStyle/>
            <a:p>
              <a:endParaRPr lang="fr-BE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4511997" y="4914900"/>
            <a:ext cx="267956" cy="267956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B80"/>
            </a:solidFill>
          </p:spPr>
          <p:txBody>
            <a:bodyPr/>
            <a:lstStyle/>
            <a:p>
              <a:endParaRPr lang="fr-BE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3486167" y="266753"/>
            <a:ext cx="11639114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fr-BE" sz="4800" dirty="0">
                <a:latin typeface="TT Hoves Bold" panose="020B0604020202020204" charset="0"/>
              </a:rPr>
              <a:t>ETL Pipeline</a:t>
            </a:r>
            <a:endParaRPr lang="en-US" sz="4800" b="1" dirty="0">
              <a:solidFill>
                <a:srgbClr val="000000"/>
              </a:solidFill>
              <a:latin typeface="TT Hoves Bold" panose="020B0604020202020204" charset="0"/>
              <a:ea typeface="TT Hoves Bold"/>
              <a:cs typeface="TT Hoves Bold"/>
              <a:sym typeface="TT Hoves Bol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3324443" y="1227449"/>
            <a:ext cx="11639114" cy="672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fr-BE" sz="2000" dirty="0"/>
              <a:t>The </a:t>
            </a:r>
            <a:r>
              <a:rPr lang="fr-BE" sz="2000" dirty="0" err="1"/>
              <a:t>project</a:t>
            </a:r>
            <a:r>
              <a:rPr lang="fr-BE" sz="2000" dirty="0"/>
              <a:t> </a:t>
            </a:r>
            <a:r>
              <a:rPr lang="fr-BE" sz="2000" dirty="0" err="1"/>
              <a:t>follows</a:t>
            </a:r>
            <a:r>
              <a:rPr lang="fr-BE" sz="2000" dirty="0"/>
              <a:t> a </a:t>
            </a:r>
            <a:r>
              <a:rPr lang="fr-BE" sz="2000" dirty="0" err="1"/>
              <a:t>layered</a:t>
            </a:r>
            <a:r>
              <a:rPr lang="fr-BE" sz="2000" dirty="0"/>
              <a:t> data architecture </a:t>
            </a:r>
            <a:r>
              <a:rPr lang="fr-BE" sz="2000" dirty="0" err="1"/>
              <a:t>designed</a:t>
            </a:r>
            <a:r>
              <a:rPr lang="fr-BE" sz="2000" dirty="0"/>
              <a:t> to </a:t>
            </a:r>
            <a:r>
              <a:rPr lang="fr-BE" sz="2000" dirty="0" err="1"/>
              <a:t>ensure</a:t>
            </a:r>
            <a:r>
              <a:rPr lang="fr-BE" sz="2000" dirty="0"/>
              <a:t> data </a:t>
            </a:r>
            <a:r>
              <a:rPr lang="fr-BE" sz="2000" dirty="0" err="1"/>
              <a:t>quality</a:t>
            </a:r>
            <a:r>
              <a:rPr lang="fr-BE" sz="2000" dirty="0"/>
              <a:t>, </a:t>
            </a:r>
            <a:r>
              <a:rPr lang="fr-BE" sz="2000" dirty="0" err="1"/>
              <a:t>reproducibility</a:t>
            </a:r>
            <a:r>
              <a:rPr lang="fr-BE" sz="2000" dirty="0"/>
              <a:t>, and </a:t>
            </a:r>
            <a:r>
              <a:rPr lang="fr-BE" sz="2000" dirty="0" err="1"/>
              <a:t>analytical</a:t>
            </a:r>
            <a:r>
              <a:rPr lang="fr-BE" sz="2000" dirty="0"/>
              <a:t> </a:t>
            </a:r>
            <a:r>
              <a:rPr lang="fr-BE" sz="2000" dirty="0" err="1"/>
              <a:t>consistency</a:t>
            </a:r>
            <a:r>
              <a:rPr lang="fr-BE" sz="2000" dirty="0"/>
              <a:t>.</a:t>
            </a:r>
            <a:endParaRPr lang="en-US" sz="1900" dirty="0">
              <a:solidFill>
                <a:srgbClr val="000000"/>
              </a:solidFill>
              <a:latin typeface="TT Hoves"/>
              <a:ea typeface="TT Hoves"/>
              <a:cs typeface="TT Hoves"/>
              <a:sym typeface="TT Hoves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2699878" y="5565044"/>
            <a:ext cx="2369964" cy="339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fr-BE" sz="2000" dirty="0">
                <a:latin typeface="TT Hoves Bold" panose="020B0604020202020204" charset="0"/>
              </a:rPr>
              <a:t>RAW Layer</a:t>
            </a:r>
            <a:endParaRPr lang="en-US" sz="1999" b="1" dirty="0">
              <a:solidFill>
                <a:srgbClr val="000000"/>
              </a:solidFill>
              <a:latin typeface="TT Hoves Bold" panose="020B0604020202020204" charset="0"/>
              <a:ea typeface="TT Hoves Bold"/>
              <a:cs typeface="TT Hoves Bold"/>
              <a:sym typeface="TT Hoves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823170" y="4080099"/>
            <a:ext cx="4061803" cy="2623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 b="1" dirty="0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Phase 1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229600" y="5547160"/>
            <a:ext cx="2369964" cy="339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algn="ctr">
              <a:lnSpc>
                <a:spcPts val="2799"/>
              </a:lnSpc>
              <a:spcBef>
                <a:spcPct val="0"/>
              </a:spcBef>
              <a:defRPr sz="2000">
                <a:latin typeface="TT Hoves Bold" panose="020B0604020202020204" charset="0"/>
              </a:defRPr>
            </a:lvl1pPr>
          </a:lstStyle>
          <a:p>
            <a:r>
              <a:rPr lang="fr-BE" dirty="0"/>
              <a:t>STAGING Layer</a:t>
            </a:r>
            <a:endParaRPr lang="en-US" dirty="0">
              <a:sym typeface="TT Hoves Bold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2615073" y="4174430"/>
            <a:ext cx="4061803" cy="2623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 b="1" dirty="0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Phase 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460993" y="5561598"/>
            <a:ext cx="2369964" cy="339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algn="ctr">
              <a:lnSpc>
                <a:spcPts val="2799"/>
              </a:lnSpc>
              <a:spcBef>
                <a:spcPct val="0"/>
              </a:spcBef>
              <a:defRPr sz="2000">
                <a:latin typeface="TT Hoves Bold" panose="020B0604020202020204" charset="0"/>
              </a:defRPr>
            </a:lvl1pPr>
          </a:lstStyle>
          <a:p>
            <a:r>
              <a:rPr lang="fr-BE"/>
              <a:t>ANALYTICS Layer</a:t>
            </a:r>
            <a:endParaRPr lang="en-US" dirty="0">
              <a:sym typeface="TT Hoves Bold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7383679" y="4145066"/>
            <a:ext cx="4061803" cy="2623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 b="1" dirty="0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Phase 2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457043" y="5901342"/>
            <a:ext cx="3099164" cy="11087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fr-BE" sz="1600" dirty="0">
                <a:latin typeface="TT Hoves" panose="020B0604020202020204" charset="0"/>
              </a:rPr>
              <a:t>The RAW </a:t>
            </a:r>
            <a:r>
              <a:rPr lang="fr-BE" sz="1600" dirty="0" err="1">
                <a:latin typeface="TT Hoves" panose="020B0604020202020204" charset="0"/>
              </a:rPr>
              <a:t>schema</a:t>
            </a:r>
            <a:r>
              <a:rPr lang="fr-BE" sz="1600" dirty="0">
                <a:latin typeface="TT Hoves" panose="020B0604020202020204" charset="0"/>
              </a:rPr>
              <a:t> stores the original </a:t>
            </a:r>
            <a:r>
              <a:rPr lang="fr-BE" sz="1600" dirty="0" err="1">
                <a:latin typeface="TT Hoves" panose="020B0604020202020204" charset="0"/>
              </a:rPr>
              <a:t>datasets</a:t>
            </a:r>
            <a:r>
              <a:rPr lang="fr-BE" sz="1600" dirty="0">
                <a:latin typeface="TT Hoves" panose="020B0604020202020204" charset="0"/>
              </a:rPr>
              <a:t> </a:t>
            </a:r>
            <a:r>
              <a:rPr lang="fr-BE" sz="1600" dirty="0" err="1">
                <a:latin typeface="TT Hoves" panose="020B0604020202020204" charset="0"/>
              </a:rPr>
              <a:t>exactly</a:t>
            </a:r>
            <a:r>
              <a:rPr lang="fr-BE" sz="1600" dirty="0">
                <a:latin typeface="TT Hoves" panose="020B0604020202020204" charset="0"/>
              </a:rPr>
              <a:t> as </a:t>
            </a:r>
            <a:r>
              <a:rPr lang="fr-BE" sz="1600" dirty="0" err="1">
                <a:latin typeface="TT Hoves" panose="020B0604020202020204" charset="0"/>
              </a:rPr>
              <a:t>they</a:t>
            </a:r>
            <a:r>
              <a:rPr lang="fr-BE" sz="1600" dirty="0">
                <a:latin typeface="TT Hoves" panose="020B0604020202020204" charset="0"/>
              </a:rPr>
              <a:t> </a:t>
            </a:r>
            <a:r>
              <a:rPr lang="fr-BE" sz="1600" dirty="0" err="1">
                <a:latin typeface="TT Hoves" panose="020B0604020202020204" charset="0"/>
              </a:rPr>
              <a:t>were</a:t>
            </a:r>
            <a:r>
              <a:rPr lang="fr-BE" sz="1600" dirty="0">
                <a:latin typeface="TT Hoves" panose="020B0604020202020204" charset="0"/>
              </a:rPr>
              <a:t> </a:t>
            </a:r>
            <a:r>
              <a:rPr lang="fr-BE" sz="1600" dirty="0" err="1">
                <a:latin typeface="TT Hoves" panose="020B0604020202020204" charset="0"/>
              </a:rPr>
              <a:t>received</a:t>
            </a:r>
            <a:r>
              <a:rPr lang="fr-BE" sz="1600" dirty="0">
                <a:latin typeface="TT Hoves" panose="020B0604020202020204" charset="0"/>
              </a:rPr>
              <a:t> </a:t>
            </a:r>
            <a:r>
              <a:rPr lang="fr-BE" sz="1600" dirty="0" err="1">
                <a:latin typeface="TT Hoves" panose="020B0604020202020204" charset="0"/>
              </a:rPr>
              <a:t>from</a:t>
            </a:r>
            <a:r>
              <a:rPr lang="fr-BE" sz="1600" dirty="0">
                <a:latin typeface="TT Hoves" panose="020B0604020202020204" charset="0"/>
              </a:rPr>
              <a:t> the source CSV files.</a:t>
            </a:r>
            <a:endParaRPr lang="en-US" sz="1600" dirty="0">
              <a:solidFill>
                <a:srgbClr val="000000"/>
              </a:solidFill>
              <a:latin typeface="TT Hoves" panose="020B0604020202020204" charset="0"/>
              <a:ea typeface="TT Hoves"/>
              <a:cs typeface="TT Hoves"/>
              <a:sym typeface="TT Hoves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7490844" y="5905500"/>
            <a:ext cx="3886200" cy="8266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algn="ctr">
              <a:lnSpc>
                <a:spcPts val="2240"/>
              </a:lnSpc>
              <a:spcBef>
                <a:spcPct val="0"/>
              </a:spcBef>
              <a:defRPr sz="1600">
                <a:latin typeface="TT Hoves" panose="020B0604020202020204" charset="0"/>
              </a:defRPr>
            </a:lvl1pPr>
          </a:lstStyle>
          <a:p>
            <a:r>
              <a:rPr lang="fr-BE" dirty="0"/>
              <a:t>The STAGING </a:t>
            </a:r>
            <a:r>
              <a:rPr lang="fr-BE" dirty="0" err="1"/>
              <a:t>schema</a:t>
            </a:r>
            <a:r>
              <a:rPr lang="fr-BE" dirty="0"/>
              <a:t> </a:t>
            </a:r>
            <a:r>
              <a:rPr lang="fr-BE" dirty="0" err="1"/>
              <a:t>is</a:t>
            </a:r>
            <a:r>
              <a:rPr lang="fr-BE" dirty="0"/>
              <a:t> </a:t>
            </a:r>
            <a:r>
              <a:rPr lang="fr-BE" dirty="0" err="1"/>
              <a:t>used</a:t>
            </a:r>
            <a:r>
              <a:rPr lang="fr-BE" dirty="0"/>
              <a:t> to </a:t>
            </a:r>
            <a:r>
              <a:rPr lang="fr-BE" dirty="0" err="1"/>
              <a:t>standardize</a:t>
            </a:r>
            <a:r>
              <a:rPr lang="fr-BE" dirty="0"/>
              <a:t> and </a:t>
            </a:r>
            <a:r>
              <a:rPr lang="fr-BE" dirty="0" err="1"/>
              <a:t>prepare</a:t>
            </a:r>
            <a:r>
              <a:rPr lang="fr-BE" dirty="0"/>
              <a:t> the data for </a:t>
            </a:r>
            <a:r>
              <a:rPr lang="fr-BE" dirty="0" err="1"/>
              <a:t>analytical</a:t>
            </a:r>
            <a:r>
              <a:rPr lang="fr-BE" dirty="0"/>
              <a:t> </a:t>
            </a:r>
            <a:r>
              <a:rPr lang="fr-BE" dirty="0" err="1"/>
              <a:t>processing</a:t>
            </a:r>
            <a:r>
              <a:rPr lang="fr-BE" dirty="0"/>
              <a:t>.</a:t>
            </a:r>
            <a:endParaRPr lang="en-US" dirty="0">
              <a:sym typeface="TT Hoves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12912828" y="5886904"/>
            <a:ext cx="3684007" cy="11087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algn="ctr">
              <a:lnSpc>
                <a:spcPts val="2240"/>
              </a:lnSpc>
              <a:spcBef>
                <a:spcPct val="0"/>
              </a:spcBef>
              <a:defRPr sz="1600">
                <a:latin typeface="TT Hoves" panose="020B0604020202020204" charset="0"/>
              </a:defRPr>
            </a:lvl1pPr>
          </a:lstStyle>
          <a:p>
            <a:r>
              <a:rPr lang="fr-BE" dirty="0"/>
              <a:t>The ANALYTICS </a:t>
            </a:r>
            <a:r>
              <a:rPr lang="fr-BE" dirty="0" err="1"/>
              <a:t>schema</a:t>
            </a:r>
            <a:r>
              <a:rPr lang="fr-BE" dirty="0"/>
              <a:t> </a:t>
            </a:r>
            <a:r>
              <a:rPr lang="fr-BE" dirty="0" err="1"/>
              <a:t>contains</a:t>
            </a:r>
            <a:r>
              <a:rPr lang="fr-BE" dirty="0"/>
              <a:t> the final </a:t>
            </a:r>
            <a:r>
              <a:rPr lang="fr-BE" dirty="0" err="1"/>
              <a:t>dimensional</a:t>
            </a:r>
            <a:r>
              <a:rPr lang="fr-BE" dirty="0"/>
              <a:t> model </a:t>
            </a:r>
            <a:r>
              <a:rPr lang="fr-BE" dirty="0" err="1"/>
              <a:t>used</a:t>
            </a:r>
            <a:r>
              <a:rPr lang="fr-BE" dirty="0"/>
              <a:t> for </a:t>
            </a:r>
            <a:r>
              <a:rPr lang="fr-BE" dirty="0" err="1"/>
              <a:t>reporting</a:t>
            </a:r>
            <a:r>
              <a:rPr lang="fr-BE" dirty="0"/>
              <a:t>, machine </a:t>
            </a:r>
            <a:r>
              <a:rPr lang="fr-BE" dirty="0" err="1"/>
              <a:t>learning</a:t>
            </a:r>
            <a:r>
              <a:rPr lang="fr-BE" dirty="0"/>
              <a:t>, and business </a:t>
            </a:r>
            <a:r>
              <a:rPr lang="fr-BE" dirty="0" err="1"/>
              <a:t>analysis</a:t>
            </a:r>
            <a:r>
              <a:rPr lang="fr-BE" dirty="0"/>
              <a:t>.</a:t>
            </a:r>
            <a:endParaRPr lang="en-US" dirty="0">
              <a:sym typeface="TT Hoves"/>
            </a:endParaRPr>
          </a:p>
        </p:txBody>
      </p:sp>
      <p:sp>
        <p:nvSpPr>
          <p:cNvPr id="42" name="TextBox 27">
            <a:extLst>
              <a:ext uri="{FF2B5EF4-FFF2-40B4-BE49-F238E27FC236}">
                <a16:creationId xmlns:a16="http://schemas.microsoft.com/office/drawing/2014/main" id="{8E859C3F-DCFD-0BCF-7B4D-74C02F79C462}"/>
              </a:ext>
            </a:extLst>
          </p:cNvPr>
          <p:cNvSpPr txBox="1"/>
          <p:nvPr/>
        </p:nvSpPr>
        <p:spPr>
          <a:xfrm>
            <a:off x="1970677" y="3529221"/>
            <a:ext cx="3828365" cy="3005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2800" b="1" dirty="0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RAW</a:t>
            </a: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D471DCDF-312D-B7A6-7EA8-B86DF2EFEBC6}"/>
              </a:ext>
            </a:extLst>
          </p:cNvPr>
          <p:cNvSpPr txBox="1"/>
          <p:nvPr/>
        </p:nvSpPr>
        <p:spPr>
          <a:xfrm>
            <a:off x="8500180" y="3407403"/>
            <a:ext cx="1828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800" dirty="0">
                <a:solidFill>
                  <a:schemeClr val="bg1"/>
                </a:solidFill>
                <a:latin typeface="TT Hoves Bold" panose="020B0604020202020204" charset="0"/>
              </a:rPr>
              <a:t>STAGING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0689368A-C173-1B22-FE30-76D4C7DFEC38}"/>
              </a:ext>
            </a:extLst>
          </p:cNvPr>
          <p:cNvSpPr txBox="1"/>
          <p:nvPr/>
        </p:nvSpPr>
        <p:spPr>
          <a:xfrm>
            <a:off x="13636953" y="3448210"/>
            <a:ext cx="228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800">
                <a:solidFill>
                  <a:schemeClr val="bg1"/>
                </a:solidFill>
                <a:latin typeface="TT Hoves Bold" panose="020B0604020202020204" charset="0"/>
              </a:defRPr>
            </a:lvl1pPr>
          </a:lstStyle>
          <a:p>
            <a:r>
              <a:rPr lang="fr-BE" dirty="0"/>
              <a:t>ANALYTICS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EAA535EF-B4B7-E714-CA32-0432AF731291}"/>
              </a:ext>
            </a:extLst>
          </p:cNvPr>
          <p:cNvSpPr txBox="1"/>
          <p:nvPr/>
        </p:nvSpPr>
        <p:spPr>
          <a:xfrm>
            <a:off x="1823170" y="6976710"/>
            <a:ext cx="541583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b="1" dirty="0">
                <a:latin typeface="TT Hoves" panose="020B0604020202020204" charset="0"/>
              </a:rPr>
              <a:t>Purpose:</a:t>
            </a:r>
            <a:endParaRPr lang="fr-BE" dirty="0">
              <a:latin typeface="TT Hoves" panose="020B0604020202020204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fr-BE" dirty="0">
                <a:latin typeface="TT Hoves" panose="020B0604020202020204" charset="0"/>
              </a:rPr>
              <a:t>Preserve the original data.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fr-BE" dirty="0">
                <a:latin typeface="TT Hoves" panose="020B0604020202020204" charset="0"/>
              </a:rPr>
              <a:t>Enable data </a:t>
            </a:r>
            <a:r>
              <a:rPr lang="fr-BE" dirty="0" err="1">
                <a:latin typeface="TT Hoves" panose="020B0604020202020204" charset="0"/>
              </a:rPr>
              <a:t>lineage</a:t>
            </a:r>
            <a:r>
              <a:rPr lang="fr-BE" dirty="0">
                <a:latin typeface="TT Hoves" panose="020B0604020202020204" charset="0"/>
              </a:rPr>
              <a:t> and </a:t>
            </a:r>
            <a:r>
              <a:rPr lang="fr-BE" dirty="0" err="1">
                <a:latin typeface="TT Hoves" panose="020B0604020202020204" charset="0"/>
              </a:rPr>
              <a:t>traceability</a:t>
            </a:r>
            <a:r>
              <a:rPr lang="fr-BE" dirty="0">
                <a:latin typeface="TT Hoves" panose="020B0604020202020204" charset="0"/>
              </a:rPr>
              <a:t>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fr-BE" dirty="0" err="1">
                <a:latin typeface="TT Hoves" panose="020B0604020202020204" charset="0"/>
              </a:rPr>
              <a:t>Allow</a:t>
            </a:r>
            <a:r>
              <a:rPr lang="fr-BE" dirty="0">
                <a:latin typeface="TT Hoves" panose="020B0604020202020204" charset="0"/>
              </a:rPr>
              <a:t> the pipeline to </a:t>
            </a:r>
            <a:r>
              <a:rPr lang="fr-BE" dirty="0" err="1">
                <a:latin typeface="TT Hoves" panose="020B0604020202020204" charset="0"/>
              </a:rPr>
              <a:t>be</a:t>
            </a:r>
            <a:r>
              <a:rPr lang="fr-BE" dirty="0">
                <a:latin typeface="TT Hoves" panose="020B0604020202020204" charset="0"/>
              </a:rPr>
              <a:t> </a:t>
            </a:r>
            <a:r>
              <a:rPr lang="fr-BE" dirty="0" err="1">
                <a:latin typeface="TT Hoves" panose="020B0604020202020204" charset="0"/>
              </a:rPr>
              <a:t>rebuilt</a:t>
            </a:r>
            <a:r>
              <a:rPr lang="fr-BE" dirty="0">
                <a:latin typeface="TT Hoves" panose="020B0604020202020204" charset="0"/>
              </a:rPr>
              <a:t> </a:t>
            </a:r>
            <a:r>
              <a:rPr lang="fr-BE" dirty="0" err="1">
                <a:latin typeface="TT Hoves" panose="020B0604020202020204" charset="0"/>
              </a:rPr>
              <a:t>from</a:t>
            </a:r>
            <a:r>
              <a:rPr lang="fr-BE" dirty="0">
                <a:latin typeface="TT Hoves" panose="020B0604020202020204" charset="0"/>
              </a:rPr>
              <a:t> scratch at </a:t>
            </a:r>
            <a:r>
              <a:rPr lang="fr-BE" dirty="0" err="1">
                <a:latin typeface="TT Hoves" panose="020B0604020202020204" charset="0"/>
              </a:rPr>
              <a:t>any</a:t>
            </a:r>
            <a:r>
              <a:rPr lang="fr-BE" dirty="0">
                <a:latin typeface="TT Hoves" panose="020B0604020202020204" charset="0"/>
              </a:rPr>
              <a:t> time. </a:t>
            </a:r>
          </a:p>
          <a:p>
            <a:r>
              <a:rPr lang="fr-BE" b="1" dirty="0">
                <a:latin typeface="TT Hoves" panose="020B0604020202020204" charset="0"/>
              </a:rPr>
              <a:t>Process:</a:t>
            </a:r>
            <a:endParaRPr lang="fr-BE" dirty="0">
              <a:latin typeface="TT Hoves" panose="020B0604020202020204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fr-BE" dirty="0">
                <a:latin typeface="TT Hoves" panose="020B0604020202020204" charset="0"/>
              </a:rPr>
              <a:t>CSV files are </a:t>
            </a:r>
            <a:r>
              <a:rPr lang="fr-BE" dirty="0" err="1">
                <a:latin typeface="TT Hoves" panose="020B0604020202020204" charset="0"/>
              </a:rPr>
              <a:t>extracted</a:t>
            </a:r>
            <a:r>
              <a:rPr lang="fr-BE" dirty="0">
                <a:latin typeface="TT Hoves" panose="020B0604020202020204" charset="0"/>
              </a:rPr>
              <a:t> </a:t>
            </a:r>
            <a:r>
              <a:rPr lang="fr-BE" dirty="0" err="1">
                <a:latin typeface="TT Hoves" panose="020B0604020202020204" charset="0"/>
              </a:rPr>
              <a:t>using</a:t>
            </a:r>
            <a:r>
              <a:rPr lang="fr-BE" dirty="0">
                <a:latin typeface="TT Hoves" panose="020B0604020202020204" charset="0"/>
              </a:rPr>
              <a:t> Python and Pandas.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fr-BE" dirty="0">
                <a:latin typeface="TT Hoves" panose="020B0604020202020204" charset="0"/>
              </a:rPr>
              <a:t>Data </a:t>
            </a:r>
            <a:r>
              <a:rPr lang="fr-BE" dirty="0" err="1">
                <a:latin typeface="TT Hoves" panose="020B0604020202020204" charset="0"/>
              </a:rPr>
              <a:t>is</a:t>
            </a:r>
            <a:r>
              <a:rPr lang="fr-BE" dirty="0">
                <a:latin typeface="TT Hoves" panose="020B0604020202020204" charset="0"/>
              </a:rPr>
              <a:t> </a:t>
            </a:r>
            <a:r>
              <a:rPr lang="fr-BE" dirty="0" err="1">
                <a:latin typeface="TT Hoves" panose="020B0604020202020204" charset="0"/>
              </a:rPr>
              <a:t>loaded</a:t>
            </a:r>
            <a:r>
              <a:rPr lang="fr-BE" dirty="0">
                <a:latin typeface="TT Hoves" panose="020B0604020202020204" charset="0"/>
              </a:rPr>
              <a:t> </a:t>
            </a:r>
            <a:r>
              <a:rPr lang="fr-BE" dirty="0" err="1">
                <a:latin typeface="TT Hoves" panose="020B0604020202020204" charset="0"/>
              </a:rPr>
              <a:t>into</a:t>
            </a:r>
            <a:r>
              <a:rPr lang="fr-BE" dirty="0">
                <a:latin typeface="TT Hoves" panose="020B0604020202020204" charset="0"/>
              </a:rPr>
              <a:t> PostgreSQL </a:t>
            </a:r>
            <a:r>
              <a:rPr lang="fr-BE" dirty="0" err="1">
                <a:latin typeface="TT Hoves" panose="020B0604020202020204" charset="0"/>
              </a:rPr>
              <a:t>using</a:t>
            </a:r>
            <a:r>
              <a:rPr lang="fr-BE" dirty="0">
                <a:latin typeface="TT Hoves" panose="020B0604020202020204" charset="0"/>
              </a:rPr>
              <a:t> </a:t>
            </a:r>
            <a:r>
              <a:rPr lang="fr-BE" dirty="0" err="1">
                <a:latin typeface="TT Hoves" panose="020B0604020202020204" charset="0"/>
              </a:rPr>
              <a:t>SQLAlchemy</a:t>
            </a:r>
            <a:r>
              <a:rPr lang="fr-BE" dirty="0">
                <a:latin typeface="TT Hoves" panose="020B0604020202020204" charset="0"/>
              </a:rPr>
              <a:t>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fr-BE" dirty="0">
                <a:latin typeface="TT Hoves" panose="020B0604020202020204" charset="0"/>
              </a:rPr>
              <a:t>No transformations are </a:t>
            </a:r>
            <a:r>
              <a:rPr lang="fr-BE" dirty="0" err="1">
                <a:latin typeface="TT Hoves" panose="020B0604020202020204" charset="0"/>
              </a:rPr>
              <a:t>applied</a:t>
            </a:r>
            <a:r>
              <a:rPr lang="fr-BE" dirty="0">
                <a:latin typeface="TT Hoves" panose="020B0604020202020204" charset="0"/>
              </a:rPr>
              <a:t> at </a:t>
            </a:r>
            <a:r>
              <a:rPr lang="fr-BE" dirty="0" err="1">
                <a:latin typeface="TT Hoves" panose="020B0604020202020204" charset="0"/>
              </a:rPr>
              <a:t>this</a:t>
            </a:r>
            <a:r>
              <a:rPr lang="fr-BE" dirty="0">
                <a:latin typeface="TT Hoves" panose="020B0604020202020204" charset="0"/>
              </a:rPr>
              <a:t> stage.</a:t>
            </a:r>
          </a:p>
          <a:p>
            <a:endParaRPr lang="fr-BE" dirty="0">
              <a:latin typeface="TT Hoves" panose="020B0604020202020204" charset="0"/>
            </a:endParaRP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821D36F4-445F-8FFF-6045-E1EF56863D26}"/>
              </a:ext>
            </a:extLst>
          </p:cNvPr>
          <p:cNvSpPr txBox="1"/>
          <p:nvPr/>
        </p:nvSpPr>
        <p:spPr>
          <a:xfrm>
            <a:off x="7848600" y="7010107"/>
            <a:ext cx="476647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latin typeface="TT Hoves" panose="020B0604020202020204" charset="0"/>
              </a:defRPr>
            </a:lvl1pPr>
          </a:lstStyle>
          <a:p>
            <a:r>
              <a:rPr lang="fr-BE" dirty="0"/>
              <a:t>Purpose: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fr-BE" b="0" dirty="0" err="1"/>
              <a:t>Convert</a:t>
            </a:r>
            <a:r>
              <a:rPr lang="fr-BE" b="0" dirty="0"/>
              <a:t> data types.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fr-BE" b="0" dirty="0" err="1"/>
              <a:t>Standardize</a:t>
            </a:r>
            <a:r>
              <a:rPr lang="fr-BE" b="0" dirty="0"/>
              <a:t> table structures.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fr-BE" b="0" dirty="0" err="1"/>
              <a:t>Separate</a:t>
            </a:r>
            <a:r>
              <a:rPr lang="fr-BE" b="0" dirty="0"/>
              <a:t> transformation </a:t>
            </a:r>
            <a:r>
              <a:rPr lang="fr-BE" b="0" dirty="0" err="1"/>
              <a:t>logic</a:t>
            </a:r>
            <a:r>
              <a:rPr lang="fr-BE" b="0" dirty="0"/>
              <a:t> </a:t>
            </a:r>
            <a:r>
              <a:rPr lang="fr-BE" b="0" dirty="0" err="1"/>
              <a:t>from</a:t>
            </a:r>
            <a:r>
              <a:rPr lang="fr-BE" b="0" dirty="0"/>
              <a:t> source data. </a:t>
            </a:r>
          </a:p>
          <a:p>
            <a:r>
              <a:rPr lang="fr-BE" dirty="0"/>
              <a:t>Transformations </a:t>
            </a:r>
            <a:r>
              <a:rPr lang="fr-BE" dirty="0" err="1"/>
              <a:t>Applied</a:t>
            </a:r>
            <a:r>
              <a:rPr lang="fr-BE" dirty="0"/>
              <a:t>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fr-BE" b="0" dirty="0"/>
              <a:t>String to timestamp conversions.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fr-BE" b="0" dirty="0" err="1"/>
              <a:t>Numeric</a:t>
            </a:r>
            <a:r>
              <a:rPr lang="fr-BE" b="0" dirty="0"/>
              <a:t> type </a:t>
            </a:r>
            <a:r>
              <a:rPr lang="fr-BE" b="0" dirty="0" err="1"/>
              <a:t>standardization</a:t>
            </a:r>
            <a:r>
              <a:rPr lang="fr-BE" b="0" dirty="0"/>
              <a:t>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fr-BE" b="0" dirty="0"/>
              <a:t>Data </a:t>
            </a:r>
            <a:r>
              <a:rPr lang="fr-BE" b="0" dirty="0" err="1"/>
              <a:t>preparation</a:t>
            </a:r>
            <a:r>
              <a:rPr lang="fr-BE" b="0" dirty="0"/>
              <a:t> for </a:t>
            </a:r>
            <a:r>
              <a:rPr lang="fr-BE" b="0" dirty="0" err="1"/>
              <a:t>dimensional</a:t>
            </a:r>
            <a:r>
              <a:rPr lang="fr-BE" b="0" dirty="0"/>
              <a:t> modeling.</a:t>
            </a:r>
          </a:p>
          <a:p>
            <a:endParaRPr lang="fr-BE" b="0" dirty="0"/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D9CEB8D2-41F9-DE68-8E1E-4BBA5DC3C372}"/>
              </a:ext>
            </a:extLst>
          </p:cNvPr>
          <p:cNvSpPr txBox="1"/>
          <p:nvPr/>
        </p:nvSpPr>
        <p:spPr>
          <a:xfrm>
            <a:off x="13224673" y="7115209"/>
            <a:ext cx="398880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b="1" dirty="0">
                <a:latin typeface="TT Hoves" panose="020B0604020202020204" charset="0"/>
              </a:rPr>
              <a:t>Purpose:</a:t>
            </a:r>
            <a:endParaRPr lang="fr-BE" dirty="0">
              <a:latin typeface="TT Hoves" panose="020B0604020202020204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fr-BE" dirty="0" err="1">
                <a:latin typeface="TT Hoves" panose="020B0604020202020204" charset="0"/>
              </a:rPr>
              <a:t>Create</a:t>
            </a:r>
            <a:r>
              <a:rPr lang="fr-BE" dirty="0">
                <a:latin typeface="TT Hoves" panose="020B0604020202020204" charset="0"/>
              </a:rPr>
              <a:t> a business-</a:t>
            </a:r>
            <a:r>
              <a:rPr lang="fr-BE" dirty="0" err="1">
                <a:latin typeface="TT Hoves" panose="020B0604020202020204" charset="0"/>
              </a:rPr>
              <a:t>friendly</a:t>
            </a:r>
            <a:r>
              <a:rPr lang="fr-BE" dirty="0">
                <a:latin typeface="TT Hoves" panose="020B0604020202020204" charset="0"/>
              </a:rPr>
              <a:t> data model.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fr-BE" dirty="0" err="1">
                <a:latin typeface="TT Hoves" panose="020B0604020202020204" charset="0"/>
              </a:rPr>
              <a:t>Improve</a:t>
            </a:r>
            <a:r>
              <a:rPr lang="fr-BE" dirty="0">
                <a:latin typeface="TT Hoves" panose="020B0604020202020204" charset="0"/>
              </a:rPr>
              <a:t> </a:t>
            </a:r>
            <a:r>
              <a:rPr lang="fr-BE" dirty="0" err="1">
                <a:latin typeface="TT Hoves" panose="020B0604020202020204" charset="0"/>
              </a:rPr>
              <a:t>query</a:t>
            </a:r>
            <a:r>
              <a:rPr lang="fr-BE" dirty="0">
                <a:latin typeface="TT Hoves" panose="020B0604020202020204" charset="0"/>
              </a:rPr>
              <a:t> performance.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fr-BE" dirty="0">
                <a:latin typeface="TT Hoves" panose="020B0604020202020204" charset="0"/>
              </a:rPr>
              <a:t>Support </a:t>
            </a:r>
            <a:r>
              <a:rPr lang="fr-BE" dirty="0" err="1">
                <a:latin typeface="TT Hoves" panose="020B0604020202020204" charset="0"/>
              </a:rPr>
              <a:t>analytics</a:t>
            </a:r>
            <a:r>
              <a:rPr lang="fr-BE" dirty="0">
                <a:latin typeface="TT Hoves" panose="020B0604020202020204" charset="0"/>
              </a:rPr>
              <a:t> and </a:t>
            </a:r>
            <a:r>
              <a:rPr lang="fr-BE" dirty="0" err="1">
                <a:latin typeface="TT Hoves" panose="020B0604020202020204" charset="0"/>
              </a:rPr>
              <a:t>predictive</a:t>
            </a:r>
            <a:r>
              <a:rPr lang="fr-BE" dirty="0">
                <a:latin typeface="TT Hoves" panose="020B0604020202020204" charset="0"/>
              </a:rPr>
              <a:t> modeling. </a:t>
            </a:r>
          </a:p>
          <a:p>
            <a:r>
              <a:rPr lang="fr-BE" b="1" dirty="0">
                <a:latin typeface="TT Hoves" panose="020B0604020202020204" charset="0"/>
              </a:rPr>
              <a:t>Components: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fr-BE" dirty="0">
                <a:latin typeface="TT Hoves" panose="020B0604020202020204" charset="0"/>
              </a:rPr>
              <a:t>Fact Tables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fr-BE" dirty="0">
                <a:latin typeface="TT Hoves" panose="020B0604020202020204" charset="0"/>
              </a:rPr>
              <a:t>Dimension Tables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fr-BE" dirty="0" err="1">
                <a:latin typeface="TT Hoves" panose="020B0604020202020204" charset="0"/>
              </a:rPr>
              <a:t>Additional</a:t>
            </a:r>
            <a:r>
              <a:rPr lang="fr-BE" dirty="0">
                <a:latin typeface="TT Hoves" panose="020B0604020202020204" charset="0"/>
              </a:rPr>
              <a:t> </a:t>
            </a:r>
            <a:r>
              <a:rPr lang="fr-BE" dirty="0" err="1">
                <a:latin typeface="TT Hoves" panose="020B0604020202020204" charset="0"/>
              </a:rPr>
              <a:t>Features</a:t>
            </a:r>
            <a:endParaRPr lang="fr-BE" dirty="0">
              <a:latin typeface="TT Hoves" panose="020B0604020202020204" charset="0"/>
            </a:endParaRPr>
          </a:p>
          <a:p>
            <a:endParaRPr lang="fr-BE" dirty="0">
              <a:latin typeface="TT Hoves" panose="020B06040202020202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9021" y="620114"/>
            <a:ext cx="16268589" cy="9080831"/>
          </a:xfrm>
          <a:custGeom>
            <a:avLst/>
            <a:gdLst/>
            <a:ahLst/>
            <a:cxnLst/>
            <a:rect l="l" t="t" r="r" b="b"/>
            <a:pathLst>
              <a:path w="16268589" h="9080831">
                <a:moveTo>
                  <a:pt x="0" y="0"/>
                </a:moveTo>
                <a:lnTo>
                  <a:pt x="16268589" y="0"/>
                </a:lnTo>
                <a:lnTo>
                  <a:pt x="16268589" y="9080830"/>
                </a:lnTo>
                <a:lnTo>
                  <a:pt x="0" y="90808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BE"/>
          </a:p>
        </p:txBody>
      </p:sp>
      <p:sp>
        <p:nvSpPr>
          <p:cNvPr id="3" name="TextBox 3"/>
          <p:cNvSpPr txBox="1"/>
          <p:nvPr/>
        </p:nvSpPr>
        <p:spPr>
          <a:xfrm>
            <a:off x="298114" y="5333371"/>
            <a:ext cx="2207261" cy="11648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9799"/>
              </a:lnSpc>
            </a:pPr>
            <a:r>
              <a:rPr lang="en-US" sz="6999" b="1">
                <a:solidFill>
                  <a:srgbClr val="56E11B"/>
                </a:solidFill>
                <a:latin typeface="TT Hoves Bold"/>
                <a:ea typeface="TT Hoves Bold"/>
                <a:cs typeface="TT Hoves Bold"/>
                <a:sym typeface="TT Hoves Bold"/>
              </a:rPr>
              <a:t>01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400182" y="6498177"/>
            <a:ext cx="2207261" cy="11648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9799"/>
              </a:lnSpc>
            </a:pPr>
            <a:r>
              <a:rPr lang="en-US" sz="6999" b="1">
                <a:solidFill>
                  <a:srgbClr val="007B80"/>
                </a:solidFill>
                <a:latin typeface="TT Hoves Bold"/>
                <a:ea typeface="TT Hoves Bold"/>
                <a:cs typeface="TT Hoves Bold"/>
                <a:sym typeface="TT Hoves Bold"/>
              </a:rPr>
              <a:t>02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131165" y="4532422"/>
            <a:ext cx="2207261" cy="11648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9799"/>
              </a:lnSpc>
            </a:pPr>
            <a:r>
              <a:rPr lang="en-US" sz="6999" b="1">
                <a:solidFill>
                  <a:srgbClr val="004259"/>
                </a:solidFill>
                <a:latin typeface="TT Hoves Bold"/>
                <a:ea typeface="TT Hoves Bold"/>
                <a:cs typeface="TT Hoves Bold"/>
                <a:sym typeface="TT Hoves Bold"/>
              </a:rPr>
              <a:t>03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954628" y="2999585"/>
            <a:ext cx="2207261" cy="11648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9799"/>
              </a:lnSpc>
            </a:pPr>
            <a:r>
              <a:rPr lang="en-US" sz="6999" b="1">
                <a:solidFill>
                  <a:srgbClr val="002843"/>
                </a:solidFill>
                <a:latin typeface="TT Hoves Bold"/>
                <a:ea typeface="TT Hoves Bold"/>
                <a:cs typeface="TT Hoves Bold"/>
                <a:sym typeface="TT Hoves Bold"/>
              </a:rPr>
              <a:t>04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298114" y="7018213"/>
            <a:ext cx="2421640" cy="1697355"/>
            <a:chOff x="0" y="0"/>
            <a:chExt cx="659787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59787" cy="812800"/>
            </a:xfrm>
            <a:custGeom>
              <a:avLst/>
              <a:gdLst/>
              <a:ahLst/>
              <a:cxnLst/>
              <a:rect l="l" t="t" r="r" b="b"/>
              <a:pathLst>
                <a:path w="659787" h="812800">
                  <a:moveTo>
                    <a:pt x="58718" y="0"/>
                  </a:moveTo>
                  <a:lnTo>
                    <a:pt x="601069" y="0"/>
                  </a:lnTo>
                  <a:cubicBezTo>
                    <a:pt x="633498" y="0"/>
                    <a:pt x="659787" y="26289"/>
                    <a:pt x="659787" y="58718"/>
                  </a:cubicBezTo>
                  <a:lnTo>
                    <a:pt x="659787" y="754082"/>
                  </a:lnTo>
                  <a:cubicBezTo>
                    <a:pt x="659787" y="769655"/>
                    <a:pt x="653601" y="784590"/>
                    <a:pt x="642589" y="795602"/>
                  </a:cubicBezTo>
                  <a:cubicBezTo>
                    <a:pt x="631577" y="806614"/>
                    <a:pt x="616642" y="812800"/>
                    <a:pt x="601069" y="812800"/>
                  </a:cubicBezTo>
                  <a:lnTo>
                    <a:pt x="58718" y="812800"/>
                  </a:lnTo>
                  <a:cubicBezTo>
                    <a:pt x="26289" y="812800"/>
                    <a:pt x="0" y="786511"/>
                    <a:pt x="0" y="754082"/>
                  </a:cubicBezTo>
                  <a:lnTo>
                    <a:pt x="0" y="58718"/>
                  </a:lnTo>
                  <a:cubicBezTo>
                    <a:pt x="0" y="26289"/>
                    <a:pt x="26289" y="0"/>
                    <a:pt x="58718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BE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659787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358045" y="8269301"/>
            <a:ext cx="2421640" cy="1697355"/>
            <a:chOff x="0" y="0"/>
            <a:chExt cx="659787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59787" cy="812800"/>
            </a:xfrm>
            <a:custGeom>
              <a:avLst/>
              <a:gdLst/>
              <a:ahLst/>
              <a:cxnLst/>
              <a:rect l="l" t="t" r="r" b="b"/>
              <a:pathLst>
                <a:path w="659787" h="812800">
                  <a:moveTo>
                    <a:pt x="58718" y="0"/>
                  </a:moveTo>
                  <a:lnTo>
                    <a:pt x="601069" y="0"/>
                  </a:lnTo>
                  <a:cubicBezTo>
                    <a:pt x="633498" y="0"/>
                    <a:pt x="659787" y="26289"/>
                    <a:pt x="659787" y="58718"/>
                  </a:cubicBezTo>
                  <a:lnTo>
                    <a:pt x="659787" y="754082"/>
                  </a:lnTo>
                  <a:cubicBezTo>
                    <a:pt x="659787" y="769655"/>
                    <a:pt x="653601" y="784590"/>
                    <a:pt x="642589" y="795602"/>
                  </a:cubicBezTo>
                  <a:cubicBezTo>
                    <a:pt x="631577" y="806614"/>
                    <a:pt x="616642" y="812800"/>
                    <a:pt x="601069" y="812800"/>
                  </a:cubicBezTo>
                  <a:lnTo>
                    <a:pt x="58718" y="812800"/>
                  </a:lnTo>
                  <a:cubicBezTo>
                    <a:pt x="26289" y="812800"/>
                    <a:pt x="0" y="786511"/>
                    <a:pt x="0" y="754082"/>
                  </a:cubicBezTo>
                  <a:lnTo>
                    <a:pt x="0" y="58718"/>
                  </a:lnTo>
                  <a:cubicBezTo>
                    <a:pt x="0" y="26289"/>
                    <a:pt x="26289" y="0"/>
                    <a:pt x="58718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BE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659787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108532" y="6231373"/>
            <a:ext cx="2421640" cy="1697355"/>
            <a:chOff x="0" y="0"/>
            <a:chExt cx="659787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59787" cy="812800"/>
            </a:xfrm>
            <a:custGeom>
              <a:avLst/>
              <a:gdLst/>
              <a:ahLst/>
              <a:cxnLst/>
              <a:rect l="l" t="t" r="r" b="b"/>
              <a:pathLst>
                <a:path w="659787" h="812800">
                  <a:moveTo>
                    <a:pt x="58718" y="0"/>
                  </a:moveTo>
                  <a:lnTo>
                    <a:pt x="601069" y="0"/>
                  </a:lnTo>
                  <a:cubicBezTo>
                    <a:pt x="633498" y="0"/>
                    <a:pt x="659787" y="26289"/>
                    <a:pt x="659787" y="58718"/>
                  </a:cubicBezTo>
                  <a:lnTo>
                    <a:pt x="659787" y="754082"/>
                  </a:lnTo>
                  <a:cubicBezTo>
                    <a:pt x="659787" y="769655"/>
                    <a:pt x="653601" y="784590"/>
                    <a:pt x="642589" y="795602"/>
                  </a:cubicBezTo>
                  <a:cubicBezTo>
                    <a:pt x="631577" y="806614"/>
                    <a:pt x="616642" y="812800"/>
                    <a:pt x="601069" y="812800"/>
                  </a:cubicBezTo>
                  <a:lnTo>
                    <a:pt x="58718" y="812800"/>
                  </a:lnTo>
                  <a:cubicBezTo>
                    <a:pt x="26289" y="812800"/>
                    <a:pt x="0" y="786511"/>
                    <a:pt x="0" y="754082"/>
                  </a:cubicBezTo>
                  <a:lnTo>
                    <a:pt x="0" y="58718"/>
                  </a:lnTo>
                  <a:cubicBezTo>
                    <a:pt x="0" y="26289"/>
                    <a:pt x="26289" y="0"/>
                    <a:pt x="58718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BE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659787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953026" y="4602597"/>
            <a:ext cx="2421640" cy="1776920"/>
            <a:chOff x="0" y="-38100"/>
            <a:chExt cx="659787" cy="8509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59787" cy="812799"/>
            </a:xfrm>
            <a:custGeom>
              <a:avLst/>
              <a:gdLst/>
              <a:ahLst/>
              <a:cxnLst/>
              <a:rect l="l" t="t" r="r" b="b"/>
              <a:pathLst>
                <a:path w="659787" h="812800">
                  <a:moveTo>
                    <a:pt x="58718" y="0"/>
                  </a:moveTo>
                  <a:lnTo>
                    <a:pt x="601069" y="0"/>
                  </a:lnTo>
                  <a:cubicBezTo>
                    <a:pt x="633498" y="0"/>
                    <a:pt x="659787" y="26289"/>
                    <a:pt x="659787" y="58718"/>
                  </a:cubicBezTo>
                  <a:lnTo>
                    <a:pt x="659787" y="754082"/>
                  </a:lnTo>
                  <a:cubicBezTo>
                    <a:pt x="659787" y="769655"/>
                    <a:pt x="653601" y="784590"/>
                    <a:pt x="642589" y="795602"/>
                  </a:cubicBezTo>
                  <a:cubicBezTo>
                    <a:pt x="631577" y="806614"/>
                    <a:pt x="616642" y="812800"/>
                    <a:pt x="601069" y="812800"/>
                  </a:cubicBezTo>
                  <a:lnTo>
                    <a:pt x="58718" y="812800"/>
                  </a:lnTo>
                  <a:cubicBezTo>
                    <a:pt x="26289" y="812800"/>
                    <a:pt x="0" y="786511"/>
                    <a:pt x="0" y="754082"/>
                  </a:cubicBezTo>
                  <a:lnTo>
                    <a:pt x="0" y="58718"/>
                  </a:lnTo>
                  <a:cubicBezTo>
                    <a:pt x="0" y="26289"/>
                    <a:pt x="26289" y="0"/>
                    <a:pt x="58718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BE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659787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77590" y="5898047"/>
            <a:ext cx="991798" cy="563288"/>
          </a:xfrm>
          <a:custGeom>
            <a:avLst/>
            <a:gdLst/>
            <a:ahLst/>
            <a:cxnLst/>
            <a:rect l="l" t="t" r="r" b="b"/>
            <a:pathLst>
              <a:path w="1025992" h="1024160">
                <a:moveTo>
                  <a:pt x="0" y="0"/>
                </a:moveTo>
                <a:lnTo>
                  <a:pt x="1025991" y="0"/>
                </a:lnTo>
                <a:lnTo>
                  <a:pt x="1025991" y="1024160"/>
                </a:lnTo>
                <a:lnTo>
                  <a:pt x="0" y="10241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BE"/>
          </a:p>
        </p:txBody>
      </p:sp>
      <p:sp>
        <p:nvSpPr>
          <p:cNvPr id="20" name="Freeform 20"/>
          <p:cNvSpPr/>
          <p:nvPr/>
        </p:nvSpPr>
        <p:spPr>
          <a:xfrm>
            <a:off x="3119975" y="7167001"/>
            <a:ext cx="991798" cy="563288"/>
          </a:xfrm>
          <a:custGeom>
            <a:avLst/>
            <a:gdLst/>
            <a:ahLst/>
            <a:cxnLst/>
            <a:rect l="l" t="t" r="r" b="b"/>
            <a:pathLst>
              <a:path w="1025992" h="1024160">
                <a:moveTo>
                  <a:pt x="0" y="0"/>
                </a:moveTo>
                <a:lnTo>
                  <a:pt x="1025992" y="0"/>
                </a:lnTo>
                <a:lnTo>
                  <a:pt x="1025992" y="1024159"/>
                </a:lnTo>
                <a:lnTo>
                  <a:pt x="0" y="10241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fr-BE"/>
          </a:p>
        </p:txBody>
      </p:sp>
      <p:sp>
        <p:nvSpPr>
          <p:cNvPr id="21" name="Freeform 21"/>
          <p:cNvSpPr/>
          <p:nvPr/>
        </p:nvSpPr>
        <p:spPr>
          <a:xfrm>
            <a:off x="5880982" y="5146938"/>
            <a:ext cx="991798" cy="563288"/>
          </a:xfrm>
          <a:custGeom>
            <a:avLst/>
            <a:gdLst/>
            <a:ahLst/>
            <a:cxnLst/>
            <a:rect l="l" t="t" r="r" b="b"/>
            <a:pathLst>
              <a:path w="1025992" h="1024160">
                <a:moveTo>
                  <a:pt x="0" y="0"/>
                </a:moveTo>
                <a:lnTo>
                  <a:pt x="1025992" y="0"/>
                </a:lnTo>
                <a:lnTo>
                  <a:pt x="1025992" y="1024160"/>
                </a:lnTo>
                <a:lnTo>
                  <a:pt x="0" y="10241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fr-BE"/>
          </a:p>
        </p:txBody>
      </p:sp>
      <p:sp>
        <p:nvSpPr>
          <p:cNvPr id="22" name="Freeform 22"/>
          <p:cNvSpPr/>
          <p:nvPr/>
        </p:nvSpPr>
        <p:spPr>
          <a:xfrm>
            <a:off x="8734470" y="3615592"/>
            <a:ext cx="991798" cy="563288"/>
          </a:xfrm>
          <a:custGeom>
            <a:avLst/>
            <a:gdLst/>
            <a:ahLst/>
            <a:cxnLst/>
            <a:rect l="l" t="t" r="r" b="b"/>
            <a:pathLst>
              <a:path w="1025992" h="1024160">
                <a:moveTo>
                  <a:pt x="0" y="0"/>
                </a:moveTo>
                <a:lnTo>
                  <a:pt x="1025992" y="0"/>
                </a:lnTo>
                <a:lnTo>
                  <a:pt x="1025992" y="1024159"/>
                </a:lnTo>
                <a:lnTo>
                  <a:pt x="0" y="10241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fr-BE"/>
          </a:p>
        </p:txBody>
      </p:sp>
      <p:sp>
        <p:nvSpPr>
          <p:cNvPr id="24" name="Freeform 24"/>
          <p:cNvSpPr/>
          <p:nvPr/>
        </p:nvSpPr>
        <p:spPr>
          <a:xfrm>
            <a:off x="4319274" y="7682679"/>
            <a:ext cx="563254" cy="320470"/>
          </a:xfrm>
          <a:custGeom>
            <a:avLst/>
            <a:gdLst/>
            <a:ahLst/>
            <a:cxnLst/>
            <a:rect l="l" t="t" r="r" b="b"/>
            <a:pathLst>
              <a:path w="582673" h="582673">
                <a:moveTo>
                  <a:pt x="0" y="0"/>
                </a:moveTo>
                <a:lnTo>
                  <a:pt x="582673" y="0"/>
                </a:lnTo>
                <a:lnTo>
                  <a:pt x="582673" y="582673"/>
                </a:lnTo>
                <a:lnTo>
                  <a:pt x="0" y="5826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BE"/>
          </a:p>
        </p:txBody>
      </p:sp>
      <p:sp>
        <p:nvSpPr>
          <p:cNvPr id="27" name="TextBox 27"/>
          <p:cNvSpPr txBox="1"/>
          <p:nvPr/>
        </p:nvSpPr>
        <p:spPr>
          <a:xfrm>
            <a:off x="1028700" y="885825"/>
            <a:ext cx="5914807" cy="671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040"/>
              </a:lnSpc>
            </a:pPr>
            <a:r>
              <a:rPr lang="fr-BE" sz="6000" dirty="0">
                <a:latin typeface="TT Hoves Bold" panose="020B0604020202020204" charset="0"/>
              </a:rPr>
              <a:t>Automation</a:t>
            </a:r>
            <a:endParaRPr lang="en-US" sz="6000" b="1" dirty="0">
              <a:solidFill>
                <a:srgbClr val="000000"/>
              </a:solidFill>
              <a:latin typeface="TT Hoves Bold" panose="020B0604020202020204" charset="0"/>
              <a:ea typeface="TT Hoves Bold"/>
              <a:cs typeface="TT Hoves Bold"/>
              <a:sym typeface="TT Hoves 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028700" y="1706418"/>
            <a:ext cx="6819900" cy="6694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60"/>
              </a:lnSpc>
            </a:pPr>
            <a:r>
              <a:rPr lang="fr-BE" sz="2000" dirty="0">
                <a:latin typeface="TT Hoves" panose="020B0604020202020204" charset="0"/>
              </a:rPr>
              <a:t>To </a:t>
            </a:r>
            <a:r>
              <a:rPr lang="fr-BE" sz="2000" dirty="0" err="1">
                <a:latin typeface="TT Hoves" panose="020B0604020202020204" charset="0"/>
              </a:rPr>
              <a:t>ensure</a:t>
            </a:r>
            <a:r>
              <a:rPr lang="fr-BE" sz="2000" dirty="0">
                <a:latin typeface="TT Hoves" panose="020B0604020202020204" charset="0"/>
              </a:rPr>
              <a:t> </a:t>
            </a:r>
            <a:r>
              <a:rPr lang="fr-BE" sz="2000" dirty="0" err="1">
                <a:latin typeface="TT Hoves" panose="020B0604020202020204" charset="0"/>
              </a:rPr>
              <a:t>reproducibility</a:t>
            </a:r>
            <a:r>
              <a:rPr lang="fr-BE" sz="2000" dirty="0">
                <a:latin typeface="TT Hoves" panose="020B0604020202020204" charset="0"/>
              </a:rPr>
              <a:t>, Python scripts </a:t>
            </a:r>
            <a:r>
              <a:rPr lang="fr-BE" sz="2000" dirty="0" err="1">
                <a:latin typeface="TT Hoves" panose="020B0604020202020204" charset="0"/>
              </a:rPr>
              <a:t>were</a:t>
            </a:r>
            <a:r>
              <a:rPr lang="fr-BE" sz="2000" dirty="0">
                <a:latin typeface="TT Hoves" panose="020B0604020202020204" charset="0"/>
              </a:rPr>
              <a:t> </a:t>
            </a:r>
            <a:r>
              <a:rPr lang="fr-BE" sz="2000" dirty="0" err="1">
                <a:latin typeface="TT Hoves" panose="020B0604020202020204" charset="0"/>
              </a:rPr>
              <a:t>developed</a:t>
            </a:r>
            <a:r>
              <a:rPr lang="fr-BE" sz="2000" dirty="0">
                <a:latin typeface="TT Hoves" panose="020B0604020202020204" charset="0"/>
              </a:rPr>
              <a:t> to automate </a:t>
            </a:r>
            <a:r>
              <a:rPr lang="fr-BE" sz="2000" dirty="0" err="1">
                <a:latin typeface="TT Hoves" panose="020B0604020202020204" charset="0"/>
              </a:rPr>
              <a:t>each</a:t>
            </a:r>
            <a:r>
              <a:rPr lang="fr-BE" sz="2000" dirty="0">
                <a:latin typeface="TT Hoves" panose="020B0604020202020204" charset="0"/>
              </a:rPr>
              <a:t> stage of the pipeline.</a:t>
            </a:r>
            <a:endParaRPr lang="en-US" sz="1900" dirty="0">
              <a:solidFill>
                <a:srgbClr val="000000"/>
              </a:solidFill>
              <a:latin typeface="TT Hoves" panose="020B0604020202020204" charset="0"/>
              <a:ea typeface="TT Hoves"/>
              <a:cs typeface="TT Hoves"/>
              <a:sym typeface="TT Hove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527367" y="7556324"/>
            <a:ext cx="1908825" cy="6211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fr-BE" dirty="0">
                <a:latin typeface="TT Hoves Bold" panose="020B0604020202020204" charset="0"/>
              </a:rPr>
              <a:t>Python Extraction Script</a:t>
            </a:r>
            <a:endParaRPr lang="en-US" sz="1800" b="1" dirty="0">
              <a:solidFill>
                <a:srgbClr val="000000"/>
              </a:solidFill>
              <a:latin typeface="TT Hoves Bold" panose="020B0604020202020204" charset="0"/>
              <a:ea typeface="TT Hoves Bold"/>
              <a:cs typeface="TT Hoves Bold"/>
              <a:sym typeface="TT Hoves Bold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3614452" y="9006787"/>
            <a:ext cx="1908825" cy="3005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fr-BE" dirty="0">
                <a:latin typeface="TT Hoves Bold" panose="020B0604020202020204" charset="0"/>
              </a:rPr>
              <a:t>RAW Schema</a:t>
            </a:r>
            <a:endParaRPr lang="en-US" sz="1800" b="1" dirty="0">
              <a:solidFill>
                <a:srgbClr val="000000"/>
              </a:solidFill>
              <a:latin typeface="TT Hoves Bold" panose="020B0604020202020204" charset="0"/>
              <a:ea typeface="TT Hoves Bold"/>
              <a:cs typeface="TT Hoves Bold"/>
              <a:sym typeface="TT Hoves Bold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6287871" y="6857909"/>
            <a:ext cx="2112413" cy="6211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fr-BE" dirty="0">
                <a:latin typeface="TT Hoves Bold" panose="020B0604020202020204" charset="0"/>
              </a:rPr>
              <a:t>Python SQL </a:t>
            </a:r>
            <a:r>
              <a:rPr lang="fr-BE" dirty="0" err="1">
                <a:latin typeface="TT Hoves Bold" panose="020B0604020202020204" charset="0"/>
              </a:rPr>
              <a:t>Execution</a:t>
            </a:r>
            <a:r>
              <a:rPr lang="fr-BE" dirty="0">
                <a:latin typeface="TT Hoves Bold" panose="020B0604020202020204" charset="0"/>
              </a:rPr>
              <a:t> Script</a:t>
            </a:r>
            <a:endParaRPr lang="en-US" sz="1800" b="1" dirty="0">
              <a:solidFill>
                <a:srgbClr val="000000"/>
              </a:solidFill>
              <a:latin typeface="TT Hoves Bold" panose="020B0604020202020204" charset="0"/>
              <a:ea typeface="TT Hoves Bold"/>
              <a:cs typeface="TT Hoves Bold"/>
              <a:sym typeface="TT Hoves Bold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9253064" y="5207446"/>
            <a:ext cx="1908825" cy="6181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fr-BE" dirty="0">
                <a:latin typeface="TT Hoves Bold" panose="020B0604020202020204" charset="0"/>
              </a:rPr>
              <a:t>STAGING Schema</a:t>
            </a:r>
            <a:endParaRPr lang="en-US" sz="1800" b="1" dirty="0">
              <a:solidFill>
                <a:srgbClr val="000000"/>
              </a:solidFill>
              <a:latin typeface="TT Hoves Bold" panose="020B0604020202020204" charset="0"/>
              <a:ea typeface="TT Hoves Bold"/>
              <a:cs typeface="TT Hoves Bold"/>
              <a:sym typeface="TT Hoves Bold"/>
            </a:endParaRPr>
          </a:p>
        </p:txBody>
      </p:sp>
      <p:sp>
        <p:nvSpPr>
          <p:cNvPr id="37" name="TextBox 3">
            <a:extLst>
              <a:ext uri="{FF2B5EF4-FFF2-40B4-BE49-F238E27FC236}">
                <a16:creationId xmlns:a16="http://schemas.microsoft.com/office/drawing/2014/main" id="{83EF5D5A-EF9C-BF68-9E49-FA924B5192E3}"/>
              </a:ext>
            </a:extLst>
          </p:cNvPr>
          <p:cNvSpPr txBox="1"/>
          <p:nvPr/>
        </p:nvSpPr>
        <p:spPr>
          <a:xfrm>
            <a:off x="11614314" y="1656685"/>
            <a:ext cx="2207261" cy="11648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9799"/>
              </a:lnSpc>
            </a:pPr>
            <a:r>
              <a:rPr lang="en-US" sz="6999" b="1" dirty="0">
                <a:solidFill>
                  <a:srgbClr val="56E11B"/>
                </a:solidFill>
                <a:latin typeface="TT Hoves Bold"/>
                <a:ea typeface="TT Hoves Bold"/>
                <a:cs typeface="TT Hoves Bold"/>
                <a:sym typeface="TT Hoves Bold"/>
              </a:rPr>
              <a:t>05</a:t>
            </a:r>
          </a:p>
        </p:txBody>
      </p:sp>
      <p:grpSp>
        <p:nvGrpSpPr>
          <p:cNvPr id="38" name="Group 7">
            <a:extLst>
              <a:ext uri="{FF2B5EF4-FFF2-40B4-BE49-F238E27FC236}">
                <a16:creationId xmlns:a16="http://schemas.microsoft.com/office/drawing/2014/main" id="{591002B5-88F7-D384-3E56-44D724450B86}"/>
              </a:ext>
            </a:extLst>
          </p:cNvPr>
          <p:cNvGrpSpPr/>
          <p:nvPr/>
        </p:nvGrpSpPr>
        <p:grpSpPr>
          <a:xfrm>
            <a:off x="11614314" y="3341527"/>
            <a:ext cx="2421640" cy="1697355"/>
            <a:chOff x="0" y="0"/>
            <a:chExt cx="659787" cy="812800"/>
          </a:xfrm>
        </p:grpSpPr>
        <p:sp>
          <p:nvSpPr>
            <p:cNvPr id="39" name="Freeform 8">
              <a:extLst>
                <a:ext uri="{FF2B5EF4-FFF2-40B4-BE49-F238E27FC236}">
                  <a16:creationId xmlns:a16="http://schemas.microsoft.com/office/drawing/2014/main" id="{45CC738A-1240-29DA-6BBA-DFE9A9A0C6B5}"/>
                </a:ext>
              </a:extLst>
            </p:cNvPr>
            <p:cNvSpPr/>
            <p:nvPr/>
          </p:nvSpPr>
          <p:spPr>
            <a:xfrm>
              <a:off x="0" y="0"/>
              <a:ext cx="659787" cy="812800"/>
            </a:xfrm>
            <a:custGeom>
              <a:avLst/>
              <a:gdLst/>
              <a:ahLst/>
              <a:cxnLst/>
              <a:rect l="l" t="t" r="r" b="b"/>
              <a:pathLst>
                <a:path w="659787" h="812800">
                  <a:moveTo>
                    <a:pt x="58718" y="0"/>
                  </a:moveTo>
                  <a:lnTo>
                    <a:pt x="601069" y="0"/>
                  </a:lnTo>
                  <a:cubicBezTo>
                    <a:pt x="633498" y="0"/>
                    <a:pt x="659787" y="26289"/>
                    <a:pt x="659787" y="58718"/>
                  </a:cubicBezTo>
                  <a:lnTo>
                    <a:pt x="659787" y="754082"/>
                  </a:lnTo>
                  <a:cubicBezTo>
                    <a:pt x="659787" y="769655"/>
                    <a:pt x="653601" y="784590"/>
                    <a:pt x="642589" y="795602"/>
                  </a:cubicBezTo>
                  <a:cubicBezTo>
                    <a:pt x="631577" y="806614"/>
                    <a:pt x="616642" y="812800"/>
                    <a:pt x="601069" y="812800"/>
                  </a:cubicBezTo>
                  <a:lnTo>
                    <a:pt x="58718" y="812800"/>
                  </a:lnTo>
                  <a:cubicBezTo>
                    <a:pt x="26289" y="812800"/>
                    <a:pt x="0" y="786511"/>
                    <a:pt x="0" y="754082"/>
                  </a:cubicBezTo>
                  <a:lnTo>
                    <a:pt x="0" y="58718"/>
                  </a:lnTo>
                  <a:cubicBezTo>
                    <a:pt x="0" y="26289"/>
                    <a:pt x="26289" y="0"/>
                    <a:pt x="58718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BE"/>
            </a:p>
          </p:txBody>
        </p:sp>
        <p:sp>
          <p:nvSpPr>
            <p:cNvPr id="40" name="TextBox 9">
              <a:extLst>
                <a:ext uri="{FF2B5EF4-FFF2-40B4-BE49-F238E27FC236}">
                  <a16:creationId xmlns:a16="http://schemas.microsoft.com/office/drawing/2014/main" id="{DA277235-230C-41A9-0B83-F8194F8D7FD2}"/>
                </a:ext>
              </a:extLst>
            </p:cNvPr>
            <p:cNvSpPr txBox="1"/>
            <p:nvPr/>
          </p:nvSpPr>
          <p:spPr>
            <a:xfrm>
              <a:off x="0" y="-38100"/>
              <a:ext cx="659787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41" name="Freeform 19">
            <a:extLst>
              <a:ext uri="{FF2B5EF4-FFF2-40B4-BE49-F238E27FC236}">
                <a16:creationId xmlns:a16="http://schemas.microsoft.com/office/drawing/2014/main" id="{80EBFBB1-5D2F-D34E-BF97-38C1B4C65D4A}"/>
              </a:ext>
            </a:extLst>
          </p:cNvPr>
          <p:cNvSpPr/>
          <p:nvPr/>
        </p:nvSpPr>
        <p:spPr>
          <a:xfrm>
            <a:off x="11393790" y="2221361"/>
            <a:ext cx="991798" cy="563288"/>
          </a:xfrm>
          <a:custGeom>
            <a:avLst/>
            <a:gdLst/>
            <a:ahLst/>
            <a:cxnLst/>
            <a:rect l="l" t="t" r="r" b="b"/>
            <a:pathLst>
              <a:path w="1025992" h="1024160">
                <a:moveTo>
                  <a:pt x="0" y="0"/>
                </a:moveTo>
                <a:lnTo>
                  <a:pt x="1025991" y="0"/>
                </a:lnTo>
                <a:lnTo>
                  <a:pt x="1025991" y="1024160"/>
                </a:lnTo>
                <a:lnTo>
                  <a:pt x="0" y="10241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BE"/>
          </a:p>
        </p:txBody>
      </p:sp>
      <p:sp>
        <p:nvSpPr>
          <p:cNvPr id="44" name="TextBox 30">
            <a:extLst>
              <a:ext uri="{FF2B5EF4-FFF2-40B4-BE49-F238E27FC236}">
                <a16:creationId xmlns:a16="http://schemas.microsoft.com/office/drawing/2014/main" id="{AADBB9D8-782D-E880-5A39-45EB1FD2B22A}"/>
              </a:ext>
            </a:extLst>
          </p:cNvPr>
          <p:cNvSpPr txBox="1"/>
          <p:nvPr/>
        </p:nvSpPr>
        <p:spPr>
          <a:xfrm>
            <a:off x="11905080" y="3930567"/>
            <a:ext cx="1908825" cy="6211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fr-BE" dirty="0">
                <a:latin typeface="TT Hoves Bold" panose="020B0604020202020204" charset="0"/>
              </a:rPr>
              <a:t>Python SQL </a:t>
            </a:r>
            <a:r>
              <a:rPr lang="fr-BE" dirty="0" err="1">
                <a:latin typeface="TT Hoves Bold" panose="020B0604020202020204" charset="0"/>
              </a:rPr>
              <a:t>Execution</a:t>
            </a:r>
            <a:r>
              <a:rPr lang="fr-BE" dirty="0">
                <a:latin typeface="TT Hoves Bold" panose="020B0604020202020204" charset="0"/>
              </a:rPr>
              <a:t> Script</a:t>
            </a:r>
            <a:endParaRPr lang="en-US" sz="1800" b="1" dirty="0">
              <a:solidFill>
                <a:srgbClr val="000000"/>
              </a:solidFill>
              <a:latin typeface="TT Hoves Bold" panose="020B0604020202020204" charset="0"/>
              <a:ea typeface="TT Hoves Bold"/>
              <a:cs typeface="TT Hoves Bold"/>
              <a:sym typeface="TT Hoves Bold"/>
            </a:endParaRPr>
          </a:p>
        </p:txBody>
      </p:sp>
      <p:sp>
        <p:nvSpPr>
          <p:cNvPr id="45" name="TextBox 5">
            <a:extLst>
              <a:ext uri="{FF2B5EF4-FFF2-40B4-BE49-F238E27FC236}">
                <a16:creationId xmlns:a16="http://schemas.microsoft.com/office/drawing/2014/main" id="{FFD93990-CC14-DEA7-4C74-A74D2A28C1BF}"/>
              </a:ext>
            </a:extLst>
          </p:cNvPr>
          <p:cNvSpPr txBox="1"/>
          <p:nvPr/>
        </p:nvSpPr>
        <p:spPr>
          <a:xfrm>
            <a:off x="14127495" y="-184621"/>
            <a:ext cx="2207261" cy="11648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9799"/>
              </a:lnSpc>
            </a:pPr>
            <a:r>
              <a:rPr lang="en-US" sz="6999" b="1" dirty="0">
                <a:solidFill>
                  <a:srgbClr val="004259"/>
                </a:solidFill>
                <a:latin typeface="TT Hoves Bold"/>
                <a:ea typeface="TT Hoves Bold"/>
                <a:cs typeface="TT Hoves Bold"/>
                <a:sym typeface="TT Hoves Bold"/>
              </a:rPr>
              <a:t>06</a:t>
            </a:r>
          </a:p>
        </p:txBody>
      </p:sp>
      <p:grpSp>
        <p:nvGrpSpPr>
          <p:cNvPr id="46" name="Group 13">
            <a:extLst>
              <a:ext uri="{FF2B5EF4-FFF2-40B4-BE49-F238E27FC236}">
                <a16:creationId xmlns:a16="http://schemas.microsoft.com/office/drawing/2014/main" id="{7BC1B5EC-FC1A-4304-CB94-46A7A3F4FE6F}"/>
              </a:ext>
            </a:extLst>
          </p:cNvPr>
          <p:cNvGrpSpPr/>
          <p:nvPr/>
        </p:nvGrpSpPr>
        <p:grpSpPr>
          <a:xfrm>
            <a:off x="14104862" y="1514330"/>
            <a:ext cx="2421640" cy="1697355"/>
            <a:chOff x="0" y="0"/>
            <a:chExt cx="659787" cy="812800"/>
          </a:xfrm>
        </p:grpSpPr>
        <p:sp>
          <p:nvSpPr>
            <p:cNvPr id="47" name="Freeform 14">
              <a:extLst>
                <a:ext uri="{FF2B5EF4-FFF2-40B4-BE49-F238E27FC236}">
                  <a16:creationId xmlns:a16="http://schemas.microsoft.com/office/drawing/2014/main" id="{626BA53F-33AA-82A7-AD1F-23894D105685}"/>
                </a:ext>
              </a:extLst>
            </p:cNvPr>
            <p:cNvSpPr/>
            <p:nvPr/>
          </p:nvSpPr>
          <p:spPr>
            <a:xfrm>
              <a:off x="0" y="0"/>
              <a:ext cx="659787" cy="812800"/>
            </a:xfrm>
            <a:custGeom>
              <a:avLst/>
              <a:gdLst/>
              <a:ahLst/>
              <a:cxnLst/>
              <a:rect l="l" t="t" r="r" b="b"/>
              <a:pathLst>
                <a:path w="659787" h="812800">
                  <a:moveTo>
                    <a:pt x="58718" y="0"/>
                  </a:moveTo>
                  <a:lnTo>
                    <a:pt x="601069" y="0"/>
                  </a:lnTo>
                  <a:cubicBezTo>
                    <a:pt x="633498" y="0"/>
                    <a:pt x="659787" y="26289"/>
                    <a:pt x="659787" y="58718"/>
                  </a:cubicBezTo>
                  <a:lnTo>
                    <a:pt x="659787" y="754082"/>
                  </a:lnTo>
                  <a:cubicBezTo>
                    <a:pt x="659787" y="769655"/>
                    <a:pt x="653601" y="784590"/>
                    <a:pt x="642589" y="795602"/>
                  </a:cubicBezTo>
                  <a:cubicBezTo>
                    <a:pt x="631577" y="806614"/>
                    <a:pt x="616642" y="812800"/>
                    <a:pt x="601069" y="812800"/>
                  </a:cubicBezTo>
                  <a:lnTo>
                    <a:pt x="58718" y="812800"/>
                  </a:lnTo>
                  <a:cubicBezTo>
                    <a:pt x="26289" y="812800"/>
                    <a:pt x="0" y="786511"/>
                    <a:pt x="0" y="754082"/>
                  </a:cubicBezTo>
                  <a:lnTo>
                    <a:pt x="0" y="58718"/>
                  </a:lnTo>
                  <a:cubicBezTo>
                    <a:pt x="0" y="26289"/>
                    <a:pt x="26289" y="0"/>
                    <a:pt x="58718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BE"/>
            </a:p>
          </p:txBody>
        </p:sp>
        <p:sp>
          <p:nvSpPr>
            <p:cNvPr id="48" name="TextBox 15">
              <a:extLst>
                <a:ext uri="{FF2B5EF4-FFF2-40B4-BE49-F238E27FC236}">
                  <a16:creationId xmlns:a16="http://schemas.microsoft.com/office/drawing/2014/main" id="{88DF3460-EC31-FD16-1370-E744A1A7D920}"/>
                </a:ext>
              </a:extLst>
            </p:cNvPr>
            <p:cNvSpPr txBox="1"/>
            <p:nvPr/>
          </p:nvSpPr>
          <p:spPr>
            <a:xfrm>
              <a:off x="0" y="-38100"/>
              <a:ext cx="659787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49" name="Freeform 21">
            <a:extLst>
              <a:ext uri="{FF2B5EF4-FFF2-40B4-BE49-F238E27FC236}">
                <a16:creationId xmlns:a16="http://schemas.microsoft.com/office/drawing/2014/main" id="{77FAC37C-F1BB-EE25-39FA-55D04502BD40}"/>
              </a:ext>
            </a:extLst>
          </p:cNvPr>
          <p:cNvSpPr/>
          <p:nvPr/>
        </p:nvSpPr>
        <p:spPr>
          <a:xfrm>
            <a:off x="13877312" y="429895"/>
            <a:ext cx="991798" cy="563288"/>
          </a:xfrm>
          <a:custGeom>
            <a:avLst/>
            <a:gdLst/>
            <a:ahLst/>
            <a:cxnLst/>
            <a:rect l="l" t="t" r="r" b="b"/>
            <a:pathLst>
              <a:path w="1025992" h="1024160">
                <a:moveTo>
                  <a:pt x="0" y="0"/>
                </a:moveTo>
                <a:lnTo>
                  <a:pt x="1025992" y="0"/>
                </a:lnTo>
                <a:lnTo>
                  <a:pt x="1025992" y="1024160"/>
                </a:lnTo>
                <a:lnTo>
                  <a:pt x="0" y="10241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fr-BE"/>
          </a:p>
        </p:txBody>
      </p:sp>
      <p:sp>
        <p:nvSpPr>
          <p:cNvPr id="52" name="TextBox 34">
            <a:extLst>
              <a:ext uri="{FF2B5EF4-FFF2-40B4-BE49-F238E27FC236}">
                <a16:creationId xmlns:a16="http://schemas.microsoft.com/office/drawing/2014/main" id="{CED99EA1-2CF8-BCAF-FE0A-E9CB2D627AF1}"/>
              </a:ext>
            </a:extLst>
          </p:cNvPr>
          <p:cNvSpPr txBox="1"/>
          <p:nvPr/>
        </p:nvSpPr>
        <p:spPr>
          <a:xfrm>
            <a:off x="14333589" y="2053915"/>
            <a:ext cx="2112413" cy="6181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fr-BE" dirty="0">
                <a:latin typeface="TT Hoves Bold" panose="020B0604020202020204" charset="0"/>
              </a:rPr>
              <a:t>ANALYTICS Schema</a:t>
            </a:r>
            <a:endParaRPr lang="en-US" sz="1800" b="1" dirty="0">
              <a:solidFill>
                <a:srgbClr val="000000"/>
              </a:solidFill>
              <a:latin typeface="TT Hoves Bold" panose="020B0604020202020204" charset="0"/>
              <a:ea typeface="TT Hoves Bold"/>
              <a:cs typeface="TT Hoves Bold"/>
              <a:sym typeface="TT Hoves Bold"/>
            </a:endParaRPr>
          </a:p>
        </p:txBody>
      </p:sp>
      <p:sp>
        <p:nvSpPr>
          <p:cNvPr id="53" name="Rectangle : coins arrondis 52">
            <a:extLst>
              <a:ext uri="{FF2B5EF4-FFF2-40B4-BE49-F238E27FC236}">
                <a16:creationId xmlns:a16="http://schemas.microsoft.com/office/drawing/2014/main" id="{120213EF-5240-8C24-58E5-F4E89CD33A17}"/>
              </a:ext>
            </a:extLst>
          </p:cNvPr>
          <p:cNvSpPr/>
          <p:nvPr/>
        </p:nvSpPr>
        <p:spPr>
          <a:xfrm>
            <a:off x="60969" y="3747608"/>
            <a:ext cx="2329345" cy="1006467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54" name="ZoneTexte 53">
            <a:extLst>
              <a:ext uri="{FF2B5EF4-FFF2-40B4-BE49-F238E27FC236}">
                <a16:creationId xmlns:a16="http://schemas.microsoft.com/office/drawing/2014/main" id="{BAB23476-2C50-329A-C9CB-17D193798BB6}"/>
              </a:ext>
            </a:extLst>
          </p:cNvPr>
          <p:cNvSpPr txBox="1"/>
          <p:nvPr/>
        </p:nvSpPr>
        <p:spPr>
          <a:xfrm>
            <a:off x="731385" y="3856754"/>
            <a:ext cx="11049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400" dirty="0">
                <a:solidFill>
                  <a:schemeClr val="bg1"/>
                </a:solidFill>
                <a:latin typeface="TT Hoves Bold" panose="020B0604020202020204" charset="0"/>
              </a:rPr>
              <a:t>CSV Files</a:t>
            </a:r>
          </a:p>
        </p:txBody>
      </p:sp>
      <p:sp>
        <p:nvSpPr>
          <p:cNvPr id="55" name="Flèche : bas 54">
            <a:extLst>
              <a:ext uri="{FF2B5EF4-FFF2-40B4-BE49-F238E27FC236}">
                <a16:creationId xmlns:a16="http://schemas.microsoft.com/office/drawing/2014/main" id="{18C0A3A8-3075-FBE7-C2EC-AE2EA9F0F787}"/>
              </a:ext>
            </a:extLst>
          </p:cNvPr>
          <p:cNvSpPr/>
          <p:nvPr/>
        </p:nvSpPr>
        <p:spPr>
          <a:xfrm>
            <a:off x="1039144" y="4882625"/>
            <a:ext cx="300373" cy="531754"/>
          </a:xfrm>
          <a:prstGeom prst="down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56" name="Freeform 37">
            <a:extLst>
              <a:ext uri="{FF2B5EF4-FFF2-40B4-BE49-F238E27FC236}">
                <a16:creationId xmlns:a16="http://schemas.microsoft.com/office/drawing/2014/main" id="{4887710A-D5B4-2FD2-127B-9325FD10F4F9}"/>
              </a:ext>
            </a:extLst>
          </p:cNvPr>
          <p:cNvSpPr/>
          <p:nvPr/>
        </p:nvSpPr>
        <p:spPr>
          <a:xfrm>
            <a:off x="1039144" y="6315442"/>
            <a:ext cx="639080" cy="656642"/>
          </a:xfrm>
          <a:custGeom>
            <a:avLst/>
            <a:gdLst/>
            <a:ahLst/>
            <a:cxnLst/>
            <a:rect l="l" t="t" r="r" b="b"/>
            <a:pathLst>
              <a:path w="613528" h="590102">
                <a:moveTo>
                  <a:pt x="0" y="0"/>
                </a:moveTo>
                <a:lnTo>
                  <a:pt x="613527" y="0"/>
                </a:lnTo>
                <a:lnTo>
                  <a:pt x="613527" y="590102"/>
                </a:lnTo>
                <a:lnTo>
                  <a:pt x="0" y="5901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BE"/>
          </a:p>
        </p:txBody>
      </p:sp>
      <p:pic>
        <p:nvPicPr>
          <p:cNvPr id="57" name="Graphique 56" descr="Terminal Cmd avec un remplissage uni">
            <a:extLst>
              <a:ext uri="{FF2B5EF4-FFF2-40B4-BE49-F238E27FC236}">
                <a16:creationId xmlns:a16="http://schemas.microsoft.com/office/drawing/2014/main" id="{B167EE99-53DE-69EC-AC40-C24A2322D1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383236" y="2775030"/>
            <a:ext cx="669415" cy="669415"/>
          </a:xfrm>
          <a:prstGeom prst="rect">
            <a:avLst/>
          </a:prstGeom>
        </p:spPr>
      </p:pic>
      <p:pic>
        <p:nvPicPr>
          <p:cNvPr id="58" name="Graphique 57" descr="Calendrier mensuel contour">
            <a:extLst>
              <a:ext uri="{FF2B5EF4-FFF2-40B4-BE49-F238E27FC236}">
                <a16:creationId xmlns:a16="http://schemas.microsoft.com/office/drawing/2014/main" id="{AE302720-BC21-359D-4CFB-E3A33F1A79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750276" y="3871527"/>
            <a:ext cx="914400" cy="914400"/>
          </a:xfrm>
          <a:prstGeom prst="rect">
            <a:avLst/>
          </a:prstGeom>
        </p:spPr>
      </p:pic>
      <p:pic>
        <p:nvPicPr>
          <p:cNvPr id="59" name="Graphique 58" descr="Terminal Cmd avec un remplissage uni">
            <a:extLst>
              <a:ext uri="{FF2B5EF4-FFF2-40B4-BE49-F238E27FC236}">
                <a16:creationId xmlns:a16="http://schemas.microsoft.com/office/drawing/2014/main" id="{AB21D6B5-376B-B70A-B779-9AE41D6F35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44074" y="5821775"/>
            <a:ext cx="669415" cy="669415"/>
          </a:xfrm>
          <a:prstGeom prst="rect">
            <a:avLst/>
          </a:prstGeom>
        </p:spPr>
      </p:pic>
      <p:sp>
        <p:nvSpPr>
          <p:cNvPr id="60" name="Freeform 40">
            <a:extLst>
              <a:ext uri="{FF2B5EF4-FFF2-40B4-BE49-F238E27FC236}">
                <a16:creationId xmlns:a16="http://schemas.microsoft.com/office/drawing/2014/main" id="{E65EE479-B89D-8F45-F0C7-212BABA22962}"/>
              </a:ext>
            </a:extLst>
          </p:cNvPr>
          <p:cNvSpPr/>
          <p:nvPr/>
        </p:nvSpPr>
        <p:spPr>
          <a:xfrm>
            <a:off x="14962497" y="894615"/>
            <a:ext cx="559021" cy="597185"/>
          </a:xfrm>
          <a:custGeom>
            <a:avLst/>
            <a:gdLst/>
            <a:ahLst/>
            <a:cxnLst/>
            <a:rect l="l" t="t" r="r" b="b"/>
            <a:pathLst>
              <a:path w="536670" h="536670">
                <a:moveTo>
                  <a:pt x="0" y="0"/>
                </a:moveTo>
                <a:lnTo>
                  <a:pt x="536670" y="0"/>
                </a:lnTo>
                <a:lnTo>
                  <a:pt x="536670" y="536670"/>
                </a:lnTo>
                <a:lnTo>
                  <a:pt x="0" y="5366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B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7593708">
            <a:off x="14116907" y="-23803"/>
            <a:ext cx="3926878" cy="3460442"/>
          </a:xfrm>
          <a:custGeom>
            <a:avLst/>
            <a:gdLst/>
            <a:ahLst/>
            <a:cxnLst/>
            <a:rect l="l" t="t" r="r" b="b"/>
            <a:pathLst>
              <a:path w="6650805" h="5840616">
                <a:moveTo>
                  <a:pt x="0" y="0"/>
                </a:moveTo>
                <a:lnTo>
                  <a:pt x="6650805" y="0"/>
                </a:lnTo>
                <a:lnTo>
                  <a:pt x="6650805" y="5840617"/>
                </a:lnTo>
                <a:lnTo>
                  <a:pt x="0" y="58406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BE"/>
          </a:p>
        </p:txBody>
      </p:sp>
      <p:sp>
        <p:nvSpPr>
          <p:cNvPr id="4" name="TextBox 4"/>
          <p:cNvSpPr txBox="1"/>
          <p:nvPr/>
        </p:nvSpPr>
        <p:spPr>
          <a:xfrm>
            <a:off x="6186596" y="1380239"/>
            <a:ext cx="5914807" cy="652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040"/>
              </a:lnSpc>
            </a:pPr>
            <a:r>
              <a:rPr lang="fr-BE" sz="5400" dirty="0">
                <a:latin typeface="TT Hoves Bold" panose="020B0604020202020204" charset="0"/>
              </a:rPr>
              <a:t>Conclusion</a:t>
            </a:r>
            <a:endParaRPr lang="en-US" sz="5400" b="1" dirty="0">
              <a:solidFill>
                <a:srgbClr val="000000"/>
              </a:solidFill>
              <a:latin typeface="TT Hoves Bold" panose="020B0604020202020204" charset="0"/>
              <a:ea typeface="TT Hoves Bold"/>
              <a:cs typeface="TT Hoves Bold"/>
              <a:sym typeface="TT Hoves Bold"/>
            </a:endParaRP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553102EC-DEF5-487B-CA38-21C73092C529}"/>
              </a:ext>
            </a:extLst>
          </p:cNvPr>
          <p:cNvSpPr txBox="1"/>
          <p:nvPr/>
        </p:nvSpPr>
        <p:spPr>
          <a:xfrm>
            <a:off x="2057400" y="2857500"/>
            <a:ext cx="13563600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800" dirty="0">
                <a:latin typeface="TT Hoves" panose="020B0604020202020204" charset="0"/>
              </a:rPr>
              <a:t>This </a:t>
            </a:r>
            <a:r>
              <a:rPr lang="fr-BE" sz="2800" dirty="0" err="1">
                <a:latin typeface="TT Hoves" panose="020B0604020202020204" charset="0"/>
              </a:rPr>
              <a:t>project</a:t>
            </a:r>
            <a:r>
              <a:rPr lang="fr-BE" sz="2800" dirty="0">
                <a:latin typeface="TT Hoves" panose="020B0604020202020204" charset="0"/>
              </a:rPr>
              <a:t> </a:t>
            </a:r>
            <a:r>
              <a:rPr lang="fr-BE" sz="2800" dirty="0" err="1">
                <a:latin typeface="TT Hoves" panose="020B0604020202020204" charset="0"/>
              </a:rPr>
              <a:t>demonstrates</a:t>
            </a:r>
            <a:r>
              <a:rPr lang="fr-BE" sz="2800" dirty="0">
                <a:latin typeface="TT Hoves" panose="020B0604020202020204" charset="0"/>
              </a:rPr>
              <a:t> the </a:t>
            </a:r>
            <a:r>
              <a:rPr lang="fr-BE" sz="2800" dirty="0" err="1">
                <a:latin typeface="TT Hoves" panose="020B0604020202020204" charset="0"/>
              </a:rPr>
              <a:t>complete</a:t>
            </a:r>
            <a:r>
              <a:rPr lang="fr-BE" sz="2800" dirty="0">
                <a:latin typeface="TT Hoves" panose="020B0604020202020204" charset="0"/>
              </a:rPr>
              <a:t> </a:t>
            </a:r>
            <a:r>
              <a:rPr lang="fr-BE" sz="2800" dirty="0" err="1">
                <a:latin typeface="TT Hoves" panose="020B0604020202020204" charset="0"/>
              </a:rPr>
              <a:t>lifecycle</a:t>
            </a:r>
            <a:r>
              <a:rPr lang="fr-BE" sz="2800" dirty="0">
                <a:latin typeface="TT Hoves" panose="020B0604020202020204" charset="0"/>
              </a:rPr>
              <a:t> of an </a:t>
            </a:r>
            <a:r>
              <a:rPr lang="fr-BE" sz="2800" dirty="0" err="1">
                <a:latin typeface="TT Hoves" panose="020B0604020202020204" charset="0"/>
              </a:rPr>
              <a:t>analytics</a:t>
            </a:r>
            <a:r>
              <a:rPr lang="fr-BE" sz="2800" dirty="0">
                <a:latin typeface="TT Hoves" panose="020B0604020202020204" charset="0"/>
              </a:rPr>
              <a:t> solution, </a:t>
            </a:r>
            <a:r>
              <a:rPr lang="fr-BE" sz="2800" dirty="0" err="1">
                <a:latin typeface="TT Hoves" panose="020B0604020202020204" charset="0"/>
              </a:rPr>
              <a:t>from</a:t>
            </a:r>
            <a:r>
              <a:rPr lang="fr-BE" sz="2800" dirty="0">
                <a:latin typeface="TT Hoves" panose="020B0604020202020204" charset="0"/>
              </a:rPr>
              <a:t> </a:t>
            </a:r>
            <a:r>
              <a:rPr lang="fr-BE" sz="2800" dirty="0" err="1">
                <a:latin typeface="TT Hoves" panose="020B0604020202020204" charset="0"/>
              </a:rPr>
              <a:t>raw</a:t>
            </a:r>
            <a:r>
              <a:rPr lang="fr-BE" sz="2800" dirty="0">
                <a:latin typeface="TT Hoves" panose="020B0604020202020204" charset="0"/>
              </a:rPr>
              <a:t> data ingestion to </a:t>
            </a:r>
            <a:r>
              <a:rPr lang="fr-BE" sz="2800" dirty="0" err="1">
                <a:latin typeface="TT Hoves" panose="020B0604020202020204" charset="0"/>
              </a:rPr>
              <a:t>advanced</a:t>
            </a:r>
            <a:r>
              <a:rPr lang="fr-BE" sz="2800" dirty="0">
                <a:latin typeface="TT Hoves" panose="020B0604020202020204" charset="0"/>
              </a:rPr>
              <a:t> </a:t>
            </a:r>
            <a:r>
              <a:rPr lang="fr-BE" sz="2800" dirty="0" err="1">
                <a:latin typeface="TT Hoves" panose="020B0604020202020204" charset="0"/>
              </a:rPr>
              <a:t>analytical</a:t>
            </a:r>
            <a:r>
              <a:rPr lang="fr-BE" sz="2800" dirty="0">
                <a:latin typeface="TT Hoves" panose="020B0604020202020204" charset="0"/>
              </a:rPr>
              <a:t> modeling.</a:t>
            </a:r>
          </a:p>
          <a:p>
            <a:endParaRPr lang="fr-BE" sz="2800" dirty="0">
              <a:latin typeface="TT Hoves" panose="020B0604020202020204" charset="0"/>
            </a:endParaRPr>
          </a:p>
          <a:p>
            <a:r>
              <a:rPr lang="fr-BE" sz="2800" dirty="0">
                <a:latin typeface="TT Hoves" panose="020B0604020202020204" charset="0"/>
              </a:rPr>
              <a:t>A multi-layer PostgreSQL architecture </a:t>
            </a:r>
            <a:r>
              <a:rPr lang="fr-BE" sz="2800" dirty="0" err="1">
                <a:latin typeface="TT Hoves" panose="020B0604020202020204" charset="0"/>
              </a:rPr>
              <a:t>was</a:t>
            </a:r>
            <a:r>
              <a:rPr lang="fr-BE" sz="2800" dirty="0">
                <a:latin typeface="TT Hoves" panose="020B0604020202020204" charset="0"/>
              </a:rPr>
              <a:t> </a:t>
            </a:r>
            <a:r>
              <a:rPr lang="fr-BE" sz="2800" dirty="0" err="1">
                <a:latin typeface="TT Hoves" panose="020B0604020202020204" charset="0"/>
              </a:rPr>
              <a:t>designed</a:t>
            </a:r>
            <a:r>
              <a:rPr lang="fr-BE" sz="2800" dirty="0">
                <a:latin typeface="TT Hoves" panose="020B0604020202020204" charset="0"/>
              </a:rPr>
              <a:t> </a:t>
            </a:r>
            <a:r>
              <a:rPr lang="fr-BE" sz="2800" dirty="0" err="1">
                <a:latin typeface="TT Hoves" panose="020B0604020202020204" charset="0"/>
              </a:rPr>
              <a:t>using</a:t>
            </a:r>
            <a:r>
              <a:rPr lang="fr-BE" sz="2800" dirty="0">
                <a:latin typeface="TT Hoves" panose="020B0604020202020204" charset="0"/>
              </a:rPr>
              <a:t> RAW, STAGING, and ANALYTICS </a:t>
            </a:r>
            <a:r>
              <a:rPr lang="fr-BE" sz="2800" dirty="0" err="1">
                <a:latin typeface="TT Hoves" panose="020B0604020202020204" charset="0"/>
              </a:rPr>
              <a:t>schemas</a:t>
            </a:r>
            <a:r>
              <a:rPr lang="fr-BE" sz="2800" dirty="0">
                <a:latin typeface="TT Hoves" panose="020B0604020202020204" charset="0"/>
              </a:rPr>
              <a:t> to </a:t>
            </a:r>
            <a:r>
              <a:rPr lang="fr-BE" sz="2800" dirty="0" err="1">
                <a:latin typeface="TT Hoves" panose="020B0604020202020204" charset="0"/>
              </a:rPr>
              <a:t>ensure</a:t>
            </a:r>
            <a:r>
              <a:rPr lang="fr-BE" sz="2800" dirty="0">
                <a:latin typeface="TT Hoves" panose="020B0604020202020204" charset="0"/>
              </a:rPr>
              <a:t> data </a:t>
            </a:r>
            <a:r>
              <a:rPr lang="fr-BE" sz="2800" dirty="0" err="1">
                <a:latin typeface="TT Hoves" panose="020B0604020202020204" charset="0"/>
              </a:rPr>
              <a:t>quality</a:t>
            </a:r>
            <a:r>
              <a:rPr lang="fr-BE" sz="2800" dirty="0">
                <a:latin typeface="TT Hoves" panose="020B0604020202020204" charset="0"/>
              </a:rPr>
              <a:t>, </a:t>
            </a:r>
            <a:r>
              <a:rPr lang="fr-BE" sz="2800" dirty="0" err="1">
                <a:latin typeface="TT Hoves" panose="020B0604020202020204" charset="0"/>
              </a:rPr>
              <a:t>reproducibility</a:t>
            </a:r>
            <a:r>
              <a:rPr lang="fr-BE" sz="2800" dirty="0">
                <a:latin typeface="TT Hoves" panose="020B0604020202020204" charset="0"/>
              </a:rPr>
              <a:t>, and </a:t>
            </a:r>
            <a:r>
              <a:rPr lang="fr-BE" sz="2800" dirty="0" err="1">
                <a:latin typeface="TT Hoves" panose="020B0604020202020204" charset="0"/>
              </a:rPr>
              <a:t>scalability</a:t>
            </a:r>
            <a:r>
              <a:rPr lang="fr-BE" sz="2800" dirty="0">
                <a:latin typeface="TT Hoves" panose="020B0604020202020204" charset="0"/>
              </a:rPr>
              <a:t>. </a:t>
            </a:r>
            <a:r>
              <a:rPr lang="fr-BE" sz="2800" dirty="0" err="1">
                <a:latin typeface="TT Hoves" panose="020B0604020202020204" charset="0"/>
              </a:rPr>
              <a:t>Automated</a:t>
            </a:r>
            <a:r>
              <a:rPr lang="fr-BE" sz="2800" dirty="0">
                <a:latin typeface="TT Hoves" panose="020B0604020202020204" charset="0"/>
              </a:rPr>
              <a:t> ETL pipelines </a:t>
            </a:r>
            <a:r>
              <a:rPr lang="fr-BE" sz="2800" dirty="0" err="1">
                <a:latin typeface="TT Hoves" panose="020B0604020202020204" charset="0"/>
              </a:rPr>
              <a:t>were</a:t>
            </a:r>
            <a:r>
              <a:rPr lang="fr-BE" sz="2800" dirty="0">
                <a:latin typeface="TT Hoves" panose="020B0604020202020204" charset="0"/>
              </a:rPr>
              <a:t> </a:t>
            </a:r>
            <a:r>
              <a:rPr lang="fr-BE" sz="2800" dirty="0" err="1">
                <a:latin typeface="TT Hoves" panose="020B0604020202020204" charset="0"/>
              </a:rPr>
              <a:t>developed</a:t>
            </a:r>
            <a:r>
              <a:rPr lang="fr-BE" sz="2800" dirty="0">
                <a:latin typeface="TT Hoves" panose="020B0604020202020204" charset="0"/>
              </a:rPr>
              <a:t> </a:t>
            </a:r>
            <a:r>
              <a:rPr lang="fr-BE" sz="2800" dirty="0" err="1">
                <a:latin typeface="TT Hoves" panose="020B0604020202020204" charset="0"/>
              </a:rPr>
              <a:t>using</a:t>
            </a:r>
            <a:r>
              <a:rPr lang="fr-BE" sz="2800" dirty="0">
                <a:latin typeface="TT Hoves" panose="020B0604020202020204" charset="0"/>
              </a:rPr>
              <a:t> Python and SQL, </a:t>
            </a:r>
            <a:r>
              <a:rPr lang="fr-BE" sz="2800" dirty="0" err="1">
                <a:latin typeface="TT Hoves" panose="020B0604020202020204" charset="0"/>
              </a:rPr>
              <a:t>enabling</a:t>
            </a:r>
            <a:r>
              <a:rPr lang="fr-BE" sz="2800" dirty="0">
                <a:latin typeface="TT Hoves" panose="020B0604020202020204" charset="0"/>
              </a:rPr>
              <a:t> the </a:t>
            </a:r>
            <a:r>
              <a:rPr lang="fr-BE" sz="2800" dirty="0" err="1">
                <a:latin typeface="TT Hoves" panose="020B0604020202020204" charset="0"/>
              </a:rPr>
              <a:t>systematic</a:t>
            </a:r>
            <a:r>
              <a:rPr lang="fr-BE" sz="2800" dirty="0">
                <a:latin typeface="TT Hoves" panose="020B0604020202020204" charset="0"/>
              </a:rPr>
              <a:t> transformation of source data </a:t>
            </a:r>
            <a:r>
              <a:rPr lang="fr-BE" sz="2800" dirty="0" err="1">
                <a:latin typeface="TT Hoves" panose="020B0604020202020204" charset="0"/>
              </a:rPr>
              <a:t>into</a:t>
            </a:r>
            <a:r>
              <a:rPr lang="fr-BE" sz="2800" dirty="0">
                <a:latin typeface="TT Hoves" panose="020B0604020202020204" charset="0"/>
              </a:rPr>
              <a:t> a </a:t>
            </a:r>
            <a:r>
              <a:rPr lang="fr-BE" sz="2800" dirty="0" err="1">
                <a:latin typeface="TT Hoves" panose="020B0604020202020204" charset="0"/>
              </a:rPr>
              <a:t>structured</a:t>
            </a:r>
            <a:r>
              <a:rPr lang="fr-BE" sz="2800" dirty="0">
                <a:latin typeface="TT Hoves" panose="020B0604020202020204" charset="0"/>
              </a:rPr>
              <a:t> </a:t>
            </a:r>
            <a:r>
              <a:rPr lang="fr-BE" sz="2800" dirty="0" err="1">
                <a:latin typeface="TT Hoves" panose="020B0604020202020204" charset="0"/>
              </a:rPr>
              <a:t>dimensional</a:t>
            </a:r>
            <a:r>
              <a:rPr lang="fr-BE" sz="2800" dirty="0">
                <a:latin typeface="TT Hoves" panose="020B0604020202020204" charset="0"/>
              </a:rPr>
              <a:t> model.</a:t>
            </a:r>
          </a:p>
          <a:p>
            <a:endParaRPr lang="fr-BE" sz="2800" dirty="0">
              <a:latin typeface="TT Hoves" panose="020B0604020202020204" charset="0"/>
            </a:endParaRPr>
          </a:p>
          <a:p>
            <a:r>
              <a:rPr lang="fr-BE" sz="2800" dirty="0">
                <a:latin typeface="TT Hoves" panose="020B0604020202020204" charset="0"/>
              </a:rPr>
              <a:t>The </a:t>
            </a:r>
            <a:r>
              <a:rPr lang="fr-BE" sz="2800" dirty="0" err="1">
                <a:latin typeface="TT Hoves" panose="020B0604020202020204" charset="0"/>
              </a:rPr>
              <a:t>resulting</a:t>
            </a:r>
            <a:r>
              <a:rPr lang="fr-BE" sz="2800" dirty="0">
                <a:latin typeface="TT Hoves" panose="020B0604020202020204" charset="0"/>
              </a:rPr>
              <a:t> data </a:t>
            </a:r>
            <a:r>
              <a:rPr lang="fr-BE" sz="2800" dirty="0" err="1">
                <a:latin typeface="TT Hoves" panose="020B0604020202020204" charset="0"/>
              </a:rPr>
              <a:t>warehouse</a:t>
            </a:r>
            <a:r>
              <a:rPr lang="fr-BE" sz="2800" dirty="0">
                <a:latin typeface="TT Hoves" panose="020B0604020202020204" charset="0"/>
              </a:rPr>
              <a:t> </a:t>
            </a:r>
            <a:r>
              <a:rPr lang="fr-BE" sz="2800" dirty="0" err="1">
                <a:latin typeface="TT Hoves" panose="020B0604020202020204" charset="0"/>
              </a:rPr>
              <a:t>served</a:t>
            </a:r>
            <a:r>
              <a:rPr lang="fr-BE" sz="2800" dirty="0">
                <a:latin typeface="TT Hoves" panose="020B0604020202020204" charset="0"/>
              </a:rPr>
              <a:t> as the </a:t>
            </a:r>
            <a:r>
              <a:rPr lang="fr-BE" sz="2800" dirty="0" err="1">
                <a:latin typeface="TT Hoves" panose="020B0604020202020204" charset="0"/>
              </a:rPr>
              <a:t>foundation</a:t>
            </a:r>
            <a:r>
              <a:rPr lang="fr-BE" sz="2800" dirty="0">
                <a:latin typeface="TT Hoves" panose="020B0604020202020204" charset="0"/>
              </a:rPr>
              <a:t> for multiple </a:t>
            </a:r>
            <a:r>
              <a:rPr lang="fr-BE" sz="2800" dirty="0" err="1">
                <a:latin typeface="TT Hoves" panose="020B0604020202020204" charset="0"/>
              </a:rPr>
              <a:t>analytical</a:t>
            </a:r>
            <a:r>
              <a:rPr lang="fr-BE" sz="2800" dirty="0">
                <a:latin typeface="TT Hoves" panose="020B0604020202020204" charset="0"/>
              </a:rPr>
              <a:t> initiatives, </a:t>
            </a:r>
            <a:r>
              <a:rPr lang="fr-BE" sz="2800" dirty="0" err="1">
                <a:latin typeface="TT Hoves" panose="020B0604020202020204" charset="0"/>
              </a:rPr>
              <a:t>including</a:t>
            </a:r>
            <a:r>
              <a:rPr lang="fr-BE" sz="2800" dirty="0">
                <a:latin typeface="TT Hoves" panose="020B0604020202020204" charset="0"/>
              </a:rPr>
              <a:t> </a:t>
            </a:r>
            <a:r>
              <a:rPr lang="fr-BE" sz="2800" dirty="0" err="1">
                <a:latin typeface="TT Hoves" panose="020B0604020202020204" charset="0"/>
              </a:rPr>
              <a:t>customer</a:t>
            </a:r>
            <a:r>
              <a:rPr lang="fr-BE" sz="2800" dirty="0">
                <a:latin typeface="TT Hoves" panose="020B0604020202020204" charset="0"/>
              </a:rPr>
              <a:t> </a:t>
            </a:r>
            <a:r>
              <a:rPr lang="fr-BE" sz="2800" dirty="0" err="1">
                <a:latin typeface="TT Hoves" panose="020B0604020202020204" charset="0"/>
              </a:rPr>
              <a:t>churn</a:t>
            </a:r>
            <a:r>
              <a:rPr lang="fr-BE" sz="2800" dirty="0">
                <a:latin typeface="TT Hoves" panose="020B0604020202020204" charset="0"/>
              </a:rPr>
              <a:t> </a:t>
            </a:r>
            <a:r>
              <a:rPr lang="fr-BE" sz="2800" dirty="0" err="1">
                <a:latin typeface="TT Hoves" panose="020B0604020202020204" charset="0"/>
              </a:rPr>
              <a:t>analysis</a:t>
            </a:r>
            <a:r>
              <a:rPr lang="fr-BE" sz="2800" dirty="0">
                <a:latin typeface="TT Hoves" panose="020B0604020202020204" charset="0"/>
              </a:rPr>
              <a:t>, </a:t>
            </a:r>
            <a:r>
              <a:rPr lang="fr-BE" sz="2800" dirty="0" err="1">
                <a:latin typeface="TT Hoves" panose="020B0604020202020204" charset="0"/>
              </a:rPr>
              <a:t>customer</a:t>
            </a:r>
            <a:r>
              <a:rPr lang="fr-BE" sz="2800" dirty="0">
                <a:latin typeface="TT Hoves" panose="020B0604020202020204" charset="0"/>
              </a:rPr>
              <a:t> segmentation, </a:t>
            </a:r>
            <a:r>
              <a:rPr lang="fr-BE" sz="2800" dirty="0" err="1">
                <a:latin typeface="TT Hoves" panose="020B0604020202020204" charset="0"/>
              </a:rPr>
              <a:t>logistics</a:t>
            </a:r>
            <a:r>
              <a:rPr lang="fr-BE" sz="2800" dirty="0">
                <a:latin typeface="TT Hoves" panose="020B0604020202020204" charset="0"/>
              </a:rPr>
              <a:t> performance </a:t>
            </a:r>
            <a:r>
              <a:rPr lang="fr-BE" sz="2800" dirty="0" err="1">
                <a:latin typeface="TT Hoves" panose="020B0604020202020204" charset="0"/>
              </a:rPr>
              <a:t>evaluation</a:t>
            </a:r>
            <a:r>
              <a:rPr lang="fr-BE" sz="2800" dirty="0">
                <a:latin typeface="TT Hoves" panose="020B0604020202020204" charset="0"/>
              </a:rPr>
              <a:t>, </a:t>
            </a:r>
            <a:r>
              <a:rPr lang="fr-BE" sz="2800" dirty="0" err="1">
                <a:latin typeface="TT Hoves" panose="020B0604020202020204" charset="0"/>
              </a:rPr>
              <a:t>regression</a:t>
            </a:r>
            <a:r>
              <a:rPr lang="fr-BE" sz="2800" dirty="0">
                <a:latin typeface="TT Hoves" panose="020B0604020202020204" charset="0"/>
              </a:rPr>
              <a:t> modeling, and classification </a:t>
            </a:r>
            <a:r>
              <a:rPr lang="fr-BE" sz="2800" dirty="0" err="1">
                <a:latin typeface="TT Hoves" panose="020B0604020202020204" charset="0"/>
              </a:rPr>
              <a:t>models</a:t>
            </a:r>
            <a:r>
              <a:rPr lang="fr-BE" sz="2800" dirty="0">
                <a:latin typeface="TT Hoves" panose="020B0604020202020204" charset="0"/>
              </a:rPr>
              <a:t>.</a:t>
            </a:r>
          </a:p>
          <a:p>
            <a:endParaRPr lang="fr-BE" sz="2800" dirty="0">
              <a:latin typeface="TT Hoves" panose="020B0604020202020204" charset="0"/>
            </a:endParaRPr>
          </a:p>
          <a:p>
            <a:r>
              <a:rPr lang="fr-BE" sz="2800" dirty="0" err="1">
                <a:latin typeface="TT Hoves" panose="020B0604020202020204" charset="0"/>
              </a:rPr>
              <a:t>Through</a:t>
            </a:r>
            <a:r>
              <a:rPr lang="fr-BE" sz="2800" dirty="0">
                <a:latin typeface="TT Hoves" panose="020B0604020202020204" charset="0"/>
              </a:rPr>
              <a:t> </a:t>
            </a:r>
            <a:r>
              <a:rPr lang="fr-BE" sz="2800" dirty="0" err="1">
                <a:latin typeface="TT Hoves" panose="020B0604020202020204" charset="0"/>
              </a:rPr>
              <a:t>this</a:t>
            </a:r>
            <a:r>
              <a:rPr lang="fr-BE" sz="2800" dirty="0">
                <a:latin typeface="TT Hoves" panose="020B0604020202020204" charset="0"/>
              </a:rPr>
              <a:t> </a:t>
            </a:r>
            <a:r>
              <a:rPr lang="fr-BE" sz="2800" dirty="0" err="1">
                <a:latin typeface="TT Hoves" panose="020B0604020202020204" charset="0"/>
              </a:rPr>
              <a:t>project</a:t>
            </a:r>
            <a:r>
              <a:rPr lang="fr-BE" sz="2800" dirty="0">
                <a:latin typeface="TT Hoves" panose="020B0604020202020204" charset="0"/>
              </a:rPr>
              <a:t>, key </a:t>
            </a:r>
            <a:r>
              <a:rPr lang="fr-BE" sz="2800" dirty="0" err="1">
                <a:latin typeface="TT Hoves" panose="020B0604020202020204" charset="0"/>
              </a:rPr>
              <a:t>competencies</a:t>
            </a:r>
            <a:r>
              <a:rPr lang="fr-BE" sz="2800" dirty="0">
                <a:latin typeface="TT Hoves" panose="020B0604020202020204" charset="0"/>
              </a:rPr>
              <a:t> </a:t>
            </a:r>
            <a:r>
              <a:rPr lang="fr-BE" sz="2800" dirty="0" err="1">
                <a:latin typeface="TT Hoves" panose="020B0604020202020204" charset="0"/>
              </a:rPr>
              <a:t>were</a:t>
            </a:r>
            <a:r>
              <a:rPr lang="fr-BE" sz="2800" dirty="0">
                <a:latin typeface="TT Hoves" panose="020B0604020202020204" charset="0"/>
              </a:rPr>
              <a:t> </a:t>
            </a:r>
            <a:r>
              <a:rPr lang="fr-BE" sz="2800" dirty="0" err="1">
                <a:latin typeface="TT Hoves" panose="020B0604020202020204" charset="0"/>
              </a:rPr>
              <a:t>applied</a:t>
            </a:r>
            <a:r>
              <a:rPr lang="fr-BE" sz="2800" dirty="0">
                <a:latin typeface="TT Hoves" panose="020B0604020202020204" charset="0"/>
              </a:rPr>
              <a:t> </a:t>
            </a:r>
            <a:r>
              <a:rPr lang="fr-BE" sz="2800" dirty="0" err="1">
                <a:latin typeface="TT Hoves" panose="020B0604020202020204" charset="0"/>
              </a:rPr>
              <a:t>across</a:t>
            </a:r>
            <a:r>
              <a:rPr lang="fr-BE" sz="2800" dirty="0">
                <a:latin typeface="TT Hoves" panose="020B0604020202020204" charset="0"/>
              </a:rPr>
              <a:t> data engineering, data modeling, SQL </a:t>
            </a:r>
            <a:r>
              <a:rPr lang="fr-BE" sz="2800" dirty="0" err="1">
                <a:latin typeface="TT Hoves" panose="020B0604020202020204" charset="0"/>
              </a:rPr>
              <a:t>development</a:t>
            </a:r>
            <a:r>
              <a:rPr lang="fr-BE" sz="2800" dirty="0">
                <a:latin typeface="TT Hoves" panose="020B0604020202020204" charset="0"/>
              </a:rPr>
              <a:t>, machine </a:t>
            </a:r>
            <a:r>
              <a:rPr lang="fr-BE" sz="2800" dirty="0" err="1">
                <a:latin typeface="TT Hoves" panose="020B0604020202020204" charset="0"/>
              </a:rPr>
              <a:t>learning</a:t>
            </a:r>
            <a:r>
              <a:rPr lang="fr-BE" sz="2800" dirty="0">
                <a:latin typeface="TT Hoves" panose="020B0604020202020204" charset="0"/>
              </a:rPr>
              <a:t>, and business </a:t>
            </a:r>
            <a:r>
              <a:rPr lang="fr-BE" sz="2800" dirty="0" err="1">
                <a:latin typeface="TT Hoves" panose="020B0604020202020204" charset="0"/>
              </a:rPr>
              <a:t>analytics</a:t>
            </a:r>
            <a:r>
              <a:rPr lang="fr-BE" sz="2800" dirty="0">
                <a:latin typeface="TT Hoves" panose="020B0604020202020204" charset="0"/>
              </a:rPr>
              <a:t>, </a:t>
            </a:r>
            <a:r>
              <a:rPr lang="fr-BE" sz="2800" dirty="0" err="1">
                <a:latin typeface="TT Hoves" panose="020B0604020202020204" charset="0"/>
              </a:rPr>
              <a:t>providing</a:t>
            </a:r>
            <a:r>
              <a:rPr lang="fr-BE" sz="2800" dirty="0">
                <a:latin typeface="TT Hoves" panose="020B0604020202020204" charset="0"/>
              </a:rPr>
              <a:t> an end-to-end </a:t>
            </a:r>
            <a:r>
              <a:rPr lang="fr-BE" sz="2800" dirty="0" err="1">
                <a:latin typeface="TT Hoves" panose="020B0604020202020204" charset="0"/>
              </a:rPr>
              <a:t>view</a:t>
            </a:r>
            <a:r>
              <a:rPr lang="fr-BE" sz="2800" dirty="0">
                <a:latin typeface="TT Hoves" panose="020B0604020202020204" charset="0"/>
              </a:rPr>
              <a:t> of how data can </a:t>
            </a:r>
            <a:r>
              <a:rPr lang="fr-BE" sz="2800" dirty="0" err="1">
                <a:latin typeface="TT Hoves" panose="020B0604020202020204" charset="0"/>
              </a:rPr>
              <a:t>be</a:t>
            </a:r>
            <a:r>
              <a:rPr lang="fr-BE" sz="2800" dirty="0">
                <a:latin typeface="TT Hoves" panose="020B0604020202020204" charset="0"/>
              </a:rPr>
              <a:t> </a:t>
            </a:r>
            <a:r>
              <a:rPr lang="fr-BE" sz="2800" dirty="0" err="1">
                <a:latin typeface="TT Hoves" panose="020B0604020202020204" charset="0"/>
              </a:rPr>
              <a:t>transformed</a:t>
            </a:r>
            <a:r>
              <a:rPr lang="fr-BE" sz="2800" dirty="0">
                <a:latin typeface="TT Hoves" panose="020B0604020202020204" charset="0"/>
              </a:rPr>
              <a:t> </a:t>
            </a:r>
            <a:r>
              <a:rPr lang="fr-BE" sz="2800" dirty="0" err="1">
                <a:latin typeface="TT Hoves" panose="020B0604020202020204" charset="0"/>
              </a:rPr>
              <a:t>into</a:t>
            </a:r>
            <a:r>
              <a:rPr lang="fr-BE" sz="2800" dirty="0">
                <a:latin typeface="TT Hoves" panose="020B0604020202020204" charset="0"/>
              </a:rPr>
              <a:t> </a:t>
            </a:r>
            <a:r>
              <a:rPr lang="fr-BE" sz="2800" dirty="0" err="1">
                <a:latin typeface="TT Hoves" panose="020B0604020202020204" charset="0"/>
              </a:rPr>
              <a:t>actionable</a:t>
            </a:r>
            <a:r>
              <a:rPr lang="fr-BE" sz="2800" dirty="0">
                <a:latin typeface="TT Hoves" panose="020B0604020202020204" charset="0"/>
              </a:rPr>
              <a:t> insights.</a:t>
            </a:r>
          </a:p>
          <a:p>
            <a:endParaRPr lang="fr-BE" sz="2800" dirty="0">
              <a:latin typeface="TT Hoves" panose="020B06040202020202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778033" y="3268154"/>
            <a:ext cx="2884334" cy="1491825"/>
          </a:xfrm>
          <a:custGeom>
            <a:avLst/>
            <a:gdLst/>
            <a:ahLst/>
            <a:cxnLst/>
            <a:rect l="l" t="t" r="r" b="b"/>
            <a:pathLst>
              <a:path w="15880357" h="4430441">
                <a:moveTo>
                  <a:pt x="0" y="0"/>
                </a:moveTo>
                <a:lnTo>
                  <a:pt x="15880356" y="0"/>
                </a:lnTo>
                <a:lnTo>
                  <a:pt x="15880356" y="4430442"/>
                </a:lnTo>
                <a:lnTo>
                  <a:pt x="0" y="44304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5948" b="-1002"/>
            </a:stretch>
          </a:blipFill>
        </p:spPr>
        <p:txBody>
          <a:bodyPr/>
          <a:lstStyle/>
          <a:p>
            <a:endParaRPr lang="fr-BE"/>
          </a:p>
        </p:txBody>
      </p:sp>
      <p:sp>
        <p:nvSpPr>
          <p:cNvPr id="5" name="TextBox 5"/>
          <p:cNvSpPr txBox="1"/>
          <p:nvPr/>
        </p:nvSpPr>
        <p:spPr>
          <a:xfrm>
            <a:off x="4004610" y="4944554"/>
            <a:ext cx="11639114" cy="671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6000" b="1" dirty="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Thank you for your time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5D8B8C49-92A8-570B-5326-77CDDB38AB5F}"/>
              </a:ext>
            </a:extLst>
          </p:cNvPr>
          <p:cNvSpPr txBox="1"/>
          <p:nvPr/>
        </p:nvSpPr>
        <p:spPr>
          <a:xfrm>
            <a:off x="4419600" y="5829300"/>
            <a:ext cx="115061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800">
                <a:latin typeface="TT Hoves Bold" panose="020B0604020202020204" charset="0"/>
              </a:defRPr>
            </a:lvl1pPr>
          </a:lstStyle>
          <a:p>
            <a:r>
              <a:rPr lang="en-US" dirty="0">
                <a:sym typeface="Montserrat"/>
              </a:rPr>
              <a:t>https://github.com/ferrettijaime-cmd/Professional_portfolio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598</Words>
  <Application>Microsoft Office PowerPoint</Application>
  <PresentationFormat>Personnalisé</PresentationFormat>
  <Paragraphs>98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5" baseType="lpstr">
      <vt:lpstr>Arial</vt:lpstr>
      <vt:lpstr>Montserrat</vt:lpstr>
      <vt:lpstr>Calibri</vt:lpstr>
      <vt:lpstr>TT Hoves</vt:lpstr>
      <vt:lpstr>Wingdings</vt:lpstr>
      <vt:lpstr>TT Hoves Bold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Jeanina Martinez</cp:lastModifiedBy>
  <cp:revision>3</cp:revision>
  <dcterms:created xsi:type="dcterms:W3CDTF">2006-08-16T00:00:00Z</dcterms:created>
  <dcterms:modified xsi:type="dcterms:W3CDTF">2026-06-05T13:43:10Z</dcterms:modified>
  <dc:identifier>DAHLsVYy8HU</dc:identifier>
</cp:coreProperties>
</file>