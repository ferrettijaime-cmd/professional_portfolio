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59" r:id="rId6"/>
    <p:sldId id="261" r:id="rId7"/>
    <p:sldId id="262" r:id="rId8"/>
    <p:sldId id="263" r:id="rId9"/>
    <p:sldId id="265" r:id="rId10"/>
  </p:sldIdLst>
  <p:sldSz cx="18288000" cy="10287000"/>
  <p:notesSz cx="6858000" cy="9144000"/>
  <p:embeddedFontLst>
    <p:embeddedFont>
      <p:font typeface="Inter Extra-Light" panose="020B0604020202020204" charset="0"/>
      <p:regular r:id="rId11"/>
    </p:embeddedFont>
    <p:embeddedFont>
      <p:font typeface="Poppins" panose="00000500000000000000" pitchFamily="2" charset="0"/>
      <p:regular r:id="rId12"/>
      <p:bold r:id="rId13"/>
    </p:embeddedFont>
    <p:embeddedFont>
      <p:font typeface="Poppins Light" panose="00000400000000000000" pitchFamily="2" charset="0"/>
      <p:regular r:id="rId14"/>
      <p:italic r:id="rId15"/>
    </p:embeddedFont>
    <p:embeddedFont>
      <p:font typeface="Poppins Medium" panose="00000600000000000000"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96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62AEF3-8548-4E27-A17D-762004C386FF}" type="doc">
      <dgm:prSet loTypeId="urn:microsoft.com/office/officeart/2008/layout/SquareAccentList" loCatId="list" qsTypeId="urn:microsoft.com/office/officeart/2005/8/quickstyle/simple1" qsCatId="simple" csTypeId="urn:microsoft.com/office/officeart/2005/8/colors/accent1_2" csCatId="accent1" phldr="1"/>
      <dgm:spPr/>
      <dgm:t>
        <a:bodyPr/>
        <a:lstStyle/>
        <a:p>
          <a:endParaRPr lang="fr-BE"/>
        </a:p>
      </dgm:t>
    </dgm:pt>
    <dgm:pt modelId="{DCE04B8C-A09A-4804-ACA7-EAF5A4AC2B60}">
      <dgm:prSet phldrT="[Texte]"/>
      <dgm:spPr/>
      <dgm:t>
        <a:bodyPr/>
        <a:lstStyle/>
        <a:p>
          <a:pPr>
            <a:buNone/>
          </a:pPr>
          <a:r>
            <a:rPr lang="fr-BE" dirty="0" err="1">
              <a:solidFill>
                <a:schemeClr val="bg1"/>
              </a:solidFill>
              <a:latin typeface="Inter Extra-Light" panose="020B0604020202020204" charset="0"/>
              <a:ea typeface="Inter Extra-Light" panose="020B0604020202020204" charset="0"/>
            </a:rPr>
            <a:t>Potential</a:t>
          </a:r>
          <a:r>
            <a:rPr lang="fr-BE" dirty="0">
              <a:solidFill>
                <a:schemeClr val="bg1"/>
              </a:solidFill>
              <a:latin typeface="Inter Extra-Light" panose="020B0604020202020204" charset="0"/>
              <a:ea typeface="Inter Extra-Light" panose="020B0604020202020204" charset="0"/>
            </a:rPr>
            <a:t> </a:t>
          </a:r>
          <a:r>
            <a:rPr lang="fr-BE" dirty="0" err="1">
              <a:solidFill>
                <a:schemeClr val="bg1"/>
              </a:solidFill>
              <a:latin typeface="Inter Extra-Light" panose="020B0604020202020204" charset="0"/>
              <a:ea typeface="Inter Extra-Light" panose="020B0604020202020204" charset="0"/>
            </a:rPr>
            <a:t>Advantages</a:t>
          </a:r>
          <a:endParaRPr lang="fr-BE" dirty="0">
            <a:solidFill>
              <a:schemeClr val="bg1"/>
            </a:solidFill>
            <a:latin typeface="Inter Extra-Light" panose="020B0604020202020204" charset="0"/>
            <a:ea typeface="Inter Extra-Light" panose="020B0604020202020204" charset="0"/>
          </a:endParaRPr>
        </a:p>
      </dgm:t>
    </dgm:pt>
    <dgm:pt modelId="{3745D141-677A-4D2C-8FE2-6859D69084CA}" type="parTrans" cxnId="{211B40F0-17B5-4DF4-A734-5095B118F7D2}">
      <dgm:prSet/>
      <dgm:spPr/>
      <dgm:t>
        <a:bodyPr/>
        <a:lstStyle/>
        <a:p>
          <a:endParaRPr lang="fr-BE">
            <a:solidFill>
              <a:schemeClr val="bg1"/>
            </a:solidFill>
            <a:latin typeface="Inter Extra-Light" panose="020B0604020202020204" charset="0"/>
            <a:ea typeface="Inter Extra-Light" panose="020B0604020202020204" charset="0"/>
          </a:endParaRPr>
        </a:p>
      </dgm:t>
    </dgm:pt>
    <dgm:pt modelId="{517D9AA3-B439-45C3-84BF-F9744EA42D0E}" type="sibTrans" cxnId="{211B40F0-17B5-4DF4-A734-5095B118F7D2}">
      <dgm:prSet/>
      <dgm:spPr/>
      <dgm:t>
        <a:bodyPr/>
        <a:lstStyle/>
        <a:p>
          <a:endParaRPr lang="fr-BE">
            <a:solidFill>
              <a:schemeClr val="bg1"/>
            </a:solidFill>
            <a:latin typeface="Inter Extra-Light" panose="020B0604020202020204" charset="0"/>
            <a:ea typeface="Inter Extra-Light" panose="020B0604020202020204" charset="0"/>
          </a:endParaRPr>
        </a:p>
      </dgm:t>
    </dgm:pt>
    <dgm:pt modelId="{B5212A7C-0CCC-4E53-A71F-27BA8DBEF13E}">
      <dgm:prSet phldrT="[Texte]" custT="1"/>
      <dgm:spPr/>
      <dgm:t>
        <a:bodyPr/>
        <a:lstStyle/>
        <a:p>
          <a:pPr>
            <a:buNone/>
          </a:pPr>
          <a:r>
            <a:rPr lang="fr-BE" sz="2800" dirty="0" err="1">
              <a:solidFill>
                <a:schemeClr val="bg1"/>
              </a:solidFill>
              <a:latin typeface="Inter Extra-Light" panose="020B0604020202020204" charset="0"/>
              <a:ea typeface="Inter Extra-Light" panose="020B0604020202020204" charset="0"/>
            </a:rPr>
            <a:t>Higher</a:t>
          </a:r>
          <a:r>
            <a:rPr lang="fr-BE" sz="2800" dirty="0">
              <a:solidFill>
                <a:schemeClr val="bg1"/>
              </a:solidFill>
              <a:latin typeface="Inter Extra-Light" panose="020B0604020202020204" charset="0"/>
              <a:ea typeface="Inter Extra-Light" panose="020B0604020202020204" charset="0"/>
            </a:rPr>
            <a:t> </a:t>
          </a:r>
          <a:r>
            <a:rPr lang="fr-BE" sz="2800" dirty="0" err="1">
              <a:solidFill>
                <a:schemeClr val="bg1"/>
              </a:solidFill>
              <a:latin typeface="Inter Extra-Light" panose="020B0604020202020204" charset="0"/>
              <a:ea typeface="Inter Extra-Light" panose="020B0604020202020204" charset="0"/>
            </a:rPr>
            <a:t>customer</a:t>
          </a:r>
          <a:r>
            <a:rPr lang="fr-BE" sz="2800" dirty="0">
              <a:solidFill>
                <a:schemeClr val="bg1"/>
              </a:solidFill>
              <a:latin typeface="Inter Extra-Light" panose="020B0604020202020204" charset="0"/>
              <a:ea typeface="Inter Extra-Light" panose="020B0604020202020204" charset="0"/>
            </a:rPr>
            <a:t> satisfaction</a:t>
          </a:r>
        </a:p>
      </dgm:t>
    </dgm:pt>
    <dgm:pt modelId="{041C51F1-5A0F-4210-8C12-FA9CD4A619DB}" type="parTrans" cxnId="{104DD745-0CEA-4838-B511-289848B36915}">
      <dgm:prSet/>
      <dgm:spPr/>
      <dgm:t>
        <a:bodyPr/>
        <a:lstStyle/>
        <a:p>
          <a:endParaRPr lang="fr-BE">
            <a:solidFill>
              <a:schemeClr val="bg1"/>
            </a:solidFill>
            <a:latin typeface="Inter Extra-Light" panose="020B0604020202020204" charset="0"/>
            <a:ea typeface="Inter Extra-Light" panose="020B0604020202020204" charset="0"/>
          </a:endParaRPr>
        </a:p>
      </dgm:t>
    </dgm:pt>
    <dgm:pt modelId="{C59CFFBE-E577-45E9-A619-CA1C09785942}" type="sibTrans" cxnId="{104DD745-0CEA-4838-B511-289848B36915}">
      <dgm:prSet/>
      <dgm:spPr/>
      <dgm:t>
        <a:bodyPr/>
        <a:lstStyle/>
        <a:p>
          <a:endParaRPr lang="fr-BE">
            <a:solidFill>
              <a:schemeClr val="bg1"/>
            </a:solidFill>
            <a:latin typeface="Inter Extra-Light" panose="020B0604020202020204" charset="0"/>
            <a:ea typeface="Inter Extra-Light" panose="020B0604020202020204" charset="0"/>
          </a:endParaRPr>
        </a:p>
      </dgm:t>
    </dgm:pt>
    <dgm:pt modelId="{8C262A60-6C99-4E05-B51D-95F5DED47BAD}">
      <dgm:prSet phldrT="[Texte]" custT="1"/>
      <dgm:spPr/>
      <dgm:t>
        <a:bodyPr/>
        <a:lstStyle/>
        <a:p>
          <a:pPr>
            <a:buNone/>
          </a:pPr>
          <a:r>
            <a:rPr lang="fr-BE" sz="2800" dirty="0">
              <a:solidFill>
                <a:schemeClr val="bg1"/>
              </a:solidFill>
              <a:latin typeface="Inter Extra-Light" panose="020B0604020202020204" charset="0"/>
              <a:ea typeface="Inter Extra-Light" panose="020B0604020202020204" charset="0"/>
            </a:rPr>
            <a:t>Positive </a:t>
          </a:r>
          <a:r>
            <a:rPr lang="fr-BE" sz="2800" dirty="0" err="1">
              <a:solidFill>
                <a:schemeClr val="bg1"/>
              </a:solidFill>
              <a:latin typeface="Inter Extra-Light" panose="020B0604020202020204" charset="0"/>
              <a:ea typeface="Inter Extra-Light" panose="020B0604020202020204" charset="0"/>
            </a:rPr>
            <a:t>reviews</a:t>
          </a:r>
          <a:r>
            <a:rPr lang="fr-BE" sz="2800" dirty="0">
              <a:solidFill>
                <a:schemeClr val="bg1"/>
              </a:solidFill>
              <a:latin typeface="Inter Extra-Light" panose="020B0604020202020204" charset="0"/>
              <a:ea typeface="Inter Extra-Light" panose="020B0604020202020204" charset="0"/>
            </a:rPr>
            <a:t> and trust</a:t>
          </a:r>
        </a:p>
      </dgm:t>
    </dgm:pt>
    <dgm:pt modelId="{2174ADEA-249A-47C8-93E9-01C86AA3C65C}" type="parTrans" cxnId="{616F5562-C639-45E2-99C0-86F623A59B96}">
      <dgm:prSet/>
      <dgm:spPr/>
      <dgm:t>
        <a:bodyPr/>
        <a:lstStyle/>
        <a:p>
          <a:endParaRPr lang="fr-BE">
            <a:solidFill>
              <a:schemeClr val="bg1"/>
            </a:solidFill>
            <a:latin typeface="Inter Extra-Light" panose="020B0604020202020204" charset="0"/>
            <a:ea typeface="Inter Extra-Light" panose="020B0604020202020204" charset="0"/>
          </a:endParaRPr>
        </a:p>
      </dgm:t>
    </dgm:pt>
    <dgm:pt modelId="{05381261-E363-4FA2-947B-FDA2A05414CF}" type="sibTrans" cxnId="{616F5562-C639-45E2-99C0-86F623A59B96}">
      <dgm:prSet/>
      <dgm:spPr/>
      <dgm:t>
        <a:bodyPr/>
        <a:lstStyle/>
        <a:p>
          <a:endParaRPr lang="fr-BE">
            <a:solidFill>
              <a:schemeClr val="bg1"/>
            </a:solidFill>
            <a:latin typeface="Inter Extra-Light" panose="020B0604020202020204" charset="0"/>
            <a:ea typeface="Inter Extra-Light" panose="020B0604020202020204" charset="0"/>
          </a:endParaRPr>
        </a:p>
      </dgm:t>
    </dgm:pt>
    <dgm:pt modelId="{49543044-BD6E-499C-BFBC-B03D818BB93A}">
      <dgm:prSet phldrT="[Texte]" custT="1"/>
      <dgm:spPr/>
      <dgm:t>
        <a:bodyPr/>
        <a:lstStyle/>
        <a:p>
          <a:pPr>
            <a:buNone/>
          </a:pPr>
          <a:r>
            <a:rPr lang="fr-BE" sz="2800" dirty="0" err="1">
              <a:solidFill>
                <a:schemeClr val="bg1"/>
              </a:solidFill>
              <a:latin typeface="Inter Extra-Light" panose="020B0604020202020204" charset="0"/>
              <a:ea typeface="Inter Extra-Light" panose="020B0604020202020204" charset="0"/>
            </a:rPr>
            <a:t>Reduced</a:t>
          </a:r>
          <a:r>
            <a:rPr lang="fr-BE" sz="2800" dirty="0">
              <a:solidFill>
                <a:schemeClr val="bg1"/>
              </a:solidFill>
              <a:latin typeface="Inter Extra-Light" panose="020B0604020202020204" charset="0"/>
              <a:ea typeface="Inter Extra-Light" panose="020B0604020202020204" charset="0"/>
            </a:rPr>
            <a:t> SLA violations</a:t>
          </a:r>
        </a:p>
      </dgm:t>
    </dgm:pt>
    <dgm:pt modelId="{DAC17550-05DC-48D5-88C6-BC52A2A622C3}" type="parTrans" cxnId="{AEECA19F-1252-4AE3-BF0C-A79F9807FB1D}">
      <dgm:prSet/>
      <dgm:spPr/>
      <dgm:t>
        <a:bodyPr/>
        <a:lstStyle/>
        <a:p>
          <a:endParaRPr lang="fr-BE">
            <a:solidFill>
              <a:schemeClr val="bg1"/>
            </a:solidFill>
            <a:latin typeface="Inter Extra-Light" panose="020B0604020202020204" charset="0"/>
            <a:ea typeface="Inter Extra-Light" panose="020B0604020202020204" charset="0"/>
          </a:endParaRPr>
        </a:p>
      </dgm:t>
    </dgm:pt>
    <dgm:pt modelId="{540AC020-5044-4232-9AF2-DE823D21A2C2}" type="sibTrans" cxnId="{AEECA19F-1252-4AE3-BF0C-A79F9807FB1D}">
      <dgm:prSet/>
      <dgm:spPr/>
      <dgm:t>
        <a:bodyPr/>
        <a:lstStyle/>
        <a:p>
          <a:endParaRPr lang="fr-BE">
            <a:solidFill>
              <a:schemeClr val="bg1"/>
            </a:solidFill>
            <a:latin typeface="Inter Extra-Light" panose="020B0604020202020204" charset="0"/>
            <a:ea typeface="Inter Extra-Light" panose="020B0604020202020204" charset="0"/>
          </a:endParaRPr>
        </a:p>
      </dgm:t>
    </dgm:pt>
    <dgm:pt modelId="{58518ACD-FA9C-4262-A5FE-588894C1FE1E}">
      <dgm:prSet phldrT="[Texte]"/>
      <dgm:spPr/>
      <dgm:t>
        <a:bodyPr/>
        <a:lstStyle/>
        <a:p>
          <a:pPr>
            <a:buNone/>
          </a:pPr>
          <a:r>
            <a:rPr lang="fr-BE" dirty="0" err="1">
              <a:solidFill>
                <a:schemeClr val="bg1"/>
              </a:solidFill>
              <a:latin typeface="Inter Extra-Light" panose="020B0604020202020204" charset="0"/>
              <a:ea typeface="Inter Extra-Light" panose="020B0604020202020204" charset="0"/>
            </a:rPr>
            <a:t>Potential</a:t>
          </a:r>
          <a:r>
            <a:rPr lang="fr-BE" dirty="0">
              <a:solidFill>
                <a:schemeClr val="bg1"/>
              </a:solidFill>
              <a:latin typeface="Inter Extra-Light" panose="020B0604020202020204" charset="0"/>
              <a:ea typeface="Inter Extra-Light" panose="020B0604020202020204" charset="0"/>
            </a:rPr>
            <a:t> Risks</a:t>
          </a:r>
        </a:p>
      </dgm:t>
    </dgm:pt>
    <dgm:pt modelId="{77E2A7E9-36F8-43F0-9E2E-E90567398C33}" type="parTrans" cxnId="{3AFCF610-3EA1-43D3-BCBF-CAE9B737A4C6}">
      <dgm:prSet/>
      <dgm:spPr/>
      <dgm:t>
        <a:bodyPr/>
        <a:lstStyle/>
        <a:p>
          <a:endParaRPr lang="fr-BE">
            <a:solidFill>
              <a:schemeClr val="bg1"/>
            </a:solidFill>
            <a:latin typeface="Inter Extra-Light" panose="020B0604020202020204" charset="0"/>
            <a:ea typeface="Inter Extra-Light" panose="020B0604020202020204" charset="0"/>
          </a:endParaRPr>
        </a:p>
      </dgm:t>
    </dgm:pt>
    <dgm:pt modelId="{EEE69A84-2FB4-4733-B374-8C9F2BABB161}" type="sibTrans" cxnId="{3AFCF610-3EA1-43D3-BCBF-CAE9B737A4C6}">
      <dgm:prSet/>
      <dgm:spPr/>
      <dgm:t>
        <a:bodyPr/>
        <a:lstStyle/>
        <a:p>
          <a:endParaRPr lang="fr-BE">
            <a:solidFill>
              <a:schemeClr val="bg1"/>
            </a:solidFill>
            <a:latin typeface="Inter Extra-Light" panose="020B0604020202020204" charset="0"/>
            <a:ea typeface="Inter Extra-Light" panose="020B0604020202020204" charset="0"/>
          </a:endParaRPr>
        </a:p>
      </dgm:t>
    </dgm:pt>
    <dgm:pt modelId="{7156865E-20C1-4FD8-867C-E02490395626}">
      <dgm:prSet phldrT="[Texte]" custT="1"/>
      <dgm:spPr/>
      <dgm:t>
        <a:bodyPr/>
        <a:lstStyle/>
        <a:p>
          <a:pPr>
            <a:buNone/>
          </a:pPr>
          <a:r>
            <a:rPr lang="en-US" sz="2800" dirty="0">
              <a:solidFill>
                <a:schemeClr val="bg1"/>
              </a:solidFill>
              <a:latin typeface="Inter Extra-Light" panose="020B0604020202020204" charset="0"/>
              <a:ea typeface="Inter Extra-Light" panose="020B0604020202020204" charset="0"/>
            </a:rPr>
            <a:t>Customers may perceive delivery times as too long</a:t>
          </a:r>
          <a:endParaRPr lang="fr-BE" sz="2800" dirty="0">
            <a:solidFill>
              <a:schemeClr val="bg1"/>
            </a:solidFill>
            <a:latin typeface="Inter Extra-Light" panose="020B0604020202020204" charset="0"/>
            <a:ea typeface="Inter Extra-Light" panose="020B0604020202020204" charset="0"/>
          </a:endParaRPr>
        </a:p>
      </dgm:t>
    </dgm:pt>
    <dgm:pt modelId="{4520A2A7-F703-48F8-AD34-9FC2354012B7}" type="parTrans" cxnId="{157AAD03-CF9B-4D60-931A-795306C70A6D}">
      <dgm:prSet/>
      <dgm:spPr/>
      <dgm:t>
        <a:bodyPr/>
        <a:lstStyle/>
        <a:p>
          <a:endParaRPr lang="fr-BE">
            <a:solidFill>
              <a:schemeClr val="bg1"/>
            </a:solidFill>
            <a:latin typeface="Inter Extra-Light" panose="020B0604020202020204" charset="0"/>
            <a:ea typeface="Inter Extra-Light" panose="020B0604020202020204" charset="0"/>
          </a:endParaRPr>
        </a:p>
      </dgm:t>
    </dgm:pt>
    <dgm:pt modelId="{E1E72F23-E61D-4503-87A6-7D9D5B6CCEC8}" type="sibTrans" cxnId="{157AAD03-CF9B-4D60-931A-795306C70A6D}">
      <dgm:prSet/>
      <dgm:spPr/>
      <dgm:t>
        <a:bodyPr/>
        <a:lstStyle/>
        <a:p>
          <a:endParaRPr lang="fr-BE">
            <a:solidFill>
              <a:schemeClr val="bg1"/>
            </a:solidFill>
            <a:latin typeface="Inter Extra-Light" panose="020B0604020202020204" charset="0"/>
            <a:ea typeface="Inter Extra-Light" panose="020B0604020202020204" charset="0"/>
          </a:endParaRPr>
        </a:p>
      </dgm:t>
    </dgm:pt>
    <dgm:pt modelId="{9CDC21A3-80C6-4DD4-B0CC-5F3897CC871A}">
      <dgm:prSet phldrT="[Texte]" custT="1"/>
      <dgm:spPr/>
      <dgm:t>
        <a:bodyPr/>
        <a:lstStyle/>
        <a:p>
          <a:pPr>
            <a:buNone/>
          </a:pPr>
          <a:r>
            <a:rPr lang="fr-BE" sz="2800" dirty="0">
              <a:solidFill>
                <a:schemeClr val="bg1"/>
              </a:solidFill>
              <a:latin typeface="Inter Extra-Light" panose="020B0604020202020204" charset="0"/>
              <a:ea typeface="Inter Extra-Light" panose="020B0604020202020204" charset="0"/>
            </a:rPr>
            <a:t>Lower </a:t>
          </a:r>
          <a:r>
            <a:rPr lang="fr-BE" sz="2800" dirty="0" err="1">
              <a:solidFill>
                <a:schemeClr val="bg1"/>
              </a:solidFill>
              <a:latin typeface="Inter Extra-Light" panose="020B0604020202020204" charset="0"/>
              <a:ea typeface="Inter Extra-Light" panose="020B0604020202020204" charset="0"/>
            </a:rPr>
            <a:t>purchase</a:t>
          </a:r>
          <a:r>
            <a:rPr lang="fr-BE" sz="2800" dirty="0">
              <a:solidFill>
                <a:schemeClr val="bg1"/>
              </a:solidFill>
              <a:latin typeface="Inter Extra-Light" panose="020B0604020202020204" charset="0"/>
              <a:ea typeface="Inter Extra-Light" panose="020B0604020202020204" charset="0"/>
            </a:rPr>
            <a:t> conversion</a:t>
          </a:r>
        </a:p>
      </dgm:t>
    </dgm:pt>
    <dgm:pt modelId="{A9782F04-665E-4D9B-884D-67EC98C4750E}" type="parTrans" cxnId="{1D8D736C-187B-4E9C-BAAF-C7623B2EF5CD}">
      <dgm:prSet/>
      <dgm:spPr/>
      <dgm:t>
        <a:bodyPr/>
        <a:lstStyle/>
        <a:p>
          <a:endParaRPr lang="fr-BE">
            <a:solidFill>
              <a:schemeClr val="bg1"/>
            </a:solidFill>
            <a:latin typeface="Inter Extra-Light" panose="020B0604020202020204" charset="0"/>
            <a:ea typeface="Inter Extra-Light" panose="020B0604020202020204" charset="0"/>
          </a:endParaRPr>
        </a:p>
      </dgm:t>
    </dgm:pt>
    <dgm:pt modelId="{989FC8E5-A668-4809-ADBA-8D4FD79A4560}" type="sibTrans" cxnId="{1D8D736C-187B-4E9C-BAAF-C7623B2EF5CD}">
      <dgm:prSet/>
      <dgm:spPr/>
      <dgm:t>
        <a:bodyPr/>
        <a:lstStyle/>
        <a:p>
          <a:endParaRPr lang="fr-BE">
            <a:solidFill>
              <a:schemeClr val="bg1"/>
            </a:solidFill>
            <a:latin typeface="Inter Extra-Light" panose="020B0604020202020204" charset="0"/>
            <a:ea typeface="Inter Extra-Light" panose="020B0604020202020204" charset="0"/>
          </a:endParaRPr>
        </a:p>
      </dgm:t>
    </dgm:pt>
    <dgm:pt modelId="{BB385E8D-4333-484A-935D-D13E3DD866C8}">
      <dgm:prSet phldrT="[Texte]" custT="1"/>
      <dgm:spPr/>
      <dgm:t>
        <a:bodyPr/>
        <a:lstStyle/>
        <a:p>
          <a:pPr>
            <a:buNone/>
          </a:pPr>
          <a:r>
            <a:rPr lang="fr-BE" sz="2800" dirty="0" err="1">
              <a:solidFill>
                <a:schemeClr val="bg1"/>
              </a:solidFill>
              <a:latin typeface="Inter Extra-Light" panose="020B0604020202020204" charset="0"/>
              <a:ea typeface="Inter Extra-Light" panose="020B0604020202020204" charset="0"/>
            </a:rPr>
            <a:t>Competitive</a:t>
          </a:r>
          <a:r>
            <a:rPr lang="fr-BE" sz="2800" dirty="0">
              <a:solidFill>
                <a:schemeClr val="bg1"/>
              </a:solidFill>
              <a:latin typeface="Inter Extra-Light" panose="020B0604020202020204" charset="0"/>
              <a:ea typeface="Inter Extra-Light" panose="020B0604020202020204" charset="0"/>
            </a:rPr>
            <a:t> </a:t>
          </a:r>
          <a:r>
            <a:rPr lang="fr-BE" sz="2800" dirty="0" err="1">
              <a:solidFill>
                <a:schemeClr val="bg1"/>
              </a:solidFill>
              <a:latin typeface="Inter Extra-Light" panose="020B0604020202020204" charset="0"/>
              <a:ea typeface="Inter Extra-Light" panose="020B0604020202020204" charset="0"/>
            </a:rPr>
            <a:t>disadvantage</a:t>
          </a:r>
          <a:endParaRPr lang="fr-BE" sz="2800" dirty="0">
            <a:solidFill>
              <a:schemeClr val="bg1"/>
            </a:solidFill>
            <a:latin typeface="Inter Extra-Light" panose="020B0604020202020204" charset="0"/>
            <a:ea typeface="Inter Extra-Light" panose="020B0604020202020204" charset="0"/>
          </a:endParaRPr>
        </a:p>
      </dgm:t>
    </dgm:pt>
    <dgm:pt modelId="{A3D674DD-21AA-4809-B422-910BD4612CE3}" type="parTrans" cxnId="{914C81B0-A6FD-44CF-AEA5-F01C13485519}">
      <dgm:prSet/>
      <dgm:spPr/>
      <dgm:t>
        <a:bodyPr/>
        <a:lstStyle/>
        <a:p>
          <a:endParaRPr lang="fr-BE">
            <a:solidFill>
              <a:schemeClr val="bg1"/>
            </a:solidFill>
            <a:latin typeface="Inter Extra-Light" panose="020B0604020202020204" charset="0"/>
            <a:ea typeface="Inter Extra-Light" panose="020B0604020202020204" charset="0"/>
          </a:endParaRPr>
        </a:p>
      </dgm:t>
    </dgm:pt>
    <dgm:pt modelId="{1E54F695-75CA-4D9D-A4C5-A55B8E6039EC}" type="sibTrans" cxnId="{914C81B0-A6FD-44CF-AEA5-F01C13485519}">
      <dgm:prSet/>
      <dgm:spPr/>
      <dgm:t>
        <a:bodyPr/>
        <a:lstStyle/>
        <a:p>
          <a:endParaRPr lang="fr-BE">
            <a:solidFill>
              <a:schemeClr val="bg1"/>
            </a:solidFill>
            <a:latin typeface="Inter Extra-Light" panose="020B0604020202020204" charset="0"/>
            <a:ea typeface="Inter Extra-Light" panose="020B0604020202020204" charset="0"/>
          </a:endParaRPr>
        </a:p>
      </dgm:t>
    </dgm:pt>
    <dgm:pt modelId="{3AAF5398-391B-41F7-959F-3BA22A11279B}" type="pres">
      <dgm:prSet presAssocID="{0462AEF3-8548-4E27-A17D-762004C386FF}" presName="layout" presStyleCnt="0">
        <dgm:presLayoutVars>
          <dgm:chMax/>
          <dgm:chPref/>
          <dgm:dir/>
          <dgm:resizeHandles/>
        </dgm:presLayoutVars>
      </dgm:prSet>
      <dgm:spPr/>
    </dgm:pt>
    <dgm:pt modelId="{8218A912-2FA9-4F80-9792-057479846F4F}" type="pres">
      <dgm:prSet presAssocID="{DCE04B8C-A09A-4804-ACA7-EAF5A4AC2B60}" presName="root" presStyleCnt="0">
        <dgm:presLayoutVars>
          <dgm:chMax/>
          <dgm:chPref/>
        </dgm:presLayoutVars>
      </dgm:prSet>
      <dgm:spPr/>
    </dgm:pt>
    <dgm:pt modelId="{72D0B3C7-62B1-4691-B649-FFBD6E413559}" type="pres">
      <dgm:prSet presAssocID="{DCE04B8C-A09A-4804-ACA7-EAF5A4AC2B60}" presName="rootComposite" presStyleCnt="0">
        <dgm:presLayoutVars/>
      </dgm:prSet>
      <dgm:spPr/>
    </dgm:pt>
    <dgm:pt modelId="{5FB07EFF-4B4B-4F20-A92E-0333C33A6EBB}" type="pres">
      <dgm:prSet presAssocID="{DCE04B8C-A09A-4804-ACA7-EAF5A4AC2B60}" presName="ParentAccent" presStyleLbl="alignNode1" presStyleIdx="0" presStyleCnt="2" custLinFactY="-29498" custLinFactNeighborX="-1" custLinFactNeighborY="-100000"/>
      <dgm:spPr>
        <a:solidFill>
          <a:schemeClr val="bg1">
            <a:lumMod val="50000"/>
          </a:schemeClr>
        </a:solidFill>
      </dgm:spPr>
    </dgm:pt>
    <dgm:pt modelId="{B7D325FE-E87C-47DF-A9CC-98DAD80822CE}" type="pres">
      <dgm:prSet presAssocID="{DCE04B8C-A09A-4804-ACA7-EAF5A4AC2B60}" presName="ParentSmallAccent" presStyleLbl="fgAcc1" presStyleIdx="0" presStyleCnt="2" custLinFactY="100000" custLinFactNeighborX="-13" custLinFactNeighborY="127717"/>
      <dgm:spPr/>
    </dgm:pt>
    <dgm:pt modelId="{03A516AE-E089-4322-B6F6-F4650E5ABE60}" type="pres">
      <dgm:prSet presAssocID="{DCE04B8C-A09A-4804-ACA7-EAF5A4AC2B60}" presName="Parent" presStyleLbl="revTx" presStyleIdx="0" presStyleCnt="8">
        <dgm:presLayoutVars>
          <dgm:chMax/>
          <dgm:chPref val="4"/>
          <dgm:bulletEnabled val="1"/>
        </dgm:presLayoutVars>
      </dgm:prSet>
      <dgm:spPr/>
    </dgm:pt>
    <dgm:pt modelId="{726C572E-1D45-4CC0-857B-1B279B0B846F}" type="pres">
      <dgm:prSet presAssocID="{DCE04B8C-A09A-4804-ACA7-EAF5A4AC2B60}" presName="childShape" presStyleCnt="0">
        <dgm:presLayoutVars>
          <dgm:chMax val="0"/>
          <dgm:chPref val="0"/>
        </dgm:presLayoutVars>
      </dgm:prSet>
      <dgm:spPr/>
    </dgm:pt>
    <dgm:pt modelId="{F10CA33E-DE03-4DB3-A3C3-AF4C427025C4}" type="pres">
      <dgm:prSet presAssocID="{B5212A7C-0CCC-4E53-A71F-27BA8DBEF13E}" presName="childComposite" presStyleCnt="0">
        <dgm:presLayoutVars>
          <dgm:chMax val="0"/>
          <dgm:chPref val="0"/>
        </dgm:presLayoutVars>
      </dgm:prSet>
      <dgm:spPr/>
    </dgm:pt>
    <dgm:pt modelId="{36C75A25-7CCC-46AC-8E0F-F32721ED410E}" type="pres">
      <dgm:prSet presAssocID="{B5212A7C-0CCC-4E53-A71F-27BA8DBEF13E}" presName="ChildAccent" presStyleLbl="solidFgAcc1" presStyleIdx="0" presStyleCnt="6" custLinFactNeighborX="-13" custLinFactNeighborY="-5380"/>
      <dgm:spPr/>
    </dgm:pt>
    <dgm:pt modelId="{80986D39-7161-4E3C-A371-A09B378A7421}" type="pres">
      <dgm:prSet presAssocID="{B5212A7C-0CCC-4E53-A71F-27BA8DBEF13E}" presName="Child" presStyleLbl="revTx" presStyleIdx="1" presStyleCnt="8">
        <dgm:presLayoutVars>
          <dgm:chMax val="0"/>
          <dgm:chPref val="0"/>
          <dgm:bulletEnabled val="1"/>
        </dgm:presLayoutVars>
      </dgm:prSet>
      <dgm:spPr/>
    </dgm:pt>
    <dgm:pt modelId="{E4ACB5A7-E8CA-4B7B-834A-D3CD41DF9C84}" type="pres">
      <dgm:prSet presAssocID="{8C262A60-6C99-4E05-B51D-95F5DED47BAD}" presName="childComposite" presStyleCnt="0">
        <dgm:presLayoutVars>
          <dgm:chMax val="0"/>
          <dgm:chPref val="0"/>
        </dgm:presLayoutVars>
      </dgm:prSet>
      <dgm:spPr/>
    </dgm:pt>
    <dgm:pt modelId="{83E62839-31A3-4918-AB14-C01D32159B2D}" type="pres">
      <dgm:prSet presAssocID="{8C262A60-6C99-4E05-B51D-95F5DED47BAD}" presName="ChildAccent" presStyleLbl="solidFgAcc1" presStyleIdx="1" presStyleCnt="6"/>
      <dgm:spPr/>
    </dgm:pt>
    <dgm:pt modelId="{BB74EC47-01E9-463F-943E-DC26C0DB4FD0}" type="pres">
      <dgm:prSet presAssocID="{8C262A60-6C99-4E05-B51D-95F5DED47BAD}" presName="Child" presStyleLbl="revTx" presStyleIdx="2" presStyleCnt="8">
        <dgm:presLayoutVars>
          <dgm:chMax val="0"/>
          <dgm:chPref val="0"/>
          <dgm:bulletEnabled val="1"/>
        </dgm:presLayoutVars>
      </dgm:prSet>
      <dgm:spPr/>
    </dgm:pt>
    <dgm:pt modelId="{7C039173-4490-4D6D-91A1-0C8715CCF52D}" type="pres">
      <dgm:prSet presAssocID="{49543044-BD6E-499C-BFBC-B03D818BB93A}" presName="childComposite" presStyleCnt="0">
        <dgm:presLayoutVars>
          <dgm:chMax val="0"/>
          <dgm:chPref val="0"/>
        </dgm:presLayoutVars>
      </dgm:prSet>
      <dgm:spPr/>
    </dgm:pt>
    <dgm:pt modelId="{DF6A1D57-CE1C-4775-9435-8AB2C6820898}" type="pres">
      <dgm:prSet presAssocID="{49543044-BD6E-499C-BFBC-B03D818BB93A}" presName="ChildAccent" presStyleLbl="solidFgAcc1" presStyleIdx="2" presStyleCnt="6"/>
      <dgm:spPr/>
    </dgm:pt>
    <dgm:pt modelId="{6CC3391B-77C5-4BDC-9B3B-624E1CD18244}" type="pres">
      <dgm:prSet presAssocID="{49543044-BD6E-499C-BFBC-B03D818BB93A}" presName="Child" presStyleLbl="revTx" presStyleIdx="3" presStyleCnt="8">
        <dgm:presLayoutVars>
          <dgm:chMax val="0"/>
          <dgm:chPref val="0"/>
          <dgm:bulletEnabled val="1"/>
        </dgm:presLayoutVars>
      </dgm:prSet>
      <dgm:spPr/>
    </dgm:pt>
    <dgm:pt modelId="{024F73D7-8411-476E-A63E-63A65445103C}" type="pres">
      <dgm:prSet presAssocID="{58518ACD-FA9C-4262-A5FE-588894C1FE1E}" presName="root" presStyleCnt="0">
        <dgm:presLayoutVars>
          <dgm:chMax/>
          <dgm:chPref/>
        </dgm:presLayoutVars>
      </dgm:prSet>
      <dgm:spPr/>
    </dgm:pt>
    <dgm:pt modelId="{0E73FD65-5652-408D-8C85-B755CEE18462}" type="pres">
      <dgm:prSet presAssocID="{58518ACD-FA9C-4262-A5FE-588894C1FE1E}" presName="rootComposite" presStyleCnt="0">
        <dgm:presLayoutVars/>
      </dgm:prSet>
      <dgm:spPr/>
    </dgm:pt>
    <dgm:pt modelId="{9472B997-D138-4FAE-BE59-3F9FB186BBA1}" type="pres">
      <dgm:prSet presAssocID="{58518ACD-FA9C-4262-A5FE-588894C1FE1E}" presName="ParentAccent" presStyleLbl="alignNode1" presStyleIdx="1" presStyleCnt="2" custLinFactY="-29498" custLinFactNeighborX="-1219" custLinFactNeighborY="-100000"/>
      <dgm:spPr>
        <a:solidFill>
          <a:schemeClr val="bg1">
            <a:lumMod val="50000"/>
          </a:schemeClr>
        </a:solidFill>
      </dgm:spPr>
    </dgm:pt>
    <dgm:pt modelId="{64C34851-CDE8-45B9-8FDE-52578EBD4869}" type="pres">
      <dgm:prSet presAssocID="{58518ACD-FA9C-4262-A5FE-588894C1FE1E}" presName="ParentSmallAccent" presStyleLbl="fgAcc1" presStyleIdx="1" presStyleCnt="2" custLinFactY="100000" custLinFactNeighborX="851" custLinFactNeighborY="127717"/>
      <dgm:spPr/>
    </dgm:pt>
    <dgm:pt modelId="{D2D87C41-336B-4578-916A-8CFCE3C9AA2C}" type="pres">
      <dgm:prSet presAssocID="{58518ACD-FA9C-4262-A5FE-588894C1FE1E}" presName="Parent" presStyleLbl="revTx" presStyleIdx="4" presStyleCnt="8">
        <dgm:presLayoutVars>
          <dgm:chMax/>
          <dgm:chPref val="4"/>
          <dgm:bulletEnabled val="1"/>
        </dgm:presLayoutVars>
      </dgm:prSet>
      <dgm:spPr/>
    </dgm:pt>
    <dgm:pt modelId="{49583729-D2F6-4F1E-9B6F-A06EA5460D28}" type="pres">
      <dgm:prSet presAssocID="{58518ACD-FA9C-4262-A5FE-588894C1FE1E}" presName="childShape" presStyleCnt="0">
        <dgm:presLayoutVars>
          <dgm:chMax val="0"/>
          <dgm:chPref val="0"/>
        </dgm:presLayoutVars>
      </dgm:prSet>
      <dgm:spPr/>
    </dgm:pt>
    <dgm:pt modelId="{CCDD8768-2187-4005-B37B-D0AD126261A7}" type="pres">
      <dgm:prSet presAssocID="{7156865E-20C1-4FD8-867C-E02490395626}" presName="childComposite" presStyleCnt="0">
        <dgm:presLayoutVars>
          <dgm:chMax val="0"/>
          <dgm:chPref val="0"/>
        </dgm:presLayoutVars>
      </dgm:prSet>
      <dgm:spPr/>
    </dgm:pt>
    <dgm:pt modelId="{0A7C9F7B-BC24-4CA9-814F-074A7341DADE}" type="pres">
      <dgm:prSet presAssocID="{7156865E-20C1-4FD8-867C-E02490395626}" presName="ChildAccent" presStyleLbl="solidFgAcc1" presStyleIdx="3" presStyleCnt="6" custLinFactNeighborY="-5380"/>
      <dgm:spPr/>
    </dgm:pt>
    <dgm:pt modelId="{FE057DC4-4414-4BBF-BFA4-91E4E8F5D716}" type="pres">
      <dgm:prSet presAssocID="{7156865E-20C1-4FD8-867C-E02490395626}" presName="Child" presStyleLbl="revTx" presStyleIdx="5" presStyleCnt="8">
        <dgm:presLayoutVars>
          <dgm:chMax val="0"/>
          <dgm:chPref val="0"/>
          <dgm:bulletEnabled val="1"/>
        </dgm:presLayoutVars>
      </dgm:prSet>
      <dgm:spPr/>
    </dgm:pt>
    <dgm:pt modelId="{DAEBD5D9-2CE9-44C9-8DCD-1A8519EE3C84}" type="pres">
      <dgm:prSet presAssocID="{9CDC21A3-80C6-4DD4-B0CC-5F3897CC871A}" presName="childComposite" presStyleCnt="0">
        <dgm:presLayoutVars>
          <dgm:chMax val="0"/>
          <dgm:chPref val="0"/>
        </dgm:presLayoutVars>
      </dgm:prSet>
      <dgm:spPr/>
    </dgm:pt>
    <dgm:pt modelId="{4F70C465-C8C7-4F13-A475-42A0745838A8}" type="pres">
      <dgm:prSet presAssocID="{9CDC21A3-80C6-4DD4-B0CC-5F3897CC871A}" presName="ChildAccent" presStyleLbl="solidFgAcc1" presStyleIdx="4" presStyleCnt="6"/>
      <dgm:spPr/>
    </dgm:pt>
    <dgm:pt modelId="{EC15A424-6CA3-44AE-BF85-B63BAE9AAAE8}" type="pres">
      <dgm:prSet presAssocID="{9CDC21A3-80C6-4DD4-B0CC-5F3897CC871A}" presName="Child" presStyleLbl="revTx" presStyleIdx="6" presStyleCnt="8">
        <dgm:presLayoutVars>
          <dgm:chMax val="0"/>
          <dgm:chPref val="0"/>
          <dgm:bulletEnabled val="1"/>
        </dgm:presLayoutVars>
      </dgm:prSet>
      <dgm:spPr/>
    </dgm:pt>
    <dgm:pt modelId="{A212DC15-586E-4773-A074-DF55E6B27430}" type="pres">
      <dgm:prSet presAssocID="{BB385E8D-4333-484A-935D-D13E3DD866C8}" presName="childComposite" presStyleCnt="0">
        <dgm:presLayoutVars>
          <dgm:chMax val="0"/>
          <dgm:chPref val="0"/>
        </dgm:presLayoutVars>
      </dgm:prSet>
      <dgm:spPr/>
    </dgm:pt>
    <dgm:pt modelId="{D904E48A-4A2D-4343-B78B-5A34A126529F}" type="pres">
      <dgm:prSet presAssocID="{BB385E8D-4333-484A-935D-D13E3DD866C8}" presName="ChildAccent" presStyleLbl="solidFgAcc1" presStyleIdx="5" presStyleCnt="6"/>
      <dgm:spPr/>
    </dgm:pt>
    <dgm:pt modelId="{E8E472A0-8187-4DC9-A8C0-0C54F79DB8F4}" type="pres">
      <dgm:prSet presAssocID="{BB385E8D-4333-484A-935D-D13E3DD866C8}" presName="Child" presStyleLbl="revTx" presStyleIdx="7" presStyleCnt="8">
        <dgm:presLayoutVars>
          <dgm:chMax val="0"/>
          <dgm:chPref val="0"/>
          <dgm:bulletEnabled val="1"/>
        </dgm:presLayoutVars>
      </dgm:prSet>
      <dgm:spPr/>
    </dgm:pt>
  </dgm:ptLst>
  <dgm:cxnLst>
    <dgm:cxn modelId="{157AAD03-CF9B-4D60-931A-795306C70A6D}" srcId="{58518ACD-FA9C-4262-A5FE-588894C1FE1E}" destId="{7156865E-20C1-4FD8-867C-E02490395626}" srcOrd="0" destOrd="0" parTransId="{4520A2A7-F703-48F8-AD34-9FC2354012B7}" sibTransId="{E1E72F23-E61D-4503-87A6-7D9D5B6CCEC8}"/>
    <dgm:cxn modelId="{3AFCF610-3EA1-43D3-BCBF-CAE9B737A4C6}" srcId="{0462AEF3-8548-4E27-A17D-762004C386FF}" destId="{58518ACD-FA9C-4262-A5FE-588894C1FE1E}" srcOrd="1" destOrd="0" parTransId="{77E2A7E9-36F8-43F0-9E2E-E90567398C33}" sibTransId="{EEE69A84-2FB4-4733-B374-8C9F2BABB161}"/>
    <dgm:cxn modelId="{4CF81419-8C97-4137-A722-DA4523BE4790}" type="presOf" srcId="{9CDC21A3-80C6-4DD4-B0CC-5F3897CC871A}" destId="{EC15A424-6CA3-44AE-BF85-B63BAE9AAAE8}" srcOrd="0" destOrd="0" presId="urn:microsoft.com/office/officeart/2008/layout/SquareAccentList"/>
    <dgm:cxn modelId="{616F5562-C639-45E2-99C0-86F623A59B96}" srcId="{DCE04B8C-A09A-4804-ACA7-EAF5A4AC2B60}" destId="{8C262A60-6C99-4E05-B51D-95F5DED47BAD}" srcOrd="1" destOrd="0" parTransId="{2174ADEA-249A-47C8-93E9-01C86AA3C65C}" sibTransId="{05381261-E363-4FA2-947B-FDA2A05414CF}"/>
    <dgm:cxn modelId="{C86EA742-141A-4129-A78D-DAA3A8C8ADE4}" type="presOf" srcId="{B5212A7C-0CCC-4E53-A71F-27BA8DBEF13E}" destId="{80986D39-7161-4E3C-A371-A09B378A7421}" srcOrd="0" destOrd="0" presId="urn:microsoft.com/office/officeart/2008/layout/SquareAccentList"/>
    <dgm:cxn modelId="{4DD32045-BE10-4FE5-8CCC-7CD952ED3D1C}" type="presOf" srcId="{BB385E8D-4333-484A-935D-D13E3DD866C8}" destId="{E8E472A0-8187-4DC9-A8C0-0C54F79DB8F4}" srcOrd="0" destOrd="0" presId="urn:microsoft.com/office/officeart/2008/layout/SquareAccentList"/>
    <dgm:cxn modelId="{104DD745-0CEA-4838-B511-289848B36915}" srcId="{DCE04B8C-A09A-4804-ACA7-EAF5A4AC2B60}" destId="{B5212A7C-0CCC-4E53-A71F-27BA8DBEF13E}" srcOrd="0" destOrd="0" parTransId="{041C51F1-5A0F-4210-8C12-FA9CD4A619DB}" sibTransId="{C59CFFBE-E577-45E9-A619-CA1C09785942}"/>
    <dgm:cxn modelId="{1D8D736C-187B-4E9C-BAAF-C7623B2EF5CD}" srcId="{58518ACD-FA9C-4262-A5FE-588894C1FE1E}" destId="{9CDC21A3-80C6-4DD4-B0CC-5F3897CC871A}" srcOrd="1" destOrd="0" parTransId="{A9782F04-665E-4D9B-884D-67EC98C4750E}" sibTransId="{989FC8E5-A668-4809-ADBA-8D4FD79A4560}"/>
    <dgm:cxn modelId="{BDD99150-1BDD-4F4F-BD27-E7F23B249A22}" type="presOf" srcId="{49543044-BD6E-499C-BFBC-B03D818BB93A}" destId="{6CC3391B-77C5-4BDC-9B3B-624E1CD18244}" srcOrd="0" destOrd="0" presId="urn:microsoft.com/office/officeart/2008/layout/SquareAccentList"/>
    <dgm:cxn modelId="{D6DE2073-6962-46E1-A09C-BF2A670812AF}" type="presOf" srcId="{DCE04B8C-A09A-4804-ACA7-EAF5A4AC2B60}" destId="{03A516AE-E089-4322-B6F6-F4650E5ABE60}" srcOrd="0" destOrd="0" presId="urn:microsoft.com/office/officeart/2008/layout/SquareAccentList"/>
    <dgm:cxn modelId="{56E45E79-D02A-45EA-B53C-2C304136B4FC}" type="presOf" srcId="{7156865E-20C1-4FD8-867C-E02490395626}" destId="{FE057DC4-4414-4BBF-BFA4-91E4E8F5D716}" srcOrd="0" destOrd="0" presId="urn:microsoft.com/office/officeart/2008/layout/SquareAccentList"/>
    <dgm:cxn modelId="{F2E1C27A-8D77-4136-8432-26634FFC9F6B}" type="presOf" srcId="{0462AEF3-8548-4E27-A17D-762004C386FF}" destId="{3AAF5398-391B-41F7-959F-3BA22A11279B}" srcOrd="0" destOrd="0" presId="urn:microsoft.com/office/officeart/2008/layout/SquareAccentList"/>
    <dgm:cxn modelId="{40375A7E-866D-4D5D-9AA6-32BF69B1AB69}" type="presOf" srcId="{8C262A60-6C99-4E05-B51D-95F5DED47BAD}" destId="{BB74EC47-01E9-463F-943E-DC26C0DB4FD0}" srcOrd="0" destOrd="0" presId="urn:microsoft.com/office/officeart/2008/layout/SquareAccentList"/>
    <dgm:cxn modelId="{AEECA19F-1252-4AE3-BF0C-A79F9807FB1D}" srcId="{DCE04B8C-A09A-4804-ACA7-EAF5A4AC2B60}" destId="{49543044-BD6E-499C-BFBC-B03D818BB93A}" srcOrd="2" destOrd="0" parTransId="{DAC17550-05DC-48D5-88C6-BC52A2A622C3}" sibTransId="{540AC020-5044-4232-9AF2-DE823D21A2C2}"/>
    <dgm:cxn modelId="{914C81B0-A6FD-44CF-AEA5-F01C13485519}" srcId="{58518ACD-FA9C-4262-A5FE-588894C1FE1E}" destId="{BB385E8D-4333-484A-935D-D13E3DD866C8}" srcOrd="2" destOrd="0" parTransId="{A3D674DD-21AA-4809-B422-910BD4612CE3}" sibTransId="{1E54F695-75CA-4D9D-A4C5-A55B8E6039EC}"/>
    <dgm:cxn modelId="{8E6D0FD2-E073-4505-A10C-F4F8AB4E06C5}" type="presOf" srcId="{58518ACD-FA9C-4262-A5FE-588894C1FE1E}" destId="{D2D87C41-336B-4578-916A-8CFCE3C9AA2C}" srcOrd="0" destOrd="0" presId="urn:microsoft.com/office/officeart/2008/layout/SquareAccentList"/>
    <dgm:cxn modelId="{211B40F0-17B5-4DF4-A734-5095B118F7D2}" srcId="{0462AEF3-8548-4E27-A17D-762004C386FF}" destId="{DCE04B8C-A09A-4804-ACA7-EAF5A4AC2B60}" srcOrd="0" destOrd="0" parTransId="{3745D141-677A-4D2C-8FE2-6859D69084CA}" sibTransId="{517D9AA3-B439-45C3-84BF-F9744EA42D0E}"/>
    <dgm:cxn modelId="{C3097EF2-A983-43C7-89B8-FBE55F686251}" type="presParOf" srcId="{3AAF5398-391B-41F7-959F-3BA22A11279B}" destId="{8218A912-2FA9-4F80-9792-057479846F4F}" srcOrd="0" destOrd="0" presId="urn:microsoft.com/office/officeart/2008/layout/SquareAccentList"/>
    <dgm:cxn modelId="{D91535BC-D328-420C-8BB9-134138352589}" type="presParOf" srcId="{8218A912-2FA9-4F80-9792-057479846F4F}" destId="{72D0B3C7-62B1-4691-B649-FFBD6E413559}" srcOrd="0" destOrd="0" presId="urn:microsoft.com/office/officeart/2008/layout/SquareAccentList"/>
    <dgm:cxn modelId="{EC1CEBBF-9691-4FFC-A2A6-87FF38F03F42}" type="presParOf" srcId="{72D0B3C7-62B1-4691-B649-FFBD6E413559}" destId="{5FB07EFF-4B4B-4F20-A92E-0333C33A6EBB}" srcOrd="0" destOrd="0" presId="urn:microsoft.com/office/officeart/2008/layout/SquareAccentList"/>
    <dgm:cxn modelId="{2BDB5597-B123-4642-9246-80950C19CE91}" type="presParOf" srcId="{72D0B3C7-62B1-4691-B649-FFBD6E413559}" destId="{B7D325FE-E87C-47DF-A9CC-98DAD80822CE}" srcOrd="1" destOrd="0" presId="urn:microsoft.com/office/officeart/2008/layout/SquareAccentList"/>
    <dgm:cxn modelId="{B09B5144-D2AA-4690-B3C8-002CD5A42B9D}" type="presParOf" srcId="{72D0B3C7-62B1-4691-B649-FFBD6E413559}" destId="{03A516AE-E089-4322-B6F6-F4650E5ABE60}" srcOrd="2" destOrd="0" presId="urn:microsoft.com/office/officeart/2008/layout/SquareAccentList"/>
    <dgm:cxn modelId="{014BAEF3-322C-4C97-8F7D-E5CDC0D8612D}" type="presParOf" srcId="{8218A912-2FA9-4F80-9792-057479846F4F}" destId="{726C572E-1D45-4CC0-857B-1B279B0B846F}" srcOrd="1" destOrd="0" presId="urn:microsoft.com/office/officeart/2008/layout/SquareAccentList"/>
    <dgm:cxn modelId="{FA3E3DA9-F8DB-4FB7-9F76-18E9B9BA2C1F}" type="presParOf" srcId="{726C572E-1D45-4CC0-857B-1B279B0B846F}" destId="{F10CA33E-DE03-4DB3-A3C3-AF4C427025C4}" srcOrd="0" destOrd="0" presId="urn:microsoft.com/office/officeart/2008/layout/SquareAccentList"/>
    <dgm:cxn modelId="{A3087356-A3E5-45A9-894E-FE6DB370DD89}" type="presParOf" srcId="{F10CA33E-DE03-4DB3-A3C3-AF4C427025C4}" destId="{36C75A25-7CCC-46AC-8E0F-F32721ED410E}" srcOrd="0" destOrd="0" presId="urn:microsoft.com/office/officeart/2008/layout/SquareAccentList"/>
    <dgm:cxn modelId="{C8C9C46D-BA7C-4232-8FA0-A6E5EBD4262A}" type="presParOf" srcId="{F10CA33E-DE03-4DB3-A3C3-AF4C427025C4}" destId="{80986D39-7161-4E3C-A371-A09B378A7421}" srcOrd="1" destOrd="0" presId="urn:microsoft.com/office/officeart/2008/layout/SquareAccentList"/>
    <dgm:cxn modelId="{E2F0B9C3-861E-4DA1-B901-FE679360F397}" type="presParOf" srcId="{726C572E-1D45-4CC0-857B-1B279B0B846F}" destId="{E4ACB5A7-E8CA-4B7B-834A-D3CD41DF9C84}" srcOrd="1" destOrd="0" presId="urn:microsoft.com/office/officeart/2008/layout/SquareAccentList"/>
    <dgm:cxn modelId="{BFF58910-0A5C-406D-B881-77F9E8BB9096}" type="presParOf" srcId="{E4ACB5A7-E8CA-4B7B-834A-D3CD41DF9C84}" destId="{83E62839-31A3-4918-AB14-C01D32159B2D}" srcOrd="0" destOrd="0" presId="urn:microsoft.com/office/officeart/2008/layout/SquareAccentList"/>
    <dgm:cxn modelId="{9A33A630-8005-40A2-916C-FD477ACF832D}" type="presParOf" srcId="{E4ACB5A7-E8CA-4B7B-834A-D3CD41DF9C84}" destId="{BB74EC47-01E9-463F-943E-DC26C0DB4FD0}" srcOrd="1" destOrd="0" presId="urn:microsoft.com/office/officeart/2008/layout/SquareAccentList"/>
    <dgm:cxn modelId="{E84A6421-7754-42E8-B8B0-0FC0512251B9}" type="presParOf" srcId="{726C572E-1D45-4CC0-857B-1B279B0B846F}" destId="{7C039173-4490-4D6D-91A1-0C8715CCF52D}" srcOrd="2" destOrd="0" presId="urn:microsoft.com/office/officeart/2008/layout/SquareAccentList"/>
    <dgm:cxn modelId="{5B82FE02-EE9D-437C-A47A-4AE0FD4FBD4D}" type="presParOf" srcId="{7C039173-4490-4D6D-91A1-0C8715CCF52D}" destId="{DF6A1D57-CE1C-4775-9435-8AB2C6820898}" srcOrd="0" destOrd="0" presId="urn:microsoft.com/office/officeart/2008/layout/SquareAccentList"/>
    <dgm:cxn modelId="{2FC046F4-9E10-425A-9151-74264000D0EA}" type="presParOf" srcId="{7C039173-4490-4D6D-91A1-0C8715CCF52D}" destId="{6CC3391B-77C5-4BDC-9B3B-624E1CD18244}" srcOrd="1" destOrd="0" presId="urn:microsoft.com/office/officeart/2008/layout/SquareAccentList"/>
    <dgm:cxn modelId="{11860574-7FBA-424F-9E32-EE648A3C696B}" type="presParOf" srcId="{3AAF5398-391B-41F7-959F-3BA22A11279B}" destId="{024F73D7-8411-476E-A63E-63A65445103C}" srcOrd="1" destOrd="0" presId="urn:microsoft.com/office/officeart/2008/layout/SquareAccentList"/>
    <dgm:cxn modelId="{CA234351-4810-4BBA-969B-3E32915F1AEA}" type="presParOf" srcId="{024F73D7-8411-476E-A63E-63A65445103C}" destId="{0E73FD65-5652-408D-8C85-B755CEE18462}" srcOrd="0" destOrd="0" presId="urn:microsoft.com/office/officeart/2008/layout/SquareAccentList"/>
    <dgm:cxn modelId="{EF84EC36-07E5-4589-BBB5-564B414F0F2D}" type="presParOf" srcId="{0E73FD65-5652-408D-8C85-B755CEE18462}" destId="{9472B997-D138-4FAE-BE59-3F9FB186BBA1}" srcOrd="0" destOrd="0" presId="urn:microsoft.com/office/officeart/2008/layout/SquareAccentList"/>
    <dgm:cxn modelId="{91EF4088-F03E-4198-B9B2-B9BE348788BB}" type="presParOf" srcId="{0E73FD65-5652-408D-8C85-B755CEE18462}" destId="{64C34851-CDE8-45B9-8FDE-52578EBD4869}" srcOrd="1" destOrd="0" presId="urn:microsoft.com/office/officeart/2008/layout/SquareAccentList"/>
    <dgm:cxn modelId="{64546B90-0426-46D6-A9E4-CE02402A77F4}" type="presParOf" srcId="{0E73FD65-5652-408D-8C85-B755CEE18462}" destId="{D2D87C41-336B-4578-916A-8CFCE3C9AA2C}" srcOrd="2" destOrd="0" presId="urn:microsoft.com/office/officeart/2008/layout/SquareAccentList"/>
    <dgm:cxn modelId="{FCAA8413-CE6F-45B0-8098-956D74F3683D}" type="presParOf" srcId="{024F73D7-8411-476E-A63E-63A65445103C}" destId="{49583729-D2F6-4F1E-9B6F-A06EA5460D28}" srcOrd="1" destOrd="0" presId="urn:microsoft.com/office/officeart/2008/layout/SquareAccentList"/>
    <dgm:cxn modelId="{88D94D54-0BA4-4357-A24B-45099E3AD065}" type="presParOf" srcId="{49583729-D2F6-4F1E-9B6F-A06EA5460D28}" destId="{CCDD8768-2187-4005-B37B-D0AD126261A7}" srcOrd="0" destOrd="0" presId="urn:microsoft.com/office/officeart/2008/layout/SquareAccentList"/>
    <dgm:cxn modelId="{29C9F474-1FC8-487B-BD23-76B4ED4C7224}" type="presParOf" srcId="{CCDD8768-2187-4005-B37B-D0AD126261A7}" destId="{0A7C9F7B-BC24-4CA9-814F-074A7341DADE}" srcOrd="0" destOrd="0" presId="urn:microsoft.com/office/officeart/2008/layout/SquareAccentList"/>
    <dgm:cxn modelId="{9AAF0EF1-D723-4F91-974C-4D6A5B1F2720}" type="presParOf" srcId="{CCDD8768-2187-4005-B37B-D0AD126261A7}" destId="{FE057DC4-4414-4BBF-BFA4-91E4E8F5D716}" srcOrd="1" destOrd="0" presId="urn:microsoft.com/office/officeart/2008/layout/SquareAccentList"/>
    <dgm:cxn modelId="{0D687627-F9D4-4C17-AF70-F05C9E8A8440}" type="presParOf" srcId="{49583729-D2F6-4F1E-9B6F-A06EA5460D28}" destId="{DAEBD5D9-2CE9-44C9-8DCD-1A8519EE3C84}" srcOrd="1" destOrd="0" presId="urn:microsoft.com/office/officeart/2008/layout/SquareAccentList"/>
    <dgm:cxn modelId="{83090155-2625-4D9E-8697-12491D4EA298}" type="presParOf" srcId="{DAEBD5D9-2CE9-44C9-8DCD-1A8519EE3C84}" destId="{4F70C465-C8C7-4F13-A475-42A0745838A8}" srcOrd="0" destOrd="0" presId="urn:microsoft.com/office/officeart/2008/layout/SquareAccentList"/>
    <dgm:cxn modelId="{B87C799F-58AF-412E-9048-3C5EAD2DC14E}" type="presParOf" srcId="{DAEBD5D9-2CE9-44C9-8DCD-1A8519EE3C84}" destId="{EC15A424-6CA3-44AE-BF85-B63BAE9AAAE8}" srcOrd="1" destOrd="0" presId="urn:microsoft.com/office/officeart/2008/layout/SquareAccentList"/>
    <dgm:cxn modelId="{F569D9E6-2E59-4DBC-9F51-3C6C242ED070}" type="presParOf" srcId="{49583729-D2F6-4F1E-9B6F-A06EA5460D28}" destId="{A212DC15-586E-4773-A074-DF55E6B27430}" srcOrd="2" destOrd="0" presId="urn:microsoft.com/office/officeart/2008/layout/SquareAccentList"/>
    <dgm:cxn modelId="{C5104723-C5C5-433F-8C00-6E3EF8A8E833}" type="presParOf" srcId="{A212DC15-586E-4773-A074-DF55E6B27430}" destId="{D904E48A-4A2D-4343-B78B-5A34A126529F}" srcOrd="0" destOrd="0" presId="urn:microsoft.com/office/officeart/2008/layout/SquareAccentList"/>
    <dgm:cxn modelId="{29FA6746-7B24-4DDD-AC96-4B939F122DFD}" type="presParOf" srcId="{A212DC15-586E-4773-A074-DF55E6B27430}" destId="{E8E472A0-8187-4DC9-A8C0-0C54F79DB8F4}"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07EFF-4B4B-4F20-A92E-0333C33A6EBB}">
      <dsp:nvSpPr>
        <dsp:cNvPr id="0" name=""/>
        <dsp:cNvSpPr/>
      </dsp:nvSpPr>
      <dsp:spPr>
        <a:xfrm>
          <a:off x="0" y="350846"/>
          <a:ext cx="5947262" cy="699677"/>
        </a:xfrm>
        <a:prstGeom prst="rect">
          <a:avLst/>
        </a:prstGeom>
        <a:solidFill>
          <a:schemeClr val="bg1">
            <a:lumMod val="5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D325FE-E87C-47DF-A9CC-98DAD80822CE}">
      <dsp:nvSpPr>
        <dsp:cNvPr id="0" name=""/>
        <dsp:cNvSpPr/>
      </dsp:nvSpPr>
      <dsp:spPr>
        <a:xfrm>
          <a:off x="0" y="2514598"/>
          <a:ext cx="436907" cy="43690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A516AE-E089-4322-B6F6-F4650E5ABE60}">
      <dsp:nvSpPr>
        <dsp:cNvPr id="0" name=""/>
        <dsp:cNvSpPr/>
      </dsp:nvSpPr>
      <dsp:spPr>
        <a:xfrm>
          <a:off x="56" y="0"/>
          <a:ext cx="5947262" cy="1256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58420" rIns="87630" bIns="58420" numCol="1" spcCol="1270" anchor="ctr" anchorCtr="0">
          <a:noAutofit/>
        </a:bodyPr>
        <a:lstStyle/>
        <a:p>
          <a:pPr marL="0" lvl="0" indent="0" algn="l" defTabSz="2044700">
            <a:lnSpc>
              <a:spcPct val="90000"/>
            </a:lnSpc>
            <a:spcBef>
              <a:spcPct val="0"/>
            </a:spcBef>
            <a:spcAft>
              <a:spcPct val="35000"/>
            </a:spcAft>
            <a:buNone/>
          </a:pPr>
          <a:r>
            <a:rPr lang="fr-BE" sz="4600" kern="1200" dirty="0" err="1">
              <a:solidFill>
                <a:schemeClr val="bg1"/>
              </a:solidFill>
              <a:latin typeface="Inter Extra-Light" panose="020B0604020202020204" charset="0"/>
              <a:ea typeface="Inter Extra-Light" panose="020B0604020202020204" charset="0"/>
            </a:rPr>
            <a:t>Potential</a:t>
          </a:r>
          <a:r>
            <a:rPr lang="fr-BE" sz="4600" kern="1200" dirty="0">
              <a:solidFill>
                <a:schemeClr val="bg1"/>
              </a:solidFill>
              <a:latin typeface="Inter Extra-Light" panose="020B0604020202020204" charset="0"/>
              <a:ea typeface="Inter Extra-Light" panose="020B0604020202020204" charset="0"/>
            </a:rPr>
            <a:t> </a:t>
          </a:r>
          <a:r>
            <a:rPr lang="fr-BE" sz="4600" kern="1200" dirty="0" err="1">
              <a:solidFill>
                <a:schemeClr val="bg1"/>
              </a:solidFill>
              <a:latin typeface="Inter Extra-Light" panose="020B0604020202020204" charset="0"/>
              <a:ea typeface="Inter Extra-Light" panose="020B0604020202020204" charset="0"/>
            </a:rPr>
            <a:t>Advantages</a:t>
          </a:r>
          <a:endParaRPr lang="fr-BE" sz="4600" kern="1200" dirty="0">
            <a:solidFill>
              <a:schemeClr val="bg1"/>
            </a:solidFill>
            <a:latin typeface="Inter Extra-Light" panose="020B0604020202020204" charset="0"/>
            <a:ea typeface="Inter Extra-Light" panose="020B0604020202020204" charset="0"/>
          </a:endParaRPr>
        </a:p>
      </dsp:txBody>
      <dsp:txXfrm>
        <a:off x="56" y="0"/>
        <a:ext cx="5947262" cy="1256915"/>
      </dsp:txXfrm>
    </dsp:sp>
    <dsp:sp modelId="{36C75A25-7CCC-46AC-8E0F-F32721ED410E}">
      <dsp:nvSpPr>
        <dsp:cNvPr id="0" name=""/>
        <dsp:cNvSpPr/>
      </dsp:nvSpPr>
      <dsp:spPr>
        <a:xfrm>
          <a:off x="0" y="2514599"/>
          <a:ext cx="436896" cy="43689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986D39-7161-4E3C-A371-A09B378A7421}">
      <dsp:nvSpPr>
        <dsp:cNvPr id="0" name=""/>
        <dsp:cNvSpPr/>
      </dsp:nvSpPr>
      <dsp:spPr>
        <a:xfrm>
          <a:off x="416364" y="2247348"/>
          <a:ext cx="5530953" cy="1018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a:lnSpc>
              <a:spcPct val="90000"/>
            </a:lnSpc>
            <a:spcBef>
              <a:spcPct val="0"/>
            </a:spcBef>
            <a:spcAft>
              <a:spcPct val="35000"/>
            </a:spcAft>
            <a:buNone/>
          </a:pPr>
          <a:r>
            <a:rPr lang="fr-BE" sz="2800" kern="1200" dirty="0" err="1">
              <a:solidFill>
                <a:schemeClr val="bg1"/>
              </a:solidFill>
              <a:latin typeface="Inter Extra-Light" panose="020B0604020202020204" charset="0"/>
              <a:ea typeface="Inter Extra-Light" panose="020B0604020202020204" charset="0"/>
            </a:rPr>
            <a:t>Higher</a:t>
          </a:r>
          <a:r>
            <a:rPr lang="fr-BE" sz="2800" kern="1200" dirty="0">
              <a:solidFill>
                <a:schemeClr val="bg1"/>
              </a:solidFill>
              <a:latin typeface="Inter Extra-Light" panose="020B0604020202020204" charset="0"/>
              <a:ea typeface="Inter Extra-Light" panose="020B0604020202020204" charset="0"/>
            </a:rPr>
            <a:t> </a:t>
          </a:r>
          <a:r>
            <a:rPr lang="fr-BE" sz="2800" kern="1200" dirty="0" err="1">
              <a:solidFill>
                <a:schemeClr val="bg1"/>
              </a:solidFill>
              <a:latin typeface="Inter Extra-Light" panose="020B0604020202020204" charset="0"/>
              <a:ea typeface="Inter Extra-Light" panose="020B0604020202020204" charset="0"/>
            </a:rPr>
            <a:t>customer</a:t>
          </a:r>
          <a:r>
            <a:rPr lang="fr-BE" sz="2800" kern="1200" dirty="0">
              <a:solidFill>
                <a:schemeClr val="bg1"/>
              </a:solidFill>
              <a:latin typeface="Inter Extra-Light" panose="020B0604020202020204" charset="0"/>
              <a:ea typeface="Inter Extra-Light" panose="020B0604020202020204" charset="0"/>
            </a:rPr>
            <a:t> satisfaction</a:t>
          </a:r>
        </a:p>
      </dsp:txBody>
      <dsp:txXfrm>
        <a:off x="416364" y="2247348"/>
        <a:ext cx="5530953" cy="1018407"/>
      </dsp:txXfrm>
    </dsp:sp>
    <dsp:sp modelId="{83E62839-31A3-4918-AB14-C01D32159B2D}">
      <dsp:nvSpPr>
        <dsp:cNvPr id="0" name=""/>
        <dsp:cNvSpPr/>
      </dsp:nvSpPr>
      <dsp:spPr>
        <a:xfrm>
          <a:off x="56" y="3556511"/>
          <a:ext cx="436896" cy="43689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74EC47-01E9-463F-943E-DC26C0DB4FD0}">
      <dsp:nvSpPr>
        <dsp:cNvPr id="0" name=""/>
        <dsp:cNvSpPr/>
      </dsp:nvSpPr>
      <dsp:spPr>
        <a:xfrm>
          <a:off x="416364" y="3265756"/>
          <a:ext cx="5530953" cy="1018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a:lnSpc>
              <a:spcPct val="90000"/>
            </a:lnSpc>
            <a:spcBef>
              <a:spcPct val="0"/>
            </a:spcBef>
            <a:spcAft>
              <a:spcPct val="35000"/>
            </a:spcAft>
            <a:buNone/>
          </a:pPr>
          <a:r>
            <a:rPr lang="fr-BE" sz="2800" kern="1200" dirty="0">
              <a:solidFill>
                <a:schemeClr val="bg1"/>
              </a:solidFill>
              <a:latin typeface="Inter Extra-Light" panose="020B0604020202020204" charset="0"/>
              <a:ea typeface="Inter Extra-Light" panose="020B0604020202020204" charset="0"/>
            </a:rPr>
            <a:t>Positive </a:t>
          </a:r>
          <a:r>
            <a:rPr lang="fr-BE" sz="2800" kern="1200" dirty="0" err="1">
              <a:solidFill>
                <a:schemeClr val="bg1"/>
              </a:solidFill>
              <a:latin typeface="Inter Extra-Light" panose="020B0604020202020204" charset="0"/>
              <a:ea typeface="Inter Extra-Light" panose="020B0604020202020204" charset="0"/>
            </a:rPr>
            <a:t>reviews</a:t>
          </a:r>
          <a:r>
            <a:rPr lang="fr-BE" sz="2800" kern="1200" dirty="0">
              <a:solidFill>
                <a:schemeClr val="bg1"/>
              </a:solidFill>
              <a:latin typeface="Inter Extra-Light" panose="020B0604020202020204" charset="0"/>
              <a:ea typeface="Inter Extra-Light" panose="020B0604020202020204" charset="0"/>
            </a:rPr>
            <a:t> and trust</a:t>
          </a:r>
        </a:p>
      </dsp:txBody>
      <dsp:txXfrm>
        <a:off x="416364" y="3265756"/>
        <a:ext cx="5530953" cy="1018407"/>
      </dsp:txXfrm>
    </dsp:sp>
    <dsp:sp modelId="{DF6A1D57-CE1C-4775-9435-8AB2C6820898}">
      <dsp:nvSpPr>
        <dsp:cNvPr id="0" name=""/>
        <dsp:cNvSpPr/>
      </dsp:nvSpPr>
      <dsp:spPr>
        <a:xfrm>
          <a:off x="56" y="4574918"/>
          <a:ext cx="436896" cy="43689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C3391B-77C5-4BDC-9B3B-624E1CD18244}">
      <dsp:nvSpPr>
        <dsp:cNvPr id="0" name=""/>
        <dsp:cNvSpPr/>
      </dsp:nvSpPr>
      <dsp:spPr>
        <a:xfrm>
          <a:off x="416364" y="4284163"/>
          <a:ext cx="5530953" cy="1018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a:lnSpc>
              <a:spcPct val="90000"/>
            </a:lnSpc>
            <a:spcBef>
              <a:spcPct val="0"/>
            </a:spcBef>
            <a:spcAft>
              <a:spcPct val="35000"/>
            </a:spcAft>
            <a:buNone/>
          </a:pPr>
          <a:r>
            <a:rPr lang="fr-BE" sz="2800" kern="1200" dirty="0" err="1">
              <a:solidFill>
                <a:schemeClr val="bg1"/>
              </a:solidFill>
              <a:latin typeface="Inter Extra-Light" panose="020B0604020202020204" charset="0"/>
              <a:ea typeface="Inter Extra-Light" panose="020B0604020202020204" charset="0"/>
            </a:rPr>
            <a:t>Reduced</a:t>
          </a:r>
          <a:r>
            <a:rPr lang="fr-BE" sz="2800" kern="1200" dirty="0">
              <a:solidFill>
                <a:schemeClr val="bg1"/>
              </a:solidFill>
              <a:latin typeface="Inter Extra-Light" panose="020B0604020202020204" charset="0"/>
              <a:ea typeface="Inter Extra-Light" panose="020B0604020202020204" charset="0"/>
            </a:rPr>
            <a:t> SLA violations</a:t>
          </a:r>
        </a:p>
      </dsp:txBody>
      <dsp:txXfrm>
        <a:off x="416364" y="4284163"/>
        <a:ext cx="5530953" cy="1018407"/>
      </dsp:txXfrm>
    </dsp:sp>
    <dsp:sp modelId="{9472B997-D138-4FAE-BE59-3F9FB186BBA1}">
      <dsp:nvSpPr>
        <dsp:cNvPr id="0" name=""/>
        <dsp:cNvSpPr/>
      </dsp:nvSpPr>
      <dsp:spPr>
        <a:xfrm>
          <a:off x="6172184" y="350846"/>
          <a:ext cx="5947262" cy="699677"/>
        </a:xfrm>
        <a:prstGeom prst="rect">
          <a:avLst/>
        </a:prstGeom>
        <a:solidFill>
          <a:schemeClr val="bg1">
            <a:lumMod val="5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C34851-CDE8-45B9-8FDE-52578EBD4869}">
      <dsp:nvSpPr>
        <dsp:cNvPr id="0" name=""/>
        <dsp:cNvSpPr/>
      </dsp:nvSpPr>
      <dsp:spPr>
        <a:xfrm>
          <a:off x="6248399" y="2514598"/>
          <a:ext cx="436907" cy="43690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D87C41-336B-4578-916A-8CFCE3C9AA2C}">
      <dsp:nvSpPr>
        <dsp:cNvPr id="0" name=""/>
        <dsp:cNvSpPr/>
      </dsp:nvSpPr>
      <dsp:spPr>
        <a:xfrm>
          <a:off x="6244681" y="0"/>
          <a:ext cx="5947262" cy="1256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58420" rIns="87630" bIns="58420" numCol="1" spcCol="1270" anchor="ctr" anchorCtr="0">
          <a:noAutofit/>
        </a:bodyPr>
        <a:lstStyle/>
        <a:p>
          <a:pPr marL="0" lvl="0" indent="0" algn="l" defTabSz="2044700">
            <a:lnSpc>
              <a:spcPct val="90000"/>
            </a:lnSpc>
            <a:spcBef>
              <a:spcPct val="0"/>
            </a:spcBef>
            <a:spcAft>
              <a:spcPct val="35000"/>
            </a:spcAft>
            <a:buNone/>
          </a:pPr>
          <a:r>
            <a:rPr lang="fr-BE" sz="4600" kern="1200" dirty="0" err="1">
              <a:solidFill>
                <a:schemeClr val="bg1"/>
              </a:solidFill>
              <a:latin typeface="Inter Extra-Light" panose="020B0604020202020204" charset="0"/>
              <a:ea typeface="Inter Extra-Light" panose="020B0604020202020204" charset="0"/>
            </a:rPr>
            <a:t>Potential</a:t>
          </a:r>
          <a:r>
            <a:rPr lang="fr-BE" sz="4600" kern="1200" dirty="0">
              <a:solidFill>
                <a:schemeClr val="bg1"/>
              </a:solidFill>
              <a:latin typeface="Inter Extra-Light" panose="020B0604020202020204" charset="0"/>
              <a:ea typeface="Inter Extra-Light" panose="020B0604020202020204" charset="0"/>
            </a:rPr>
            <a:t> Risks</a:t>
          </a:r>
        </a:p>
      </dsp:txBody>
      <dsp:txXfrm>
        <a:off x="6244681" y="0"/>
        <a:ext cx="5947262" cy="1256915"/>
      </dsp:txXfrm>
    </dsp:sp>
    <dsp:sp modelId="{0A7C9F7B-BC24-4CA9-814F-074A7341DADE}">
      <dsp:nvSpPr>
        <dsp:cNvPr id="0" name=""/>
        <dsp:cNvSpPr/>
      </dsp:nvSpPr>
      <dsp:spPr>
        <a:xfrm>
          <a:off x="6244681" y="2514599"/>
          <a:ext cx="436896" cy="43689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057DC4-4414-4BBF-BFA4-91E4E8F5D716}">
      <dsp:nvSpPr>
        <dsp:cNvPr id="0" name=""/>
        <dsp:cNvSpPr/>
      </dsp:nvSpPr>
      <dsp:spPr>
        <a:xfrm>
          <a:off x="6660989" y="2247348"/>
          <a:ext cx="5530953" cy="1018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bg1"/>
              </a:solidFill>
              <a:latin typeface="Inter Extra-Light" panose="020B0604020202020204" charset="0"/>
              <a:ea typeface="Inter Extra-Light" panose="020B0604020202020204" charset="0"/>
            </a:rPr>
            <a:t>Customers may perceive delivery times as too long</a:t>
          </a:r>
          <a:endParaRPr lang="fr-BE" sz="2800" kern="1200" dirty="0">
            <a:solidFill>
              <a:schemeClr val="bg1"/>
            </a:solidFill>
            <a:latin typeface="Inter Extra-Light" panose="020B0604020202020204" charset="0"/>
            <a:ea typeface="Inter Extra-Light" panose="020B0604020202020204" charset="0"/>
          </a:endParaRPr>
        </a:p>
      </dsp:txBody>
      <dsp:txXfrm>
        <a:off x="6660989" y="2247348"/>
        <a:ext cx="5530953" cy="1018407"/>
      </dsp:txXfrm>
    </dsp:sp>
    <dsp:sp modelId="{4F70C465-C8C7-4F13-A475-42A0745838A8}">
      <dsp:nvSpPr>
        <dsp:cNvPr id="0" name=""/>
        <dsp:cNvSpPr/>
      </dsp:nvSpPr>
      <dsp:spPr>
        <a:xfrm>
          <a:off x="6244681" y="3556511"/>
          <a:ext cx="436896" cy="43689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15A424-6CA3-44AE-BF85-B63BAE9AAAE8}">
      <dsp:nvSpPr>
        <dsp:cNvPr id="0" name=""/>
        <dsp:cNvSpPr/>
      </dsp:nvSpPr>
      <dsp:spPr>
        <a:xfrm>
          <a:off x="6660989" y="3265756"/>
          <a:ext cx="5530953" cy="1018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a:lnSpc>
              <a:spcPct val="90000"/>
            </a:lnSpc>
            <a:spcBef>
              <a:spcPct val="0"/>
            </a:spcBef>
            <a:spcAft>
              <a:spcPct val="35000"/>
            </a:spcAft>
            <a:buNone/>
          </a:pPr>
          <a:r>
            <a:rPr lang="fr-BE" sz="2800" kern="1200" dirty="0">
              <a:solidFill>
                <a:schemeClr val="bg1"/>
              </a:solidFill>
              <a:latin typeface="Inter Extra-Light" panose="020B0604020202020204" charset="0"/>
              <a:ea typeface="Inter Extra-Light" panose="020B0604020202020204" charset="0"/>
            </a:rPr>
            <a:t>Lower </a:t>
          </a:r>
          <a:r>
            <a:rPr lang="fr-BE" sz="2800" kern="1200" dirty="0" err="1">
              <a:solidFill>
                <a:schemeClr val="bg1"/>
              </a:solidFill>
              <a:latin typeface="Inter Extra-Light" panose="020B0604020202020204" charset="0"/>
              <a:ea typeface="Inter Extra-Light" panose="020B0604020202020204" charset="0"/>
            </a:rPr>
            <a:t>purchase</a:t>
          </a:r>
          <a:r>
            <a:rPr lang="fr-BE" sz="2800" kern="1200" dirty="0">
              <a:solidFill>
                <a:schemeClr val="bg1"/>
              </a:solidFill>
              <a:latin typeface="Inter Extra-Light" panose="020B0604020202020204" charset="0"/>
              <a:ea typeface="Inter Extra-Light" panose="020B0604020202020204" charset="0"/>
            </a:rPr>
            <a:t> conversion</a:t>
          </a:r>
        </a:p>
      </dsp:txBody>
      <dsp:txXfrm>
        <a:off x="6660989" y="3265756"/>
        <a:ext cx="5530953" cy="1018407"/>
      </dsp:txXfrm>
    </dsp:sp>
    <dsp:sp modelId="{D904E48A-4A2D-4343-B78B-5A34A126529F}">
      <dsp:nvSpPr>
        <dsp:cNvPr id="0" name=""/>
        <dsp:cNvSpPr/>
      </dsp:nvSpPr>
      <dsp:spPr>
        <a:xfrm>
          <a:off x="6244681" y="4574918"/>
          <a:ext cx="436896" cy="436896"/>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E472A0-8187-4DC9-A8C0-0C54F79DB8F4}">
      <dsp:nvSpPr>
        <dsp:cNvPr id="0" name=""/>
        <dsp:cNvSpPr/>
      </dsp:nvSpPr>
      <dsp:spPr>
        <a:xfrm>
          <a:off x="6660989" y="4284163"/>
          <a:ext cx="5530953" cy="1018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199136" rIns="199136" bIns="199136" numCol="1" spcCol="1270" anchor="ctr" anchorCtr="0">
          <a:noAutofit/>
        </a:bodyPr>
        <a:lstStyle/>
        <a:p>
          <a:pPr marL="0" lvl="0" indent="0" algn="l" defTabSz="1244600">
            <a:lnSpc>
              <a:spcPct val="90000"/>
            </a:lnSpc>
            <a:spcBef>
              <a:spcPct val="0"/>
            </a:spcBef>
            <a:spcAft>
              <a:spcPct val="35000"/>
            </a:spcAft>
            <a:buNone/>
          </a:pPr>
          <a:r>
            <a:rPr lang="fr-BE" sz="2800" kern="1200" dirty="0" err="1">
              <a:solidFill>
                <a:schemeClr val="bg1"/>
              </a:solidFill>
              <a:latin typeface="Inter Extra-Light" panose="020B0604020202020204" charset="0"/>
              <a:ea typeface="Inter Extra-Light" panose="020B0604020202020204" charset="0"/>
            </a:rPr>
            <a:t>Competitive</a:t>
          </a:r>
          <a:r>
            <a:rPr lang="fr-BE" sz="2800" kern="1200" dirty="0">
              <a:solidFill>
                <a:schemeClr val="bg1"/>
              </a:solidFill>
              <a:latin typeface="Inter Extra-Light" panose="020B0604020202020204" charset="0"/>
              <a:ea typeface="Inter Extra-Light" panose="020B0604020202020204" charset="0"/>
            </a:rPr>
            <a:t> </a:t>
          </a:r>
          <a:r>
            <a:rPr lang="fr-BE" sz="2800" kern="1200" dirty="0" err="1">
              <a:solidFill>
                <a:schemeClr val="bg1"/>
              </a:solidFill>
              <a:latin typeface="Inter Extra-Light" panose="020B0604020202020204" charset="0"/>
              <a:ea typeface="Inter Extra-Light" panose="020B0604020202020204" charset="0"/>
            </a:rPr>
            <a:t>disadvantage</a:t>
          </a:r>
          <a:endParaRPr lang="fr-BE" sz="2800" kern="1200" dirty="0">
            <a:solidFill>
              <a:schemeClr val="bg1"/>
            </a:solidFill>
            <a:latin typeface="Inter Extra-Light" panose="020B0604020202020204" charset="0"/>
            <a:ea typeface="Inter Extra-Light" panose="020B0604020202020204" charset="0"/>
          </a:endParaRPr>
        </a:p>
      </dsp:txBody>
      <dsp:txXfrm>
        <a:off x="6660989" y="4284163"/>
        <a:ext cx="5530953" cy="1018407"/>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6569683"/>
            <a:ext cx="18288000" cy="0"/>
          </a:xfrm>
          <a:prstGeom prst="line">
            <a:avLst/>
          </a:prstGeom>
          <a:ln w="9525" cap="rnd">
            <a:solidFill>
              <a:srgbClr val="F4F4F4"/>
            </a:solidFill>
            <a:prstDash val="solid"/>
            <a:headEnd type="none" w="sm" len="sm"/>
            <a:tailEnd type="none" w="sm" len="sm"/>
          </a:ln>
        </p:spPr>
        <p:txBody>
          <a:bodyPr/>
          <a:lstStyle/>
          <a:p>
            <a:endParaRPr lang="fr-BE"/>
          </a:p>
        </p:txBody>
      </p:sp>
      <p:grpSp>
        <p:nvGrpSpPr>
          <p:cNvPr id="3" name="Group 3"/>
          <p:cNvGrpSpPr/>
          <p:nvPr/>
        </p:nvGrpSpPr>
        <p:grpSpPr>
          <a:xfrm>
            <a:off x="10292282" y="8927944"/>
            <a:ext cx="7680271" cy="762788"/>
            <a:chOff x="-548218" y="84320"/>
            <a:chExt cx="1909924" cy="149009"/>
          </a:xfrm>
        </p:grpSpPr>
        <p:sp>
          <p:nvSpPr>
            <p:cNvPr id="4" name="Freeform 4"/>
            <p:cNvSpPr/>
            <p:nvPr/>
          </p:nvSpPr>
          <p:spPr>
            <a:xfrm>
              <a:off x="-548218" y="84320"/>
              <a:ext cx="1909924" cy="149009"/>
            </a:xfrm>
            <a:custGeom>
              <a:avLst/>
              <a:gdLst/>
              <a:ahLst/>
              <a:cxnLst/>
              <a:rect l="l" t="t" r="r" b="b"/>
              <a:pathLst>
                <a:path w="1184335" h="149009">
                  <a:moveTo>
                    <a:pt x="74504" y="0"/>
                  </a:moveTo>
                  <a:lnTo>
                    <a:pt x="1109831" y="0"/>
                  </a:lnTo>
                  <a:cubicBezTo>
                    <a:pt x="1129590" y="0"/>
                    <a:pt x="1148541" y="7850"/>
                    <a:pt x="1162513" y="21822"/>
                  </a:cubicBezTo>
                  <a:cubicBezTo>
                    <a:pt x="1176485" y="35794"/>
                    <a:pt x="1184335" y="54745"/>
                    <a:pt x="1184335" y="74504"/>
                  </a:cubicBezTo>
                  <a:lnTo>
                    <a:pt x="1184335" y="74504"/>
                  </a:lnTo>
                  <a:cubicBezTo>
                    <a:pt x="1184335" y="94264"/>
                    <a:pt x="1176485" y="113215"/>
                    <a:pt x="1162513" y="127187"/>
                  </a:cubicBezTo>
                  <a:cubicBezTo>
                    <a:pt x="1148541" y="141159"/>
                    <a:pt x="1129590" y="149009"/>
                    <a:pt x="1109831" y="149009"/>
                  </a:cubicBezTo>
                  <a:lnTo>
                    <a:pt x="74504" y="149009"/>
                  </a:lnTo>
                  <a:cubicBezTo>
                    <a:pt x="54745" y="149009"/>
                    <a:pt x="35794" y="141159"/>
                    <a:pt x="21822" y="127187"/>
                  </a:cubicBezTo>
                  <a:cubicBezTo>
                    <a:pt x="7850" y="113215"/>
                    <a:pt x="0" y="94264"/>
                    <a:pt x="0" y="74504"/>
                  </a:cubicBezTo>
                  <a:lnTo>
                    <a:pt x="0" y="74504"/>
                  </a:lnTo>
                  <a:cubicBezTo>
                    <a:pt x="0" y="54745"/>
                    <a:pt x="7850" y="35794"/>
                    <a:pt x="21822" y="21822"/>
                  </a:cubicBezTo>
                  <a:cubicBezTo>
                    <a:pt x="35794" y="7850"/>
                    <a:pt x="54745" y="0"/>
                    <a:pt x="74504"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5" name="TextBox 5"/>
            <p:cNvSpPr txBox="1"/>
            <p:nvPr/>
          </p:nvSpPr>
          <p:spPr>
            <a:xfrm>
              <a:off x="-477814" y="84320"/>
              <a:ext cx="1839520" cy="149009"/>
            </a:xfrm>
            <a:prstGeom prst="rect">
              <a:avLst/>
            </a:prstGeom>
          </p:spPr>
          <p:txBody>
            <a:bodyPr lIns="50800" tIns="50800" rIns="50800" bIns="50800" rtlCol="0" anchor="ctr"/>
            <a:lstStyle/>
            <a:p>
              <a:pPr>
                <a:lnSpc>
                  <a:spcPts val="2690"/>
                </a:lnSpc>
              </a:pPr>
              <a:r>
                <a:rPr lang="en-US" spc="40" dirty="0">
                  <a:solidFill>
                    <a:srgbClr val="F4F4F4"/>
                  </a:solidFill>
                  <a:latin typeface="Poppins Light"/>
                  <a:ea typeface="Poppins Light"/>
                  <a:cs typeface="Poppins Light"/>
                  <a:sym typeface="Poppins Light"/>
                </a:rPr>
                <a:t>https://github.com/ferrettijaime-cmd/Professional_portfolio</a:t>
              </a:r>
            </a:p>
          </p:txBody>
        </p:sp>
      </p:grpSp>
      <p:sp>
        <p:nvSpPr>
          <p:cNvPr id="6" name="TextBox 6"/>
          <p:cNvSpPr txBox="1"/>
          <p:nvPr/>
        </p:nvSpPr>
        <p:spPr>
          <a:xfrm>
            <a:off x="2701900" y="261802"/>
            <a:ext cx="12358247" cy="6307881"/>
          </a:xfrm>
          <a:prstGeom prst="rect">
            <a:avLst/>
          </a:prstGeom>
        </p:spPr>
        <p:txBody>
          <a:bodyPr wrap="square" lIns="0" tIns="0" rIns="0" bIns="0" rtlCol="0" anchor="t">
            <a:spAutoFit/>
          </a:bodyPr>
          <a:lstStyle/>
          <a:p>
            <a:pPr algn="ctr">
              <a:lnSpc>
                <a:spcPts val="12365"/>
              </a:lnSpc>
            </a:pPr>
            <a:r>
              <a:rPr lang="en-US" sz="9600" dirty="0">
                <a:solidFill>
                  <a:schemeClr val="bg1"/>
                </a:solidFill>
                <a:latin typeface="Poppins Medium" panose="00000600000000000000" pitchFamily="2" charset="0"/>
                <a:cs typeface="Poppins Medium" panose="00000600000000000000" pitchFamily="2" charset="0"/>
              </a:rPr>
              <a:t>Delivery </a:t>
            </a:r>
            <a:r>
              <a:rPr lang="en-US" sz="8000" dirty="0">
                <a:solidFill>
                  <a:schemeClr val="bg1"/>
                </a:solidFill>
                <a:latin typeface="Poppins Medium" panose="00000600000000000000" pitchFamily="2" charset="0"/>
                <a:cs typeface="Poppins Medium" panose="00000600000000000000" pitchFamily="2" charset="0"/>
              </a:rPr>
              <a:t>Performance</a:t>
            </a:r>
            <a:r>
              <a:rPr lang="en-US" sz="9600" dirty="0">
                <a:solidFill>
                  <a:schemeClr val="bg1"/>
                </a:solidFill>
                <a:latin typeface="Poppins Medium" panose="00000600000000000000" pitchFamily="2" charset="0"/>
                <a:cs typeface="Poppins Medium" panose="00000600000000000000" pitchFamily="2" charset="0"/>
              </a:rPr>
              <a:t> Analysis</a:t>
            </a:r>
            <a:br>
              <a:rPr lang="en-US" sz="9600" dirty="0">
                <a:solidFill>
                  <a:schemeClr val="bg1"/>
                </a:solidFill>
                <a:latin typeface="Poppins Medium" panose="00000600000000000000" pitchFamily="2" charset="0"/>
                <a:cs typeface="Poppins Medium" panose="00000600000000000000" pitchFamily="2" charset="0"/>
              </a:rPr>
            </a:br>
            <a:r>
              <a:rPr lang="en-US" sz="9600" dirty="0" err="1">
                <a:solidFill>
                  <a:schemeClr val="bg1"/>
                </a:solidFill>
                <a:latin typeface="Poppins Medium" panose="00000600000000000000" pitchFamily="2" charset="0"/>
                <a:cs typeface="Poppins Medium" panose="00000600000000000000" pitchFamily="2" charset="0"/>
              </a:rPr>
              <a:t>Olist</a:t>
            </a:r>
            <a:r>
              <a:rPr lang="en-US" sz="9600" dirty="0">
                <a:solidFill>
                  <a:schemeClr val="bg1"/>
                </a:solidFill>
                <a:latin typeface="Poppins Medium" panose="00000600000000000000" pitchFamily="2" charset="0"/>
                <a:cs typeface="Poppins Medium" panose="00000600000000000000" pitchFamily="2" charset="0"/>
              </a:rPr>
              <a:t>-Logistics Dataset</a:t>
            </a:r>
            <a:endParaRPr lang="en-US" sz="13016" b="1" spc="-546" dirty="0">
              <a:solidFill>
                <a:schemeClr val="bg1"/>
              </a:solidFill>
              <a:latin typeface="Poppins Medium" panose="00000600000000000000" pitchFamily="2" charset="0"/>
              <a:ea typeface="Poppins Medium"/>
              <a:cs typeface="Poppins Medium" panose="00000600000000000000" pitchFamily="2" charset="0"/>
              <a:sym typeface="Poppins Medium"/>
            </a:endParaRPr>
          </a:p>
        </p:txBody>
      </p:sp>
      <p:sp>
        <p:nvSpPr>
          <p:cNvPr id="7" name="TextBox 7"/>
          <p:cNvSpPr txBox="1"/>
          <p:nvPr/>
        </p:nvSpPr>
        <p:spPr>
          <a:xfrm>
            <a:off x="10575394" y="8032600"/>
            <a:ext cx="6967016" cy="518860"/>
          </a:xfrm>
          <a:prstGeom prst="rect">
            <a:avLst/>
          </a:prstGeom>
        </p:spPr>
        <p:txBody>
          <a:bodyPr lIns="0" tIns="0" rIns="0" bIns="0" rtlCol="0" anchor="t">
            <a:spAutoFit/>
          </a:bodyPr>
          <a:lstStyle/>
          <a:p>
            <a:pPr algn="r">
              <a:lnSpc>
                <a:spcPts val="4230"/>
              </a:lnSpc>
              <a:spcBef>
                <a:spcPct val="0"/>
              </a:spcBef>
            </a:pPr>
            <a:r>
              <a:rPr lang="en-US" sz="3200" spc="-126" dirty="0">
                <a:solidFill>
                  <a:srgbClr val="F4F4F4"/>
                </a:solidFill>
                <a:latin typeface="Poppins"/>
                <a:ea typeface="Poppins"/>
                <a:cs typeface="Poppins"/>
                <a:sym typeface="Poppins"/>
              </a:rPr>
              <a:t>Jaime Ferretti</a:t>
            </a:r>
          </a:p>
        </p:txBody>
      </p:sp>
      <p:sp>
        <p:nvSpPr>
          <p:cNvPr id="8" name="TextBox 8"/>
          <p:cNvSpPr txBox="1"/>
          <p:nvPr/>
        </p:nvSpPr>
        <p:spPr>
          <a:xfrm>
            <a:off x="1028700" y="7480694"/>
            <a:ext cx="6967016" cy="551906"/>
          </a:xfrm>
          <a:prstGeom prst="rect">
            <a:avLst/>
          </a:prstGeom>
        </p:spPr>
        <p:txBody>
          <a:bodyPr lIns="0" tIns="0" rIns="0" bIns="0" rtlCol="0" anchor="t">
            <a:spAutoFit/>
          </a:bodyPr>
          <a:lstStyle/>
          <a:p>
            <a:pPr algn="l">
              <a:lnSpc>
                <a:spcPts val="4230"/>
              </a:lnSpc>
              <a:spcBef>
                <a:spcPct val="0"/>
              </a:spcBef>
            </a:pPr>
            <a:r>
              <a:rPr lang="en-US" sz="3021" spc="-126" dirty="0">
                <a:solidFill>
                  <a:srgbClr val="F4F4F4"/>
                </a:solidFill>
                <a:latin typeface="Poppins"/>
                <a:ea typeface="Poppins"/>
                <a:cs typeface="Poppins"/>
                <a:sym typeface="Poppins"/>
              </a:rPr>
              <a:t>Turning Data into Insights</a:t>
            </a:r>
          </a:p>
        </p:txBody>
      </p:sp>
      <p:sp>
        <p:nvSpPr>
          <p:cNvPr id="9" name="TextBox 9"/>
          <p:cNvSpPr txBox="1"/>
          <p:nvPr/>
        </p:nvSpPr>
        <p:spPr>
          <a:xfrm>
            <a:off x="1028700" y="8655224"/>
            <a:ext cx="10310565" cy="1692771"/>
          </a:xfrm>
          <a:prstGeom prst="rect">
            <a:avLst/>
          </a:prstGeom>
        </p:spPr>
        <p:txBody>
          <a:bodyPr lIns="0" tIns="0" rIns="0" bIns="0" rtlCol="0" anchor="t">
            <a:spAutoFit/>
          </a:bodyPr>
          <a:lstStyle/>
          <a:p>
            <a:pPr algn="just">
              <a:lnSpc>
                <a:spcPts val="2239"/>
              </a:lnSpc>
              <a:spcBef>
                <a:spcPct val="0"/>
              </a:spcBef>
            </a:pPr>
            <a:r>
              <a:rPr lang="en-US" sz="2000" dirty="0">
                <a:solidFill>
                  <a:srgbClr val="F4F4F4"/>
                </a:solidFill>
                <a:latin typeface="Inter Extra-Light"/>
                <a:ea typeface="Inter Extra-Light"/>
                <a:cs typeface="Inter Extra-Light"/>
                <a:sym typeface="Inter Extra-Light"/>
              </a:rPr>
              <a:t>Analysis of the delivery process of the </a:t>
            </a:r>
            <a:r>
              <a:rPr lang="en-US" sz="2000" dirty="0" err="1">
                <a:solidFill>
                  <a:srgbClr val="F4F4F4"/>
                </a:solidFill>
                <a:latin typeface="Inter Extra-Light"/>
                <a:ea typeface="Inter Extra-Light"/>
                <a:cs typeface="Inter Extra-Light"/>
                <a:sym typeface="Inter Extra-Light"/>
              </a:rPr>
              <a:t>Olist</a:t>
            </a:r>
            <a:r>
              <a:rPr lang="en-US" sz="2000" dirty="0">
                <a:solidFill>
                  <a:srgbClr val="F4F4F4"/>
                </a:solidFill>
                <a:latin typeface="Inter Extra-Light"/>
                <a:ea typeface="Inter Extra-Light"/>
                <a:cs typeface="Inter Extra-Light"/>
                <a:sym typeface="Inter Extra-Light"/>
              </a:rPr>
              <a:t>-Logistics platform (ETL).</a:t>
            </a:r>
          </a:p>
          <a:p>
            <a:pPr algn="just">
              <a:lnSpc>
                <a:spcPts val="2239"/>
              </a:lnSpc>
              <a:spcBef>
                <a:spcPct val="0"/>
              </a:spcBef>
            </a:pPr>
            <a:r>
              <a:rPr lang="en-US" sz="2000" dirty="0">
                <a:solidFill>
                  <a:srgbClr val="F4F4F4"/>
                </a:solidFill>
                <a:latin typeface="Inter Extra-Light"/>
                <a:ea typeface="Inter Extra-Light"/>
                <a:cs typeface="Inter Extra-Light"/>
                <a:sym typeface="Inter Extra-Light"/>
              </a:rPr>
              <a:t>Tools used:</a:t>
            </a:r>
          </a:p>
          <a:p>
            <a:pPr algn="just">
              <a:lnSpc>
                <a:spcPts val="2239"/>
              </a:lnSpc>
              <a:spcBef>
                <a:spcPct val="0"/>
              </a:spcBef>
            </a:pPr>
            <a:r>
              <a:rPr lang="en-US" sz="2000" dirty="0">
                <a:solidFill>
                  <a:srgbClr val="F4F4F4"/>
                </a:solidFill>
                <a:latin typeface="Inter Extra-Light"/>
                <a:ea typeface="Inter Extra-Light"/>
                <a:cs typeface="Inter Extra-Light"/>
                <a:sym typeface="Inter Extra-Light"/>
              </a:rPr>
              <a:t>PostgreSQL</a:t>
            </a:r>
          </a:p>
          <a:p>
            <a:pPr algn="just">
              <a:lnSpc>
                <a:spcPts val="2239"/>
              </a:lnSpc>
              <a:spcBef>
                <a:spcPct val="0"/>
              </a:spcBef>
            </a:pPr>
            <a:r>
              <a:rPr lang="en-US" sz="2000" dirty="0">
                <a:solidFill>
                  <a:srgbClr val="F4F4F4"/>
                </a:solidFill>
                <a:latin typeface="Inter Extra-Light"/>
                <a:ea typeface="Inter Extra-Light"/>
                <a:cs typeface="Inter Extra-Light"/>
                <a:sym typeface="Inter Extra-Light"/>
              </a:rPr>
              <a:t>Python</a:t>
            </a:r>
          </a:p>
          <a:p>
            <a:pPr algn="just">
              <a:lnSpc>
                <a:spcPts val="2239"/>
              </a:lnSpc>
              <a:spcBef>
                <a:spcPct val="0"/>
              </a:spcBef>
            </a:pPr>
            <a:endParaRPr lang="en-US" sz="2000" dirty="0">
              <a:solidFill>
                <a:srgbClr val="F4F4F4"/>
              </a:solidFill>
              <a:latin typeface="Inter Extra-Light"/>
              <a:ea typeface="Inter Extra-Light"/>
              <a:cs typeface="Inter Extra-Light"/>
              <a:sym typeface="Inter Extra-Light"/>
            </a:endParaRPr>
          </a:p>
          <a:p>
            <a:pPr algn="just">
              <a:lnSpc>
                <a:spcPts val="2239"/>
              </a:lnSpc>
              <a:spcBef>
                <a:spcPct val="0"/>
              </a:spcBef>
            </a:pPr>
            <a:endParaRPr lang="en-US" sz="2000" dirty="0">
              <a:solidFill>
                <a:srgbClr val="F4F4F4"/>
              </a:solidFill>
              <a:latin typeface="Inter Extra-Light"/>
              <a:ea typeface="Inter Extra-Light"/>
              <a:cs typeface="Inter Extra-Light"/>
              <a:sym typeface="Inter Extra-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txBody>
          <a:bodyPr/>
          <a:lstStyle/>
          <a:p>
            <a:endParaRPr lang="fr-BE"/>
          </a:p>
        </p:txBody>
      </p:sp>
      <p:sp>
        <p:nvSpPr>
          <p:cNvPr id="3" name="TextBox 3"/>
          <p:cNvSpPr txBox="1"/>
          <p:nvPr/>
        </p:nvSpPr>
        <p:spPr>
          <a:xfrm>
            <a:off x="1028700" y="1978515"/>
            <a:ext cx="8115300" cy="2129622"/>
          </a:xfrm>
          <a:prstGeom prst="rect">
            <a:avLst/>
          </a:prstGeom>
        </p:spPr>
        <p:txBody>
          <a:bodyPr lIns="0" tIns="0" rIns="0" bIns="0" rtlCol="0" anchor="t">
            <a:spAutoFit/>
          </a:bodyPr>
          <a:lstStyle/>
          <a:p>
            <a:pPr>
              <a:lnSpc>
                <a:spcPts val="8119"/>
              </a:lnSpc>
            </a:pPr>
            <a:r>
              <a:rPr lang="fr-BE" sz="8800" dirty="0">
                <a:solidFill>
                  <a:schemeClr val="bg1"/>
                </a:solidFill>
                <a:latin typeface="Poppins Medium" panose="00000600000000000000" pitchFamily="2" charset="0"/>
                <a:cs typeface="Poppins Medium" panose="00000600000000000000" pitchFamily="2" charset="0"/>
              </a:rPr>
              <a:t>Business Objective</a:t>
            </a:r>
            <a:endParaRPr lang="en-US" sz="8546" b="1" spc="-358" dirty="0">
              <a:solidFill>
                <a:schemeClr val="bg1"/>
              </a:solidFill>
              <a:latin typeface="Poppins Medium" panose="00000600000000000000" pitchFamily="2" charset="0"/>
              <a:ea typeface="Poppins Medium"/>
              <a:cs typeface="Poppins Medium" panose="00000600000000000000" pitchFamily="2" charset="0"/>
              <a:sym typeface="Poppins Medium"/>
            </a:endParaRPr>
          </a:p>
        </p:txBody>
      </p:sp>
      <p:sp>
        <p:nvSpPr>
          <p:cNvPr id="4" name="TextBox 4"/>
          <p:cNvSpPr txBox="1"/>
          <p:nvPr/>
        </p:nvSpPr>
        <p:spPr>
          <a:xfrm>
            <a:off x="1000708" y="5457800"/>
            <a:ext cx="6967016" cy="512961"/>
          </a:xfrm>
          <a:prstGeom prst="rect">
            <a:avLst/>
          </a:prstGeom>
        </p:spPr>
        <p:txBody>
          <a:bodyPr lIns="0" tIns="0" rIns="0" bIns="0" rtlCol="0" anchor="t">
            <a:spAutoFit/>
          </a:bodyPr>
          <a:lstStyle/>
          <a:p>
            <a:pPr>
              <a:lnSpc>
                <a:spcPts val="3950"/>
              </a:lnSpc>
              <a:spcBef>
                <a:spcPct val="0"/>
              </a:spcBef>
            </a:pPr>
            <a:r>
              <a:rPr lang="en-US" sz="3600" dirty="0">
                <a:solidFill>
                  <a:schemeClr val="bg1"/>
                </a:solidFill>
              </a:rPr>
              <a:t>Are delivery </a:t>
            </a:r>
            <a:r>
              <a:rPr lang="en-US" sz="3600" dirty="0">
                <a:solidFill>
                  <a:schemeClr val="bg1"/>
                </a:solidFill>
                <a:latin typeface="Poppins" panose="00000500000000000000" pitchFamily="2" charset="0"/>
                <a:cs typeface="Poppins" panose="00000500000000000000" pitchFamily="2" charset="0"/>
              </a:rPr>
              <a:t>deadlines</a:t>
            </a:r>
            <a:r>
              <a:rPr lang="en-US" sz="3600" dirty="0">
                <a:solidFill>
                  <a:schemeClr val="bg1"/>
                </a:solidFill>
              </a:rPr>
              <a:t> being met?</a:t>
            </a:r>
            <a:endParaRPr lang="en-US" sz="3600" spc="-118" dirty="0">
              <a:solidFill>
                <a:schemeClr val="bg1"/>
              </a:solidFill>
              <a:latin typeface="Poppins"/>
              <a:ea typeface="Poppins"/>
              <a:cs typeface="Poppins"/>
              <a:sym typeface="Poppins"/>
            </a:endParaRPr>
          </a:p>
        </p:txBody>
      </p:sp>
      <p:sp>
        <p:nvSpPr>
          <p:cNvPr id="5" name="TextBox 5"/>
          <p:cNvSpPr txBox="1"/>
          <p:nvPr/>
        </p:nvSpPr>
        <p:spPr>
          <a:xfrm>
            <a:off x="838200" y="6206652"/>
            <a:ext cx="7862804" cy="2548262"/>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4F4F4"/>
                </a:solidFill>
                <a:latin typeface="Inter Extra-Light"/>
                <a:ea typeface="Inter Extra-Light"/>
                <a:cs typeface="Inter Extra-Light"/>
                <a:sym typeface="Inter Extra-Light"/>
              </a:rPr>
              <a:t>Answering this question is crucial for the company, as it could lead to new analyses, and most importantly, reveal the company's current position in relation to deliveries.</a:t>
            </a:r>
          </a:p>
          <a:p>
            <a:pPr algn="just">
              <a:lnSpc>
                <a:spcPts val="2239"/>
              </a:lnSpc>
              <a:spcBef>
                <a:spcPct val="0"/>
              </a:spcBef>
            </a:pPr>
            <a:endParaRPr lang="en-US" sz="2400" dirty="0">
              <a:solidFill>
                <a:srgbClr val="F4F4F4"/>
              </a:solidFill>
              <a:latin typeface="Inter Extra-Light"/>
              <a:ea typeface="Inter Extra-Light"/>
              <a:cs typeface="Inter Extra-Light"/>
              <a:sym typeface="Inter Extra-Light"/>
            </a:endParaRPr>
          </a:p>
          <a:p>
            <a:pPr algn="just">
              <a:lnSpc>
                <a:spcPts val="2239"/>
              </a:lnSpc>
              <a:spcBef>
                <a:spcPct val="0"/>
              </a:spcBef>
            </a:pPr>
            <a:r>
              <a:rPr lang="en-US" sz="2400" dirty="0">
                <a:solidFill>
                  <a:srgbClr val="F4F4F4"/>
                </a:solidFill>
                <a:latin typeface="Inter Extra-Light"/>
                <a:ea typeface="Inter Extra-Light"/>
                <a:cs typeface="Inter Extra-Light"/>
                <a:sym typeface="Inter Extra-Light"/>
              </a:rPr>
              <a:t>KPI used:</a:t>
            </a:r>
          </a:p>
          <a:p>
            <a:pPr algn="just">
              <a:lnSpc>
                <a:spcPts val="2239"/>
              </a:lnSpc>
              <a:spcBef>
                <a:spcPct val="0"/>
              </a:spcBef>
            </a:pPr>
            <a:endParaRPr lang="en-US" sz="2400" dirty="0">
              <a:solidFill>
                <a:srgbClr val="F4F4F4"/>
              </a:solidFill>
              <a:latin typeface="Inter Extra-Light"/>
              <a:ea typeface="Inter Extra-Light"/>
              <a:cs typeface="Inter Extra-Light"/>
              <a:sym typeface="Inter Extra-Light"/>
            </a:endParaRPr>
          </a:p>
          <a:p>
            <a:pPr algn="just">
              <a:lnSpc>
                <a:spcPts val="2239"/>
              </a:lnSpc>
              <a:spcBef>
                <a:spcPct val="0"/>
              </a:spcBef>
            </a:pPr>
            <a:endParaRPr lang="en-US" sz="2400" dirty="0">
              <a:solidFill>
                <a:srgbClr val="F4F4F4"/>
              </a:solidFill>
              <a:latin typeface="Inter Extra-Light"/>
              <a:ea typeface="Inter Extra-Light"/>
              <a:cs typeface="Inter Extra-Light"/>
              <a:sym typeface="Inter Extra-Light"/>
            </a:endParaRPr>
          </a:p>
          <a:p>
            <a:pPr algn="just">
              <a:lnSpc>
                <a:spcPts val="2239"/>
              </a:lnSpc>
              <a:spcBef>
                <a:spcPct val="0"/>
              </a:spcBef>
            </a:pPr>
            <a:r>
              <a:rPr lang="en-US" sz="2400" dirty="0">
                <a:solidFill>
                  <a:schemeClr val="bg1"/>
                </a:solidFill>
              </a:rPr>
              <a:t>OTD=(</a:t>
            </a:r>
            <a:r>
              <a:rPr lang="en-US" sz="2400" dirty="0" err="1">
                <a:solidFill>
                  <a:schemeClr val="bg1"/>
                </a:solidFill>
              </a:rPr>
              <a:t>On_time_early_deliveries</a:t>
            </a:r>
            <a:r>
              <a:rPr lang="en-US" sz="2400" dirty="0">
                <a:solidFill>
                  <a:schemeClr val="bg1"/>
                </a:solidFill>
              </a:rPr>
              <a:t>/Total_deliveriesOn-time​)×100</a:t>
            </a:r>
            <a:endParaRPr lang="en-US" sz="2400" dirty="0">
              <a:solidFill>
                <a:schemeClr val="bg1"/>
              </a:solidFill>
              <a:latin typeface="Inter Extra-Light"/>
              <a:ea typeface="Inter Extra-Light"/>
              <a:cs typeface="Inter Extra-Light"/>
              <a:sym typeface="Inter Extra-Light"/>
            </a:endParaRPr>
          </a:p>
        </p:txBody>
      </p:sp>
      <p:grpSp>
        <p:nvGrpSpPr>
          <p:cNvPr id="6" name="Group 6"/>
          <p:cNvGrpSpPr/>
          <p:nvPr/>
        </p:nvGrpSpPr>
        <p:grpSpPr>
          <a:xfrm>
            <a:off x="9586997" y="1028700"/>
            <a:ext cx="9297103" cy="8229600"/>
            <a:chOff x="0" y="0"/>
            <a:chExt cx="1440365" cy="1274980"/>
          </a:xfrm>
        </p:grpSpPr>
        <p:sp>
          <p:nvSpPr>
            <p:cNvPr id="7" name="Freeform 7"/>
            <p:cNvSpPr/>
            <p:nvPr/>
          </p:nvSpPr>
          <p:spPr>
            <a:xfrm>
              <a:off x="0" y="0"/>
              <a:ext cx="1440365" cy="1274980"/>
            </a:xfrm>
            <a:custGeom>
              <a:avLst/>
              <a:gdLst/>
              <a:ahLst/>
              <a:cxnLst/>
              <a:rect l="l" t="t" r="r" b="b"/>
              <a:pathLst>
                <a:path w="1440365" h="1274980">
                  <a:moveTo>
                    <a:pt x="50796" y="0"/>
                  </a:moveTo>
                  <a:lnTo>
                    <a:pt x="1389568" y="0"/>
                  </a:lnTo>
                  <a:cubicBezTo>
                    <a:pt x="1417622" y="0"/>
                    <a:pt x="1440365" y="22742"/>
                    <a:pt x="1440365" y="50796"/>
                  </a:cubicBezTo>
                  <a:lnTo>
                    <a:pt x="1440365" y="1224184"/>
                  </a:lnTo>
                  <a:cubicBezTo>
                    <a:pt x="1440365" y="1237656"/>
                    <a:pt x="1435013" y="1250576"/>
                    <a:pt x="1425487" y="1260103"/>
                  </a:cubicBezTo>
                  <a:cubicBezTo>
                    <a:pt x="1415961" y="1269629"/>
                    <a:pt x="1403040" y="1274980"/>
                    <a:pt x="1389568" y="1274980"/>
                  </a:cubicBezTo>
                  <a:lnTo>
                    <a:pt x="50796" y="1274980"/>
                  </a:lnTo>
                  <a:cubicBezTo>
                    <a:pt x="22742" y="1274980"/>
                    <a:pt x="0" y="1252238"/>
                    <a:pt x="0" y="1224184"/>
                  </a:cubicBezTo>
                  <a:lnTo>
                    <a:pt x="0" y="50796"/>
                  </a:lnTo>
                  <a:cubicBezTo>
                    <a:pt x="0" y="37324"/>
                    <a:pt x="5352" y="24404"/>
                    <a:pt x="14878" y="14878"/>
                  </a:cubicBezTo>
                  <a:cubicBezTo>
                    <a:pt x="24404" y="5352"/>
                    <a:pt x="37324" y="0"/>
                    <a:pt x="50796" y="0"/>
                  </a:cubicBezTo>
                  <a:close/>
                </a:path>
              </a:pathLst>
            </a:custGeom>
            <a:blipFill>
              <a:blip r:embed="rId2"/>
              <a:stretch>
                <a:fillRect t="-34781" b="-34781"/>
              </a:stretch>
            </a:blipFill>
            <a:ln w="9525" cap="rnd">
              <a:solidFill>
                <a:srgbClr val="FFFFFF"/>
              </a:solidFill>
              <a:prstDash val="solid"/>
              <a:round/>
            </a:ln>
          </p:spPr>
          <p:txBody>
            <a:bodyPr/>
            <a:lstStyle/>
            <a:p>
              <a:endParaRPr lang="fr-BE"/>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0" y="5143500"/>
            <a:ext cx="12279636" cy="0"/>
          </a:xfrm>
          <a:prstGeom prst="line">
            <a:avLst/>
          </a:prstGeom>
          <a:ln w="9525" cap="rnd">
            <a:solidFill>
              <a:srgbClr val="F4F4F4"/>
            </a:solidFill>
            <a:prstDash val="solid"/>
            <a:headEnd type="none" w="sm" len="sm"/>
            <a:tailEnd type="none" w="sm" len="sm"/>
          </a:ln>
        </p:spPr>
        <p:txBody>
          <a:bodyPr/>
          <a:lstStyle/>
          <a:p>
            <a:endParaRPr lang="fr-BE"/>
          </a:p>
        </p:txBody>
      </p:sp>
      <p:sp>
        <p:nvSpPr>
          <p:cNvPr id="3" name="AutoShape 3"/>
          <p:cNvSpPr/>
          <p:nvPr/>
        </p:nvSpPr>
        <p:spPr>
          <a:xfrm flipV="1">
            <a:off x="12279636" y="0"/>
            <a:ext cx="0" cy="10321060"/>
          </a:xfrm>
          <a:prstGeom prst="line">
            <a:avLst/>
          </a:prstGeom>
          <a:ln w="9525" cap="rnd">
            <a:solidFill>
              <a:srgbClr val="F4F4F4"/>
            </a:solidFill>
            <a:prstDash val="solid"/>
            <a:headEnd type="none" w="sm" len="sm"/>
            <a:tailEnd type="none" w="sm" len="sm"/>
          </a:ln>
        </p:spPr>
        <p:txBody>
          <a:bodyPr/>
          <a:lstStyle/>
          <a:p>
            <a:endParaRPr lang="fr-BE"/>
          </a:p>
        </p:txBody>
      </p:sp>
      <p:grpSp>
        <p:nvGrpSpPr>
          <p:cNvPr id="4" name="Group 4"/>
          <p:cNvGrpSpPr/>
          <p:nvPr/>
        </p:nvGrpSpPr>
        <p:grpSpPr>
          <a:xfrm>
            <a:off x="13356138" y="1028700"/>
            <a:ext cx="3903162" cy="823858"/>
            <a:chOff x="0" y="0"/>
            <a:chExt cx="1027993" cy="216983"/>
          </a:xfrm>
        </p:grpSpPr>
        <p:sp>
          <p:nvSpPr>
            <p:cNvPr id="5" name="Freeform 5"/>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6" name="TextBox 6"/>
            <p:cNvSpPr txBox="1"/>
            <p:nvPr/>
          </p:nvSpPr>
          <p:spPr>
            <a:xfrm>
              <a:off x="0" y="-76200"/>
              <a:ext cx="1027993" cy="293183"/>
            </a:xfrm>
            <a:prstGeom prst="rect">
              <a:avLst/>
            </a:prstGeom>
          </p:spPr>
          <p:txBody>
            <a:bodyPr lIns="50800" tIns="50800" rIns="50800" bIns="50800" rtlCol="0" anchor="ctr"/>
            <a:lstStyle/>
            <a:p>
              <a:pPr algn="ctr">
                <a:lnSpc>
                  <a:spcPts val="3530"/>
                </a:lnSpc>
              </a:pPr>
              <a:r>
                <a:rPr lang="en-US" sz="2521" b="1" spc="52" dirty="0">
                  <a:solidFill>
                    <a:srgbClr val="F4F4F4"/>
                  </a:solidFill>
                  <a:latin typeface="Poppins Medium"/>
                  <a:ea typeface="Poppins Medium"/>
                  <a:cs typeface="Poppins Medium"/>
                  <a:sym typeface="Poppins Medium"/>
                </a:rPr>
                <a:t>COLLECT DATA</a:t>
              </a:r>
            </a:p>
          </p:txBody>
        </p:sp>
      </p:grpSp>
      <p:grpSp>
        <p:nvGrpSpPr>
          <p:cNvPr id="7" name="Group 7"/>
          <p:cNvGrpSpPr/>
          <p:nvPr/>
        </p:nvGrpSpPr>
        <p:grpSpPr>
          <a:xfrm>
            <a:off x="13356138" y="2848191"/>
            <a:ext cx="3903162" cy="823858"/>
            <a:chOff x="0" y="0"/>
            <a:chExt cx="1027993" cy="216983"/>
          </a:xfrm>
        </p:grpSpPr>
        <p:sp>
          <p:nvSpPr>
            <p:cNvPr id="8" name="Freeform 8"/>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9" name="TextBox 9"/>
            <p:cNvSpPr txBox="1"/>
            <p:nvPr/>
          </p:nvSpPr>
          <p:spPr>
            <a:xfrm>
              <a:off x="0" y="-76200"/>
              <a:ext cx="1027993" cy="293183"/>
            </a:xfrm>
            <a:prstGeom prst="rect">
              <a:avLst/>
            </a:prstGeom>
          </p:spPr>
          <p:txBody>
            <a:bodyPr lIns="50800" tIns="50800" rIns="50800" bIns="50800" rtlCol="0" anchor="ctr"/>
            <a:lstStyle/>
            <a:p>
              <a:pPr algn="ctr">
                <a:lnSpc>
                  <a:spcPts val="3530"/>
                </a:lnSpc>
              </a:pPr>
              <a:r>
                <a:rPr lang="en-US" sz="2521" b="1" spc="52" dirty="0">
                  <a:solidFill>
                    <a:srgbClr val="F4F4F4"/>
                  </a:solidFill>
                  <a:latin typeface="Poppins Medium"/>
                  <a:ea typeface="Poppins Medium"/>
                  <a:cs typeface="Poppins Medium"/>
                  <a:sym typeface="Poppins Medium"/>
                </a:rPr>
                <a:t>DATABASE INSERTION</a:t>
              </a:r>
            </a:p>
          </p:txBody>
        </p:sp>
      </p:grpSp>
      <p:grpSp>
        <p:nvGrpSpPr>
          <p:cNvPr id="10" name="Group 10"/>
          <p:cNvGrpSpPr/>
          <p:nvPr/>
        </p:nvGrpSpPr>
        <p:grpSpPr>
          <a:xfrm>
            <a:off x="13331253" y="4565614"/>
            <a:ext cx="3928047" cy="1113180"/>
            <a:chOff x="-6554" y="-38100"/>
            <a:chExt cx="1034547" cy="293183"/>
          </a:xfrm>
        </p:grpSpPr>
        <p:sp>
          <p:nvSpPr>
            <p:cNvPr id="11" name="Freeform 11"/>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12" name="TextBox 12"/>
            <p:cNvSpPr txBox="1"/>
            <p:nvPr/>
          </p:nvSpPr>
          <p:spPr>
            <a:xfrm>
              <a:off x="-6554" y="-38100"/>
              <a:ext cx="1027993" cy="293183"/>
            </a:xfrm>
            <a:prstGeom prst="rect">
              <a:avLst/>
            </a:prstGeom>
          </p:spPr>
          <p:txBody>
            <a:bodyPr lIns="50800" tIns="50800" rIns="50800" bIns="50800" rtlCol="0" anchor="ctr"/>
            <a:lstStyle/>
            <a:p>
              <a:pPr algn="ctr">
                <a:lnSpc>
                  <a:spcPts val="3530"/>
                </a:lnSpc>
              </a:pPr>
              <a:r>
                <a:rPr lang="en-US" sz="2521" b="1" spc="52" dirty="0">
                  <a:solidFill>
                    <a:srgbClr val="F4F4F4"/>
                  </a:solidFill>
                  <a:latin typeface="Poppins Medium"/>
                  <a:ea typeface="Poppins Medium"/>
                  <a:cs typeface="Poppins Medium"/>
                  <a:sym typeface="Poppins Medium"/>
                </a:rPr>
                <a:t>CREATION OF SCHEMAS</a:t>
              </a:r>
            </a:p>
          </p:txBody>
        </p:sp>
      </p:grpSp>
      <p:grpSp>
        <p:nvGrpSpPr>
          <p:cNvPr id="13" name="Group 13"/>
          <p:cNvGrpSpPr/>
          <p:nvPr/>
        </p:nvGrpSpPr>
        <p:grpSpPr>
          <a:xfrm>
            <a:off x="13356138" y="6572358"/>
            <a:ext cx="3903162" cy="823858"/>
            <a:chOff x="0" y="0"/>
            <a:chExt cx="1027993" cy="216983"/>
          </a:xfrm>
        </p:grpSpPr>
        <p:sp>
          <p:nvSpPr>
            <p:cNvPr id="14" name="Freeform 14"/>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15" name="TextBox 15"/>
            <p:cNvSpPr txBox="1"/>
            <p:nvPr/>
          </p:nvSpPr>
          <p:spPr>
            <a:xfrm>
              <a:off x="0" y="-76200"/>
              <a:ext cx="1027993" cy="293183"/>
            </a:xfrm>
            <a:prstGeom prst="rect">
              <a:avLst/>
            </a:prstGeom>
          </p:spPr>
          <p:txBody>
            <a:bodyPr lIns="50800" tIns="50800" rIns="50800" bIns="50800" rtlCol="0" anchor="ctr"/>
            <a:lstStyle/>
            <a:p>
              <a:pPr algn="ctr">
                <a:lnSpc>
                  <a:spcPts val="3530"/>
                </a:lnSpc>
              </a:pPr>
              <a:r>
                <a:rPr lang="en-US" sz="2521" b="1" spc="52" dirty="0">
                  <a:solidFill>
                    <a:srgbClr val="F4F4F4"/>
                  </a:solidFill>
                  <a:latin typeface="Poppins Medium"/>
                  <a:ea typeface="Poppins Medium"/>
                  <a:cs typeface="Poppins Medium"/>
                  <a:sym typeface="Poppins Medium"/>
                </a:rPr>
                <a:t>DATA MODELING</a:t>
              </a:r>
            </a:p>
          </p:txBody>
        </p:sp>
      </p:grpSp>
      <p:grpSp>
        <p:nvGrpSpPr>
          <p:cNvPr id="16" name="Group 16"/>
          <p:cNvGrpSpPr/>
          <p:nvPr/>
        </p:nvGrpSpPr>
        <p:grpSpPr>
          <a:xfrm>
            <a:off x="13356138" y="8434442"/>
            <a:ext cx="3903162" cy="823858"/>
            <a:chOff x="0" y="0"/>
            <a:chExt cx="1027993" cy="216983"/>
          </a:xfrm>
        </p:grpSpPr>
        <p:sp>
          <p:nvSpPr>
            <p:cNvPr id="17" name="Freeform 17"/>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18" name="TextBox 18"/>
            <p:cNvSpPr txBox="1"/>
            <p:nvPr/>
          </p:nvSpPr>
          <p:spPr>
            <a:xfrm>
              <a:off x="0" y="-76200"/>
              <a:ext cx="1027993" cy="293183"/>
            </a:xfrm>
            <a:prstGeom prst="rect">
              <a:avLst/>
            </a:prstGeom>
          </p:spPr>
          <p:txBody>
            <a:bodyPr lIns="50800" tIns="50800" rIns="50800" bIns="50800" rtlCol="0" anchor="ctr"/>
            <a:lstStyle/>
            <a:p>
              <a:pPr algn="ctr">
                <a:lnSpc>
                  <a:spcPts val="3530"/>
                </a:lnSpc>
              </a:pPr>
              <a:r>
                <a:rPr lang="en-US" sz="2521" b="1" spc="52" dirty="0">
                  <a:solidFill>
                    <a:srgbClr val="F4F4F4"/>
                  </a:solidFill>
                  <a:latin typeface="Poppins Medium"/>
                  <a:ea typeface="Poppins Medium"/>
                  <a:cs typeface="Poppins Medium"/>
                  <a:sym typeface="Poppins Medium"/>
                </a:rPr>
                <a:t>ANALYSIS</a:t>
              </a:r>
            </a:p>
          </p:txBody>
        </p:sp>
      </p:grpSp>
      <p:grpSp>
        <p:nvGrpSpPr>
          <p:cNvPr id="19" name="Group 19"/>
          <p:cNvGrpSpPr/>
          <p:nvPr/>
        </p:nvGrpSpPr>
        <p:grpSpPr>
          <a:xfrm>
            <a:off x="11873585" y="1040458"/>
            <a:ext cx="812101" cy="81210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txBody>
            <a:bodyPr/>
            <a:lstStyle/>
            <a:p>
              <a:endParaRPr lang="fr-BE"/>
            </a:p>
          </p:txBody>
        </p:sp>
        <p:sp>
          <p:nvSpPr>
            <p:cNvPr id="21" name="TextBox 21"/>
            <p:cNvSpPr txBox="1"/>
            <p:nvPr/>
          </p:nvSpPr>
          <p:spPr>
            <a:xfrm>
              <a:off x="76200" y="9525"/>
              <a:ext cx="660400" cy="727075"/>
            </a:xfrm>
            <a:prstGeom prst="rect">
              <a:avLst/>
            </a:prstGeom>
          </p:spPr>
          <p:txBody>
            <a:bodyPr lIns="50800" tIns="50800" rIns="50800" bIns="50800" rtlCol="0" anchor="ctr"/>
            <a:lstStyle/>
            <a:p>
              <a:pPr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22" name="Group 22"/>
          <p:cNvGrpSpPr/>
          <p:nvPr/>
        </p:nvGrpSpPr>
        <p:grpSpPr>
          <a:xfrm>
            <a:off x="11873585" y="2848191"/>
            <a:ext cx="812101" cy="81210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txBody>
            <a:bodyPr/>
            <a:lstStyle/>
            <a:p>
              <a:endParaRPr lang="fr-BE"/>
            </a:p>
          </p:txBody>
        </p:sp>
        <p:sp>
          <p:nvSpPr>
            <p:cNvPr id="24" name="TextBox 24"/>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25" name="Group 25"/>
          <p:cNvGrpSpPr/>
          <p:nvPr/>
        </p:nvGrpSpPr>
        <p:grpSpPr>
          <a:xfrm>
            <a:off x="11873585" y="4737450"/>
            <a:ext cx="812101" cy="81210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txBody>
            <a:bodyPr/>
            <a:lstStyle/>
            <a:p>
              <a:endParaRPr lang="fr-BE"/>
            </a:p>
          </p:txBody>
        </p:sp>
        <p:sp>
          <p:nvSpPr>
            <p:cNvPr id="27" name="TextBox 27"/>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28" name="Group 28"/>
          <p:cNvGrpSpPr/>
          <p:nvPr/>
        </p:nvGrpSpPr>
        <p:grpSpPr>
          <a:xfrm>
            <a:off x="11873585" y="6584116"/>
            <a:ext cx="812101" cy="81210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txBody>
            <a:bodyPr/>
            <a:lstStyle/>
            <a:p>
              <a:endParaRPr lang="fr-BE"/>
            </a:p>
          </p:txBody>
        </p:sp>
        <p:sp>
          <p:nvSpPr>
            <p:cNvPr id="30" name="TextBox 30"/>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4</a:t>
              </a:r>
            </a:p>
          </p:txBody>
        </p:sp>
      </p:grpSp>
      <p:grpSp>
        <p:nvGrpSpPr>
          <p:cNvPr id="31" name="Group 31"/>
          <p:cNvGrpSpPr/>
          <p:nvPr/>
        </p:nvGrpSpPr>
        <p:grpSpPr>
          <a:xfrm>
            <a:off x="11873585" y="8472542"/>
            <a:ext cx="812101" cy="81210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txBody>
            <a:bodyPr/>
            <a:lstStyle/>
            <a:p>
              <a:endParaRPr lang="fr-BE"/>
            </a:p>
          </p:txBody>
        </p:sp>
        <p:sp>
          <p:nvSpPr>
            <p:cNvPr id="33" name="TextBox 33"/>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dirty="0">
                  <a:solidFill>
                    <a:srgbClr val="FFFFFF"/>
                  </a:solidFill>
                  <a:latin typeface="Poppins Medium"/>
                  <a:ea typeface="Poppins Medium"/>
                  <a:cs typeface="Poppins Medium"/>
                  <a:sym typeface="Poppins Medium"/>
                </a:rPr>
                <a:t>5</a:t>
              </a:r>
            </a:p>
          </p:txBody>
        </p:sp>
      </p:grpSp>
      <p:grpSp>
        <p:nvGrpSpPr>
          <p:cNvPr id="34" name="Group 34"/>
          <p:cNvGrpSpPr/>
          <p:nvPr/>
        </p:nvGrpSpPr>
        <p:grpSpPr>
          <a:xfrm>
            <a:off x="1028700" y="1949940"/>
            <a:ext cx="9306328" cy="6238053"/>
            <a:chOff x="0" y="114300"/>
            <a:chExt cx="12408437" cy="8317404"/>
          </a:xfrm>
        </p:grpSpPr>
        <p:sp>
          <p:nvSpPr>
            <p:cNvPr id="35" name="TextBox 35"/>
            <p:cNvSpPr txBox="1"/>
            <p:nvPr/>
          </p:nvSpPr>
          <p:spPr>
            <a:xfrm>
              <a:off x="0" y="114300"/>
              <a:ext cx="11221669" cy="2833083"/>
            </a:xfrm>
            <a:prstGeom prst="rect">
              <a:avLst/>
            </a:prstGeom>
          </p:spPr>
          <p:txBody>
            <a:bodyPr lIns="0" tIns="0" rIns="0" bIns="0" rtlCol="0" anchor="t">
              <a:spAutoFit/>
            </a:bodyPr>
            <a:lstStyle/>
            <a:p>
              <a:pPr algn="l">
                <a:lnSpc>
                  <a:spcPts val="8122"/>
                </a:lnSpc>
              </a:pPr>
              <a:r>
                <a:rPr lang="en-US" sz="8550" b="1" spc="-359" dirty="0">
                  <a:solidFill>
                    <a:srgbClr val="F4F4F4"/>
                  </a:solidFill>
                  <a:latin typeface="Poppins Medium"/>
                  <a:ea typeface="Poppins Medium"/>
                  <a:cs typeface="Poppins Medium"/>
                  <a:sym typeface="Poppins Medium"/>
                </a:rPr>
                <a:t>Data Preparation </a:t>
              </a:r>
            </a:p>
          </p:txBody>
        </p:sp>
        <p:sp>
          <p:nvSpPr>
            <p:cNvPr id="36" name="TextBox 36"/>
            <p:cNvSpPr txBox="1"/>
            <p:nvPr/>
          </p:nvSpPr>
          <p:spPr>
            <a:xfrm>
              <a:off x="0" y="5929417"/>
              <a:ext cx="9289355" cy="650572"/>
            </a:xfrm>
            <a:prstGeom prst="rect">
              <a:avLst/>
            </a:prstGeom>
          </p:spPr>
          <p:txBody>
            <a:bodyPr lIns="0" tIns="0" rIns="0" bIns="0" rtlCol="0" anchor="t">
              <a:spAutoFit/>
            </a:bodyPr>
            <a:lstStyle/>
            <a:p>
              <a:pPr algn="l">
                <a:lnSpc>
                  <a:spcPts val="3950"/>
                </a:lnSpc>
                <a:spcBef>
                  <a:spcPct val="0"/>
                </a:spcBef>
              </a:pPr>
              <a:r>
                <a:rPr lang="en-US" sz="2821" spc="-118" dirty="0">
                  <a:solidFill>
                    <a:srgbClr val="F4F4F4"/>
                  </a:solidFill>
                  <a:latin typeface="Poppins"/>
                  <a:ea typeface="Poppins"/>
                  <a:cs typeface="Poppins"/>
                  <a:sym typeface="Poppins"/>
                </a:rPr>
                <a:t>5 Key Steps to Analyze Data</a:t>
              </a:r>
            </a:p>
          </p:txBody>
        </p:sp>
        <p:sp>
          <p:nvSpPr>
            <p:cNvPr id="37" name="TextBox 37"/>
            <p:cNvSpPr txBox="1"/>
            <p:nvPr/>
          </p:nvSpPr>
          <p:spPr>
            <a:xfrm>
              <a:off x="0" y="7303189"/>
              <a:ext cx="12408437" cy="1128515"/>
            </a:xfrm>
            <a:prstGeom prst="rect">
              <a:avLst/>
            </a:prstGeom>
          </p:spPr>
          <p:txBody>
            <a:bodyPr lIns="0" tIns="0" rIns="0" bIns="0" rtlCol="0" anchor="t">
              <a:spAutoFit/>
            </a:bodyPr>
            <a:lstStyle/>
            <a:p>
              <a:pPr algn="just">
                <a:lnSpc>
                  <a:spcPts val="2239"/>
                </a:lnSpc>
                <a:spcBef>
                  <a:spcPct val="0"/>
                </a:spcBef>
              </a:pPr>
              <a:r>
                <a:rPr lang="en-US" sz="2000" dirty="0">
                  <a:solidFill>
                    <a:srgbClr val="F4F4F4"/>
                  </a:solidFill>
                  <a:latin typeface="Inter Extra-Light"/>
                  <a:ea typeface="Inter Extra-Light"/>
                  <a:cs typeface="Inter Extra-Light"/>
                  <a:sym typeface="Inter Extra-Light"/>
                </a:rPr>
                <a:t>The steps used for this analysis are briefly described, from the extraction of the CSV file which was saved in the PostgreSQL database; it is a complete process that fulfills the ETL process.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5143500"/>
            <a:ext cx="18288000" cy="0"/>
          </a:xfrm>
          <a:prstGeom prst="line">
            <a:avLst/>
          </a:prstGeom>
          <a:ln w="9525" cap="rnd">
            <a:solidFill>
              <a:srgbClr val="F4F4F4"/>
            </a:solidFill>
            <a:prstDash val="solid"/>
            <a:headEnd type="none" w="sm" len="sm"/>
            <a:tailEnd type="none" w="sm" len="sm"/>
          </a:ln>
        </p:spPr>
        <p:txBody>
          <a:bodyPr/>
          <a:lstStyle/>
          <a:p>
            <a:endParaRPr lang="fr-BE"/>
          </a:p>
        </p:txBody>
      </p:sp>
      <p:sp>
        <p:nvSpPr>
          <p:cNvPr id="3" name="TextBox 3"/>
          <p:cNvSpPr txBox="1"/>
          <p:nvPr/>
        </p:nvSpPr>
        <p:spPr>
          <a:xfrm>
            <a:off x="9494920" y="1995025"/>
            <a:ext cx="6967016" cy="2214562"/>
          </a:xfrm>
          <a:prstGeom prst="rect">
            <a:avLst/>
          </a:prstGeom>
        </p:spPr>
        <p:txBody>
          <a:bodyPr lIns="0" tIns="0" rIns="0" bIns="0" rtlCol="0" anchor="t">
            <a:spAutoFit/>
          </a:bodyPr>
          <a:lstStyle/>
          <a:p>
            <a:pPr algn="l">
              <a:lnSpc>
                <a:spcPts val="8122"/>
              </a:lnSpc>
            </a:pPr>
            <a:r>
              <a:rPr lang="en-US" sz="8550" b="1" spc="-359">
                <a:solidFill>
                  <a:srgbClr val="F4F4F4"/>
                </a:solidFill>
                <a:latin typeface="Poppins Medium"/>
                <a:ea typeface="Poppins Medium"/>
                <a:cs typeface="Poppins Medium"/>
                <a:sym typeface="Poppins Medium"/>
              </a:rPr>
              <a:t>Tools for </a:t>
            </a:r>
          </a:p>
          <a:p>
            <a:pPr algn="l">
              <a:lnSpc>
                <a:spcPts val="8122"/>
              </a:lnSpc>
            </a:pPr>
            <a:r>
              <a:rPr lang="en-US" sz="8550" b="1" spc="-359">
                <a:solidFill>
                  <a:srgbClr val="F4F4F4"/>
                </a:solidFill>
                <a:latin typeface="Poppins Medium"/>
                <a:ea typeface="Poppins Medium"/>
                <a:cs typeface="Poppins Medium"/>
                <a:sym typeface="Poppins Medium"/>
              </a:rPr>
              <a:t>Data Analysis</a:t>
            </a:r>
          </a:p>
        </p:txBody>
      </p:sp>
      <p:sp>
        <p:nvSpPr>
          <p:cNvPr id="4" name="TextBox 4"/>
          <p:cNvSpPr txBox="1"/>
          <p:nvPr/>
        </p:nvSpPr>
        <p:spPr>
          <a:xfrm>
            <a:off x="9473149" y="4457700"/>
            <a:ext cx="6967016" cy="486030"/>
          </a:xfrm>
          <a:prstGeom prst="rect">
            <a:avLst/>
          </a:prstGeom>
        </p:spPr>
        <p:txBody>
          <a:bodyPr lIns="0" tIns="0" rIns="0" bIns="0" rtlCol="0" anchor="t">
            <a:spAutoFit/>
          </a:bodyPr>
          <a:lstStyle/>
          <a:p>
            <a:pPr algn="l">
              <a:lnSpc>
                <a:spcPts val="3950"/>
              </a:lnSpc>
              <a:spcBef>
                <a:spcPct val="0"/>
              </a:spcBef>
            </a:pPr>
            <a:r>
              <a:rPr lang="en-US" sz="2821" spc="-118" dirty="0">
                <a:solidFill>
                  <a:srgbClr val="F4F4F4"/>
                </a:solidFill>
                <a:latin typeface="Poppins"/>
                <a:ea typeface="Poppins"/>
                <a:cs typeface="Poppins"/>
                <a:sym typeface="Poppins"/>
              </a:rPr>
              <a:t>Essential Software:</a:t>
            </a:r>
          </a:p>
        </p:txBody>
      </p:sp>
      <p:grpSp>
        <p:nvGrpSpPr>
          <p:cNvPr id="6" name="Group 6"/>
          <p:cNvGrpSpPr/>
          <p:nvPr/>
        </p:nvGrpSpPr>
        <p:grpSpPr>
          <a:xfrm>
            <a:off x="-1046349" y="1028700"/>
            <a:ext cx="9573334" cy="8229600"/>
            <a:chOff x="0" y="0"/>
            <a:chExt cx="1483160" cy="1274980"/>
          </a:xfrm>
        </p:grpSpPr>
        <p:sp>
          <p:nvSpPr>
            <p:cNvPr id="7" name="Freeform 7"/>
            <p:cNvSpPr/>
            <p:nvPr/>
          </p:nvSpPr>
          <p:spPr>
            <a:xfrm>
              <a:off x="0" y="0"/>
              <a:ext cx="1483160" cy="1274980"/>
            </a:xfrm>
            <a:custGeom>
              <a:avLst/>
              <a:gdLst/>
              <a:ahLst/>
              <a:cxnLst/>
              <a:rect l="l" t="t" r="r" b="b"/>
              <a:pathLst>
                <a:path w="1483160" h="1274980">
                  <a:moveTo>
                    <a:pt x="49330" y="0"/>
                  </a:moveTo>
                  <a:lnTo>
                    <a:pt x="1433829" y="0"/>
                  </a:lnTo>
                  <a:cubicBezTo>
                    <a:pt x="1446913" y="0"/>
                    <a:pt x="1459460" y="5197"/>
                    <a:pt x="1468711" y="14449"/>
                  </a:cubicBezTo>
                  <a:cubicBezTo>
                    <a:pt x="1477963" y="23700"/>
                    <a:pt x="1483160" y="36247"/>
                    <a:pt x="1483160" y="49330"/>
                  </a:cubicBezTo>
                  <a:lnTo>
                    <a:pt x="1483160" y="1225650"/>
                  </a:lnTo>
                  <a:cubicBezTo>
                    <a:pt x="1483160" y="1238733"/>
                    <a:pt x="1477963" y="1251281"/>
                    <a:pt x="1468711" y="1260532"/>
                  </a:cubicBezTo>
                  <a:cubicBezTo>
                    <a:pt x="1459460" y="1269783"/>
                    <a:pt x="1446913" y="1274980"/>
                    <a:pt x="1433829" y="1274980"/>
                  </a:cubicBezTo>
                  <a:lnTo>
                    <a:pt x="49330" y="1274980"/>
                  </a:lnTo>
                  <a:cubicBezTo>
                    <a:pt x="36247" y="1274980"/>
                    <a:pt x="23700" y="1269783"/>
                    <a:pt x="14449" y="1260532"/>
                  </a:cubicBezTo>
                  <a:cubicBezTo>
                    <a:pt x="5197" y="1251281"/>
                    <a:pt x="0" y="1238733"/>
                    <a:pt x="0" y="1225650"/>
                  </a:cubicBezTo>
                  <a:lnTo>
                    <a:pt x="0" y="49330"/>
                  </a:lnTo>
                  <a:cubicBezTo>
                    <a:pt x="0" y="36247"/>
                    <a:pt x="5197" y="23700"/>
                    <a:pt x="14449" y="14449"/>
                  </a:cubicBezTo>
                  <a:cubicBezTo>
                    <a:pt x="23700" y="5197"/>
                    <a:pt x="36247" y="0"/>
                    <a:pt x="49330" y="0"/>
                  </a:cubicBezTo>
                  <a:close/>
                </a:path>
              </a:pathLst>
            </a:custGeom>
            <a:blipFill>
              <a:blip r:embed="rId2"/>
              <a:stretch>
                <a:fillRect l="-30473" t="-71608" b="-56057"/>
              </a:stretch>
            </a:blipFill>
            <a:ln w="9525" cap="rnd">
              <a:solidFill>
                <a:srgbClr val="FFFFFF"/>
              </a:solidFill>
              <a:prstDash val="solid"/>
              <a:round/>
            </a:ln>
          </p:spPr>
          <p:txBody>
            <a:bodyPr/>
            <a:lstStyle/>
            <a:p>
              <a:endParaRPr lang="fr-BE"/>
            </a:p>
          </p:txBody>
        </p:sp>
      </p:grpSp>
      <p:pic>
        <p:nvPicPr>
          <p:cNvPr id="8" name="Image 7" descr="Releases · dbeaver/dbeaver">
            <a:extLst>
              <a:ext uri="{FF2B5EF4-FFF2-40B4-BE49-F238E27FC236}">
                <a16:creationId xmlns:a16="http://schemas.microsoft.com/office/drawing/2014/main" id="{67F47CE3-D641-3BEB-88D6-2DFFE5E0515A}"/>
              </a:ext>
            </a:extLst>
          </p:cNvPr>
          <p:cNvPicPr>
            <a:picLocks noChangeAspect="1"/>
          </p:cNvPicPr>
          <p:nvPr/>
        </p:nvPicPr>
        <p:blipFill>
          <a:blip r:embed="rId3"/>
          <a:stretch>
            <a:fillRect/>
          </a:stretch>
        </p:blipFill>
        <p:spPr>
          <a:xfrm>
            <a:off x="8991600" y="5294283"/>
            <a:ext cx="2667000" cy="1333500"/>
          </a:xfrm>
          <a:prstGeom prst="rect">
            <a:avLst/>
          </a:prstGeom>
        </p:spPr>
      </p:pic>
      <p:pic>
        <p:nvPicPr>
          <p:cNvPr id="9" name="Image 8" descr="PostgreSQL Database Logo, database symbol, blue, text png ...">
            <a:extLst>
              <a:ext uri="{FF2B5EF4-FFF2-40B4-BE49-F238E27FC236}">
                <a16:creationId xmlns:a16="http://schemas.microsoft.com/office/drawing/2014/main" id="{F635CDCB-5442-F63A-E4C9-A226C053652F}"/>
              </a:ext>
            </a:extLst>
          </p:cNvPr>
          <p:cNvPicPr>
            <a:picLocks noChangeAspect="1"/>
          </p:cNvPicPr>
          <p:nvPr/>
        </p:nvPicPr>
        <p:blipFill>
          <a:blip r:embed="rId4"/>
          <a:stretch>
            <a:fillRect/>
          </a:stretch>
        </p:blipFill>
        <p:spPr>
          <a:xfrm>
            <a:off x="9144000" y="6709918"/>
            <a:ext cx="2514600" cy="1333500"/>
          </a:xfrm>
          <a:prstGeom prst="rect">
            <a:avLst/>
          </a:prstGeom>
        </p:spPr>
      </p:pic>
      <p:pic>
        <p:nvPicPr>
          <p:cNvPr id="10" name="Image 9" descr="Python png images | PNGWing">
            <a:extLst>
              <a:ext uri="{FF2B5EF4-FFF2-40B4-BE49-F238E27FC236}">
                <a16:creationId xmlns:a16="http://schemas.microsoft.com/office/drawing/2014/main" id="{B6C2FB05-C206-F59B-1CB9-F8068C9A8221}"/>
              </a:ext>
            </a:extLst>
          </p:cNvPr>
          <p:cNvPicPr>
            <a:picLocks noChangeAspect="1"/>
          </p:cNvPicPr>
          <p:nvPr/>
        </p:nvPicPr>
        <p:blipFill>
          <a:blip r:embed="rId5"/>
          <a:stretch>
            <a:fillRect/>
          </a:stretch>
        </p:blipFill>
        <p:spPr>
          <a:xfrm>
            <a:off x="9150998" y="8550245"/>
            <a:ext cx="1416109" cy="1416109"/>
          </a:xfrm>
          <a:prstGeom prst="rect">
            <a:avLst/>
          </a:prstGeom>
        </p:spPr>
      </p:pic>
      <p:sp>
        <p:nvSpPr>
          <p:cNvPr id="11" name="ZoneTexte 10">
            <a:extLst>
              <a:ext uri="{FF2B5EF4-FFF2-40B4-BE49-F238E27FC236}">
                <a16:creationId xmlns:a16="http://schemas.microsoft.com/office/drawing/2014/main" id="{A76BCF72-5F2B-0FC6-36DB-7244EF655331}"/>
              </a:ext>
            </a:extLst>
          </p:cNvPr>
          <p:cNvSpPr txBox="1"/>
          <p:nvPr/>
        </p:nvSpPr>
        <p:spPr>
          <a:xfrm>
            <a:off x="12649200" y="6149757"/>
            <a:ext cx="5029200" cy="3108543"/>
          </a:xfrm>
          <a:prstGeom prst="rect">
            <a:avLst/>
          </a:prstGeom>
          <a:noFill/>
        </p:spPr>
        <p:txBody>
          <a:bodyPr wrap="square" rtlCol="0">
            <a:spAutoFit/>
          </a:bodyPr>
          <a:lstStyle/>
          <a:p>
            <a:r>
              <a:rPr lang="en-US" sz="2800" dirty="0">
                <a:solidFill>
                  <a:schemeClr val="bg1"/>
                </a:solidFill>
                <a:latin typeface="Inter Extra-Light" panose="020B0604020202020204" charset="0"/>
                <a:ea typeface="Inter Extra-Light" panose="020B0604020202020204" charset="0"/>
              </a:rPr>
              <a:t>For this analysis, I decided to use </a:t>
            </a:r>
            <a:r>
              <a:rPr lang="en-US" sz="2800" dirty="0" err="1">
                <a:solidFill>
                  <a:schemeClr val="bg1"/>
                </a:solidFill>
                <a:latin typeface="Inter Extra-Light" panose="020B0604020202020204" charset="0"/>
                <a:ea typeface="Inter Extra-Light" panose="020B0604020202020204" charset="0"/>
              </a:rPr>
              <a:t>DBeaver</a:t>
            </a:r>
            <a:r>
              <a:rPr lang="en-US" sz="2800" dirty="0">
                <a:solidFill>
                  <a:schemeClr val="bg1"/>
                </a:solidFill>
                <a:latin typeface="Inter Extra-Light" panose="020B0604020202020204" charset="0"/>
                <a:ea typeface="Inter Extra-Light" panose="020B0604020202020204" charset="0"/>
              </a:rPr>
              <a:t> as a client to connect to the </a:t>
            </a:r>
            <a:r>
              <a:rPr lang="en-US" sz="2800" dirty="0" err="1">
                <a:solidFill>
                  <a:schemeClr val="bg1"/>
                </a:solidFill>
                <a:latin typeface="Inter Extra-Light" panose="020B0604020202020204" charset="0"/>
                <a:ea typeface="Inter Extra-Light" panose="020B0604020202020204" charset="0"/>
              </a:rPr>
              <a:t>Postgre</a:t>
            </a:r>
            <a:r>
              <a:rPr lang="en-US" sz="2800" dirty="0">
                <a:solidFill>
                  <a:schemeClr val="bg1"/>
                </a:solidFill>
                <a:latin typeface="Inter Extra-Light" panose="020B0604020202020204" charset="0"/>
                <a:ea typeface="Inter Extra-Light" panose="020B0604020202020204" charset="0"/>
              </a:rPr>
              <a:t> Cloud database. Python plays an important role in data extraction, pipeline construction, and analysis.</a:t>
            </a:r>
            <a:endParaRPr lang="fr-BE" sz="2800" dirty="0">
              <a:solidFill>
                <a:schemeClr val="bg1"/>
              </a:solidFill>
              <a:latin typeface="Inter Extra-Light" panose="020B0604020202020204" charset="0"/>
              <a:ea typeface="Inter Extra-Light"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AutoShape 3"/>
          <p:cNvSpPr/>
          <p:nvPr/>
        </p:nvSpPr>
        <p:spPr>
          <a:xfrm flipV="1">
            <a:off x="-44299" y="1485900"/>
            <a:ext cx="18288000" cy="0"/>
          </a:xfrm>
          <a:prstGeom prst="line">
            <a:avLst/>
          </a:prstGeom>
          <a:ln w="9525" cap="rnd">
            <a:solidFill>
              <a:srgbClr val="F4F4F4"/>
            </a:solidFill>
            <a:prstDash val="solid"/>
            <a:headEnd type="none" w="sm" len="sm"/>
            <a:tailEnd type="none" w="sm" len="sm"/>
          </a:ln>
        </p:spPr>
        <p:txBody>
          <a:bodyPr/>
          <a:lstStyle/>
          <a:p>
            <a:endParaRPr lang="fr-BE"/>
          </a:p>
        </p:txBody>
      </p:sp>
      <p:sp>
        <p:nvSpPr>
          <p:cNvPr id="4" name="AutoShape 4"/>
          <p:cNvSpPr/>
          <p:nvPr/>
        </p:nvSpPr>
        <p:spPr>
          <a:xfrm flipV="1">
            <a:off x="-22150" y="9228218"/>
            <a:ext cx="18288000" cy="0"/>
          </a:xfrm>
          <a:prstGeom prst="line">
            <a:avLst/>
          </a:prstGeom>
          <a:ln w="9525" cap="rnd">
            <a:solidFill>
              <a:srgbClr val="F4F4F4"/>
            </a:solidFill>
            <a:prstDash val="solid"/>
            <a:headEnd type="none" w="sm" len="sm"/>
            <a:tailEnd type="none" w="sm" len="sm"/>
          </a:ln>
        </p:spPr>
        <p:txBody>
          <a:bodyPr/>
          <a:lstStyle/>
          <a:p>
            <a:endParaRPr lang="fr-BE"/>
          </a:p>
        </p:txBody>
      </p:sp>
      <p:sp>
        <p:nvSpPr>
          <p:cNvPr id="34" name="TextBox 34"/>
          <p:cNvSpPr txBox="1"/>
          <p:nvPr/>
        </p:nvSpPr>
        <p:spPr>
          <a:xfrm>
            <a:off x="1938574" y="314374"/>
            <a:ext cx="14322254" cy="994503"/>
          </a:xfrm>
          <a:prstGeom prst="rect">
            <a:avLst/>
          </a:prstGeom>
        </p:spPr>
        <p:txBody>
          <a:bodyPr lIns="0" tIns="0" rIns="0" bIns="0" rtlCol="0" anchor="t">
            <a:spAutoFit/>
          </a:bodyPr>
          <a:lstStyle/>
          <a:p>
            <a:pPr algn="ctr">
              <a:lnSpc>
                <a:spcPts val="8122"/>
              </a:lnSpc>
            </a:pPr>
            <a:r>
              <a:rPr lang="fr-BE" sz="6000" dirty="0">
                <a:solidFill>
                  <a:schemeClr val="bg1"/>
                </a:solidFill>
                <a:latin typeface="Poppins Medium" panose="00000600000000000000" pitchFamily="2" charset="0"/>
                <a:cs typeface="Poppins Medium" panose="00000600000000000000" pitchFamily="2" charset="0"/>
              </a:rPr>
              <a:t>Delivery Delay Distribution</a:t>
            </a:r>
            <a:endParaRPr lang="en-US" sz="6000" b="1" spc="-359" dirty="0">
              <a:solidFill>
                <a:schemeClr val="bg1"/>
              </a:solidFill>
              <a:latin typeface="Poppins Medium" panose="00000600000000000000" pitchFamily="2" charset="0"/>
              <a:ea typeface="Poppins Medium"/>
              <a:cs typeface="Poppins Medium" panose="00000600000000000000" pitchFamily="2" charset="0"/>
              <a:sym typeface="Poppins Medium"/>
            </a:endParaRPr>
          </a:p>
        </p:txBody>
      </p:sp>
      <p:pic>
        <p:nvPicPr>
          <p:cNvPr id="37" name="Image 36">
            <a:extLst>
              <a:ext uri="{FF2B5EF4-FFF2-40B4-BE49-F238E27FC236}">
                <a16:creationId xmlns:a16="http://schemas.microsoft.com/office/drawing/2014/main" id="{EF86D533-E083-E2A4-36DF-76FDE50E632C}"/>
              </a:ext>
            </a:extLst>
          </p:cNvPr>
          <p:cNvPicPr>
            <a:picLocks noChangeAspect="1"/>
          </p:cNvPicPr>
          <p:nvPr/>
        </p:nvPicPr>
        <p:blipFill>
          <a:blip r:embed="rId2"/>
          <a:stretch>
            <a:fillRect/>
          </a:stretch>
        </p:blipFill>
        <p:spPr>
          <a:xfrm>
            <a:off x="457200" y="1662924"/>
            <a:ext cx="6553200" cy="3694134"/>
          </a:xfrm>
          <a:prstGeom prst="rect">
            <a:avLst/>
          </a:prstGeom>
        </p:spPr>
      </p:pic>
      <p:pic>
        <p:nvPicPr>
          <p:cNvPr id="5" name="Image 4">
            <a:extLst>
              <a:ext uri="{FF2B5EF4-FFF2-40B4-BE49-F238E27FC236}">
                <a16:creationId xmlns:a16="http://schemas.microsoft.com/office/drawing/2014/main" id="{5443CC4A-5884-F8D1-9C84-DF9A2BED8DDD}"/>
              </a:ext>
            </a:extLst>
          </p:cNvPr>
          <p:cNvPicPr>
            <a:picLocks noChangeAspect="1"/>
          </p:cNvPicPr>
          <p:nvPr/>
        </p:nvPicPr>
        <p:blipFill>
          <a:blip r:embed="rId3"/>
          <a:stretch>
            <a:fillRect/>
          </a:stretch>
        </p:blipFill>
        <p:spPr>
          <a:xfrm>
            <a:off x="7696200" y="5357060"/>
            <a:ext cx="8077199" cy="3694134"/>
          </a:xfrm>
          <a:prstGeom prst="rect">
            <a:avLst/>
          </a:prstGeom>
        </p:spPr>
      </p:pic>
      <p:sp>
        <p:nvSpPr>
          <p:cNvPr id="6" name="ZoneTexte 5">
            <a:extLst>
              <a:ext uri="{FF2B5EF4-FFF2-40B4-BE49-F238E27FC236}">
                <a16:creationId xmlns:a16="http://schemas.microsoft.com/office/drawing/2014/main" id="{247F75BB-C248-88D0-1F92-045C6E7D3664}"/>
              </a:ext>
            </a:extLst>
          </p:cNvPr>
          <p:cNvSpPr txBox="1"/>
          <p:nvPr/>
        </p:nvSpPr>
        <p:spPr>
          <a:xfrm>
            <a:off x="7574028" y="2502379"/>
            <a:ext cx="8686800" cy="2677656"/>
          </a:xfrm>
          <a:prstGeom prst="rect">
            <a:avLst/>
          </a:prstGeom>
          <a:noFill/>
        </p:spPr>
        <p:txBody>
          <a:bodyPr wrap="square" rtlCol="0">
            <a:spAutoFit/>
          </a:bodyPr>
          <a:lstStyle/>
          <a:p>
            <a:r>
              <a:rPr lang="en-US" sz="2800" dirty="0">
                <a:solidFill>
                  <a:schemeClr val="bg1"/>
                </a:solidFill>
                <a:latin typeface="Inter Extra-Light" panose="020B0604020202020204" charset="0"/>
                <a:ea typeface="Inter Extra-Light" panose="020B0604020202020204" charset="0"/>
              </a:rPr>
              <a:t>As can be seen in the graph, the data are clearly aligned to the left of the "X" axis, which clearly indicates that the mean value has not been affected by outliers, and this can also be seen by comparing this value with the median, which are very similar.</a:t>
            </a:r>
            <a:endParaRPr lang="fr-BE" sz="2800" dirty="0">
              <a:solidFill>
                <a:schemeClr val="bg1"/>
              </a:solidFill>
              <a:latin typeface="Inter Extra-Light" panose="020B0604020202020204" charset="0"/>
              <a:ea typeface="Inter Extra-Light" panose="020B0604020202020204" charset="0"/>
            </a:endParaRPr>
          </a:p>
        </p:txBody>
      </p:sp>
      <p:sp>
        <p:nvSpPr>
          <p:cNvPr id="8" name="ZoneTexte 7">
            <a:extLst>
              <a:ext uri="{FF2B5EF4-FFF2-40B4-BE49-F238E27FC236}">
                <a16:creationId xmlns:a16="http://schemas.microsoft.com/office/drawing/2014/main" id="{C08FB5F9-62EE-3A2B-8E11-6FA02FBD6182}"/>
              </a:ext>
            </a:extLst>
          </p:cNvPr>
          <p:cNvSpPr txBox="1"/>
          <p:nvPr/>
        </p:nvSpPr>
        <p:spPr>
          <a:xfrm>
            <a:off x="457200" y="6375618"/>
            <a:ext cx="6826099" cy="1815882"/>
          </a:xfrm>
          <a:prstGeom prst="rect">
            <a:avLst/>
          </a:prstGeom>
          <a:noFill/>
        </p:spPr>
        <p:txBody>
          <a:bodyPr wrap="square" rtlCol="0">
            <a:spAutoFit/>
          </a:bodyPr>
          <a:lstStyle/>
          <a:p>
            <a:r>
              <a:rPr lang="en-US" sz="2800" dirty="0">
                <a:solidFill>
                  <a:schemeClr val="bg1"/>
                </a:solidFill>
                <a:latin typeface="Inter Extra-Light" panose="020B0604020202020204" charset="0"/>
                <a:ea typeface="Inter Extra-Light" panose="020B0604020202020204" charset="0"/>
              </a:rPr>
              <a:t>This reflects that the company has been able to manage deliveries efficiently, resulting in an average early delivery time of 12 days.</a:t>
            </a:r>
            <a:endParaRPr lang="fr-BE" sz="2800" dirty="0">
              <a:solidFill>
                <a:schemeClr val="bg1"/>
              </a:solidFill>
              <a:latin typeface="Inter Extra-Light" panose="020B0604020202020204" charset="0"/>
              <a:ea typeface="Inter Extra-Light"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4152900"/>
            <a:ext cx="18288000" cy="0"/>
          </a:xfrm>
          <a:prstGeom prst="line">
            <a:avLst/>
          </a:prstGeom>
          <a:ln w="9525" cap="rnd">
            <a:solidFill>
              <a:srgbClr val="F4F4F4"/>
            </a:solidFill>
            <a:prstDash val="solid"/>
            <a:headEnd type="none" w="sm" len="sm"/>
            <a:tailEnd type="none" w="sm" len="sm"/>
          </a:ln>
        </p:spPr>
        <p:txBody>
          <a:bodyPr/>
          <a:lstStyle/>
          <a:p>
            <a:endParaRPr lang="fr-BE"/>
          </a:p>
        </p:txBody>
      </p:sp>
      <p:sp>
        <p:nvSpPr>
          <p:cNvPr id="6" name="TextBox 6"/>
          <p:cNvSpPr txBox="1"/>
          <p:nvPr/>
        </p:nvSpPr>
        <p:spPr>
          <a:xfrm>
            <a:off x="3252477" y="419100"/>
            <a:ext cx="11783046" cy="3250185"/>
          </a:xfrm>
          <a:prstGeom prst="rect">
            <a:avLst/>
          </a:prstGeom>
        </p:spPr>
        <p:txBody>
          <a:bodyPr lIns="0" tIns="0" rIns="0" bIns="0" rtlCol="0" anchor="t">
            <a:spAutoFit/>
          </a:bodyPr>
          <a:lstStyle/>
          <a:p>
            <a:pPr algn="ctr">
              <a:lnSpc>
                <a:spcPts val="12365"/>
              </a:lnSpc>
            </a:pPr>
            <a:r>
              <a:rPr lang="en-US" sz="13016" b="1" spc="-546" dirty="0">
                <a:solidFill>
                  <a:srgbClr val="F4F4F4"/>
                </a:solidFill>
                <a:latin typeface="Poppins Medium"/>
                <a:ea typeface="Poppins Medium"/>
                <a:cs typeface="Poppins Medium"/>
                <a:sym typeface="Poppins Medium"/>
              </a:rPr>
              <a:t>Outlier Management</a:t>
            </a:r>
          </a:p>
        </p:txBody>
      </p:sp>
      <p:pic>
        <p:nvPicPr>
          <p:cNvPr id="11" name="Image 10">
            <a:extLst>
              <a:ext uri="{FF2B5EF4-FFF2-40B4-BE49-F238E27FC236}">
                <a16:creationId xmlns:a16="http://schemas.microsoft.com/office/drawing/2014/main" id="{07F7C5CB-9FB1-DF53-9645-35086FC8FA35}"/>
              </a:ext>
            </a:extLst>
          </p:cNvPr>
          <p:cNvPicPr>
            <a:picLocks noChangeAspect="1"/>
          </p:cNvPicPr>
          <p:nvPr/>
        </p:nvPicPr>
        <p:blipFill>
          <a:blip r:embed="rId2"/>
          <a:stretch>
            <a:fillRect/>
          </a:stretch>
        </p:blipFill>
        <p:spPr>
          <a:xfrm>
            <a:off x="381000" y="4636516"/>
            <a:ext cx="7838068" cy="4809723"/>
          </a:xfrm>
          <a:prstGeom prst="rect">
            <a:avLst/>
          </a:prstGeom>
        </p:spPr>
      </p:pic>
      <p:sp>
        <p:nvSpPr>
          <p:cNvPr id="12" name="ZoneTexte 11">
            <a:extLst>
              <a:ext uri="{FF2B5EF4-FFF2-40B4-BE49-F238E27FC236}">
                <a16:creationId xmlns:a16="http://schemas.microsoft.com/office/drawing/2014/main" id="{DE1ED0D9-BC59-2FB6-8C8C-3B9090FF0F3E}"/>
              </a:ext>
            </a:extLst>
          </p:cNvPr>
          <p:cNvSpPr txBox="1"/>
          <p:nvPr/>
        </p:nvSpPr>
        <p:spPr>
          <a:xfrm>
            <a:off x="8763000" y="5905500"/>
            <a:ext cx="7838068" cy="2246769"/>
          </a:xfrm>
          <a:prstGeom prst="rect">
            <a:avLst/>
          </a:prstGeom>
          <a:noFill/>
        </p:spPr>
        <p:txBody>
          <a:bodyPr wrap="square" rtlCol="0">
            <a:spAutoFit/>
          </a:bodyPr>
          <a:lstStyle/>
          <a:p>
            <a:r>
              <a:rPr lang="en-US" sz="2800" dirty="0">
                <a:solidFill>
                  <a:schemeClr val="bg1"/>
                </a:solidFill>
                <a:latin typeface="Inter Extra-Light" panose="020B0604020202020204" charset="0"/>
                <a:ea typeface="Inter Extra-Light" panose="020B0604020202020204" charset="0"/>
              </a:rPr>
              <a:t>If we focus on the outliers, we see that, as I indicated before, they did not negatively impact the delivery performance results, and this is also reflected in the graph, where the values ​​are concentrated near zero.</a:t>
            </a:r>
            <a:endParaRPr lang="fr-BE" sz="2800" dirty="0">
              <a:solidFill>
                <a:schemeClr val="bg1"/>
              </a:solidFill>
              <a:latin typeface="Inter Extra-Light" panose="020B0604020202020204" charset="0"/>
              <a:ea typeface="Inter Extra-Light"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1638300"/>
            <a:ext cx="18288000" cy="0"/>
          </a:xfrm>
          <a:prstGeom prst="line">
            <a:avLst/>
          </a:prstGeom>
          <a:ln w="9525" cap="rnd">
            <a:solidFill>
              <a:srgbClr val="F4F4F4"/>
            </a:solidFill>
            <a:prstDash val="solid"/>
            <a:headEnd type="none" w="sm" len="sm"/>
            <a:tailEnd type="none" w="sm" len="sm"/>
          </a:ln>
        </p:spPr>
        <p:txBody>
          <a:bodyPr/>
          <a:lstStyle/>
          <a:p>
            <a:endParaRPr lang="fr-BE"/>
          </a:p>
        </p:txBody>
      </p:sp>
      <p:grpSp>
        <p:nvGrpSpPr>
          <p:cNvPr id="3" name="Group 3"/>
          <p:cNvGrpSpPr/>
          <p:nvPr/>
        </p:nvGrpSpPr>
        <p:grpSpPr>
          <a:xfrm>
            <a:off x="1028700" y="279678"/>
            <a:ext cx="14029290" cy="8064222"/>
            <a:chOff x="0" y="-2256089"/>
            <a:chExt cx="18705721" cy="9879660"/>
          </a:xfrm>
        </p:grpSpPr>
        <p:sp>
          <p:nvSpPr>
            <p:cNvPr id="4" name="TextBox 4"/>
            <p:cNvSpPr txBox="1"/>
            <p:nvPr/>
          </p:nvSpPr>
          <p:spPr>
            <a:xfrm>
              <a:off x="2082799" y="-2256089"/>
              <a:ext cx="16622922" cy="1218388"/>
            </a:xfrm>
            <a:prstGeom prst="rect">
              <a:avLst/>
            </a:prstGeom>
          </p:spPr>
          <p:txBody>
            <a:bodyPr wrap="square" lIns="0" tIns="0" rIns="0" bIns="0" rtlCol="0" anchor="t">
              <a:spAutoFit/>
            </a:bodyPr>
            <a:lstStyle/>
            <a:p>
              <a:pPr algn="ctr">
                <a:lnSpc>
                  <a:spcPts val="8122"/>
                </a:lnSpc>
              </a:pPr>
              <a:r>
                <a:rPr lang="fr-BE" sz="6000" dirty="0">
                  <a:solidFill>
                    <a:schemeClr val="bg1"/>
                  </a:solidFill>
                  <a:latin typeface="Poppins Medium" panose="00000600000000000000" pitchFamily="2" charset="0"/>
                  <a:cs typeface="Poppins Medium" panose="00000600000000000000" pitchFamily="2" charset="0"/>
                </a:rPr>
                <a:t>Possible Business </a:t>
              </a:r>
              <a:r>
                <a:rPr lang="fr-BE" sz="6000" dirty="0" err="1">
                  <a:solidFill>
                    <a:schemeClr val="bg1"/>
                  </a:solidFill>
                  <a:latin typeface="Poppins Medium" panose="00000600000000000000" pitchFamily="2" charset="0"/>
                  <a:cs typeface="Poppins Medium" panose="00000600000000000000" pitchFamily="2" charset="0"/>
                </a:rPr>
                <a:t>Strategy</a:t>
              </a:r>
              <a:endParaRPr lang="en-US" sz="6000" b="1" spc="-359" dirty="0">
                <a:solidFill>
                  <a:schemeClr val="bg1"/>
                </a:solidFill>
                <a:latin typeface="Poppins Medium" panose="00000600000000000000" pitchFamily="2" charset="0"/>
                <a:ea typeface="Poppins Medium"/>
                <a:cs typeface="Poppins Medium" panose="00000600000000000000" pitchFamily="2" charset="0"/>
                <a:sym typeface="Poppins Medium"/>
              </a:endParaRPr>
            </a:p>
          </p:txBody>
        </p:sp>
        <p:sp>
          <p:nvSpPr>
            <p:cNvPr id="5" name="TextBox 5"/>
            <p:cNvSpPr txBox="1"/>
            <p:nvPr/>
          </p:nvSpPr>
          <p:spPr>
            <a:xfrm>
              <a:off x="3688659" y="-473287"/>
              <a:ext cx="13411199" cy="1327885"/>
            </a:xfrm>
            <a:prstGeom prst="rect">
              <a:avLst/>
            </a:prstGeom>
          </p:spPr>
          <p:txBody>
            <a:bodyPr wrap="square" lIns="0" tIns="0" rIns="0" bIns="0" rtlCol="0" anchor="t">
              <a:spAutoFit/>
            </a:bodyPr>
            <a:lstStyle/>
            <a:p>
              <a:pPr>
                <a:lnSpc>
                  <a:spcPts val="3950"/>
                </a:lnSpc>
                <a:spcBef>
                  <a:spcPct val="0"/>
                </a:spcBef>
              </a:pPr>
              <a:r>
                <a:rPr lang="en-US" sz="3200" dirty="0">
                  <a:solidFill>
                    <a:schemeClr val="bg1"/>
                  </a:solidFill>
                  <a:latin typeface="Inter Extra-Light" panose="020B0604020202020204" charset="0"/>
                  <a:ea typeface="Inter Extra-Light" panose="020B0604020202020204" charset="0"/>
                </a:rPr>
                <a:t>The consistently early deliveries may suggest the use of conservative estimated delivery dates.</a:t>
              </a:r>
              <a:endParaRPr lang="en-US" sz="2821" spc="-118" dirty="0">
                <a:solidFill>
                  <a:schemeClr val="bg1"/>
                </a:solidFill>
                <a:latin typeface="Inter Extra-Light" panose="020B0604020202020204" charset="0"/>
                <a:ea typeface="Inter Extra-Light" panose="020B0604020202020204" charset="0"/>
                <a:cs typeface="Poppins"/>
                <a:sym typeface="Poppins"/>
              </a:endParaRPr>
            </a:p>
          </p:txBody>
        </p:sp>
        <p:sp>
          <p:nvSpPr>
            <p:cNvPr id="6" name="TextBox 6"/>
            <p:cNvSpPr txBox="1"/>
            <p:nvPr/>
          </p:nvSpPr>
          <p:spPr>
            <a:xfrm>
              <a:off x="0" y="7275955"/>
              <a:ext cx="12948399" cy="347616"/>
            </a:xfrm>
            <a:prstGeom prst="rect">
              <a:avLst/>
            </a:prstGeom>
          </p:spPr>
          <p:txBody>
            <a:bodyPr lIns="0" tIns="0" rIns="0" bIns="0" rtlCol="0" anchor="t">
              <a:spAutoFit/>
            </a:bodyPr>
            <a:lstStyle/>
            <a:p>
              <a:pPr algn="just">
                <a:lnSpc>
                  <a:spcPts val="2239"/>
                </a:lnSpc>
                <a:spcBef>
                  <a:spcPct val="0"/>
                </a:spcBef>
              </a:pPr>
              <a:endParaRPr lang="en-US" sz="1599" dirty="0">
                <a:solidFill>
                  <a:srgbClr val="F4F4F4"/>
                </a:solidFill>
                <a:latin typeface="Inter Extra-Light"/>
                <a:ea typeface="Inter Extra-Light"/>
                <a:cs typeface="Inter Extra-Light"/>
                <a:sym typeface="Inter Extra-Light"/>
              </a:endParaRPr>
            </a:p>
          </p:txBody>
        </p:sp>
      </p:grpSp>
      <p:graphicFrame>
        <p:nvGraphicFramePr>
          <p:cNvPr id="9" name="Diagramme 8">
            <a:extLst>
              <a:ext uri="{FF2B5EF4-FFF2-40B4-BE49-F238E27FC236}">
                <a16:creationId xmlns:a16="http://schemas.microsoft.com/office/drawing/2014/main" id="{FDE28551-EAA7-09EE-FE2D-2CA65E24352F}"/>
              </a:ext>
            </a:extLst>
          </p:cNvPr>
          <p:cNvGraphicFramePr/>
          <p:nvPr>
            <p:extLst>
              <p:ext uri="{D42A27DB-BD31-4B8C-83A1-F6EECF244321}">
                <p14:modId xmlns:p14="http://schemas.microsoft.com/office/powerpoint/2010/main" val="4167816246"/>
              </p:ext>
            </p:extLst>
          </p:nvPr>
        </p:nvGraphicFramePr>
        <p:xfrm>
          <a:off x="3200400" y="3086100"/>
          <a:ext cx="121920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3924300"/>
            <a:ext cx="18288000" cy="0"/>
          </a:xfrm>
          <a:prstGeom prst="line">
            <a:avLst/>
          </a:prstGeom>
          <a:ln w="9525" cap="rnd">
            <a:solidFill>
              <a:srgbClr val="F4F4F4"/>
            </a:solidFill>
            <a:prstDash val="solid"/>
            <a:headEnd type="none" w="sm" len="sm"/>
            <a:tailEnd type="none" w="sm" len="sm"/>
          </a:ln>
        </p:spPr>
        <p:txBody>
          <a:bodyPr/>
          <a:lstStyle/>
          <a:p>
            <a:endParaRPr lang="fr-BE"/>
          </a:p>
        </p:txBody>
      </p:sp>
      <p:grpSp>
        <p:nvGrpSpPr>
          <p:cNvPr id="3" name="Group 3"/>
          <p:cNvGrpSpPr/>
          <p:nvPr/>
        </p:nvGrpSpPr>
        <p:grpSpPr>
          <a:xfrm>
            <a:off x="990600" y="647700"/>
            <a:ext cx="10134599" cy="6768282"/>
            <a:chOff x="0" y="114300"/>
            <a:chExt cx="13512800" cy="9024377"/>
          </a:xfrm>
        </p:grpSpPr>
        <p:sp>
          <p:nvSpPr>
            <p:cNvPr id="4" name="TextBox 4"/>
            <p:cNvSpPr txBox="1"/>
            <p:nvPr/>
          </p:nvSpPr>
          <p:spPr>
            <a:xfrm>
              <a:off x="0" y="114300"/>
              <a:ext cx="11785838" cy="2833083"/>
            </a:xfrm>
            <a:prstGeom prst="rect">
              <a:avLst/>
            </a:prstGeom>
          </p:spPr>
          <p:txBody>
            <a:bodyPr lIns="0" tIns="0" rIns="0" bIns="0" rtlCol="0" anchor="t">
              <a:spAutoFit/>
            </a:bodyPr>
            <a:lstStyle/>
            <a:p>
              <a:pPr algn="ctr">
                <a:lnSpc>
                  <a:spcPts val="8122"/>
                </a:lnSpc>
              </a:pPr>
              <a:r>
                <a:rPr lang="en-US" sz="8550" b="1" spc="-359" dirty="0">
                  <a:solidFill>
                    <a:srgbClr val="F4F4F4"/>
                  </a:solidFill>
                  <a:latin typeface="Poppins Medium"/>
                  <a:ea typeface="Poppins Medium"/>
                  <a:cs typeface="Poppins Medium"/>
                  <a:sym typeface="Poppins Medium"/>
                </a:rPr>
                <a:t>Conclusion of the Analysis</a:t>
              </a:r>
            </a:p>
          </p:txBody>
        </p:sp>
        <p:sp>
          <p:nvSpPr>
            <p:cNvPr id="6" name="TextBox 6"/>
            <p:cNvSpPr txBox="1"/>
            <p:nvPr/>
          </p:nvSpPr>
          <p:spPr>
            <a:xfrm>
              <a:off x="0" y="6108701"/>
              <a:ext cx="13512800" cy="3029976"/>
            </a:xfrm>
            <a:prstGeom prst="rect">
              <a:avLst/>
            </a:prstGeom>
          </p:spPr>
          <p:txBody>
            <a:bodyPr wrap="square" lIns="0" tIns="0" rIns="0" bIns="0" rtlCol="0" anchor="t">
              <a:spAutoFit/>
            </a:bodyPr>
            <a:lstStyle/>
            <a:p>
              <a:pPr algn="just">
                <a:lnSpc>
                  <a:spcPts val="2239"/>
                </a:lnSpc>
                <a:spcBef>
                  <a:spcPct val="0"/>
                </a:spcBef>
              </a:pPr>
              <a:r>
                <a:rPr lang="en-US" sz="2800" dirty="0">
                  <a:solidFill>
                    <a:srgbClr val="F4F4F4"/>
                  </a:solidFill>
                  <a:latin typeface="Inter Extra-Light"/>
                  <a:ea typeface="Inter Extra-Light"/>
                  <a:cs typeface="Inter Extra-Light"/>
                  <a:sym typeface="Inter Extra-Light"/>
                </a:rPr>
                <a:t>The logistics operation demonstrated excellent delivery performance and a high level of adherence to estimated deadlines. Future analyses could explore customer behavior, regional delivery patterns, or vendor performance to further optimize delivery estimates, as the company's strategy of promising long lead times to achieve its on-time delivery target could lead to new customers switching to competitors, given the shorter estimated delivery time.</a:t>
              </a:r>
            </a:p>
          </p:txBody>
        </p:sp>
      </p:grpSp>
      <p:pic>
        <p:nvPicPr>
          <p:cNvPr id="13" name="Image 12" descr="17 millones resultados de imágenes, fotos de stock e ilustraciones libres  de regalías para Conclusiones | Shutterstock">
            <a:extLst>
              <a:ext uri="{FF2B5EF4-FFF2-40B4-BE49-F238E27FC236}">
                <a16:creationId xmlns:a16="http://schemas.microsoft.com/office/drawing/2014/main" id="{61BD8FD7-A0A1-314B-52E4-EEAC62AE6C59}"/>
              </a:ext>
            </a:extLst>
          </p:cNvPr>
          <p:cNvPicPr>
            <a:picLocks noChangeAspect="1"/>
          </p:cNvPicPr>
          <p:nvPr/>
        </p:nvPicPr>
        <p:blipFill>
          <a:blip r:embed="rId2"/>
          <a:stretch>
            <a:fillRect/>
          </a:stretch>
        </p:blipFill>
        <p:spPr>
          <a:xfrm>
            <a:off x="12877800" y="2278420"/>
            <a:ext cx="5715000" cy="32194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6569683"/>
            <a:ext cx="18288000" cy="0"/>
          </a:xfrm>
          <a:prstGeom prst="line">
            <a:avLst/>
          </a:prstGeom>
          <a:ln w="9525" cap="rnd">
            <a:solidFill>
              <a:srgbClr val="F4F4F4"/>
            </a:solidFill>
            <a:prstDash val="solid"/>
            <a:headEnd type="none" w="sm" len="sm"/>
            <a:tailEnd type="none" w="sm" len="sm"/>
          </a:ln>
        </p:spPr>
        <p:txBody>
          <a:bodyPr/>
          <a:lstStyle/>
          <a:p>
            <a:endParaRPr lang="fr-BE"/>
          </a:p>
        </p:txBody>
      </p:sp>
      <p:grpSp>
        <p:nvGrpSpPr>
          <p:cNvPr id="3" name="Group 3"/>
          <p:cNvGrpSpPr/>
          <p:nvPr/>
        </p:nvGrpSpPr>
        <p:grpSpPr>
          <a:xfrm>
            <a:off x="9144000" y="8315699"/>
            <a:ext cx="8246976" cy="943392"/>
            <a:chOff x="-21718" y="-99457"/>
            <a:chExt cx="1240733" cy="248466"/>
          </a:xfrm>
        </p:grpSpPr>
        <p:sp>
          <p:nvSpPr>
            <p:cNvPr id="4" name="Freeform 4"/>
            <p:cNvSpPr/>
            <p:nvPr/>
          </p:nvSpPr>
          <p:spPr>
            <a:xfrm>
              <a:off x="-21718" y="-99457"/>
              <a:ext cx="1240733" cy="196634"/>
            </a:xfrm>
            <a:custGeom>
              <a:avLst/>
              <a:gdLst/>
              <a:ahLst/>
              <a:cxnLst/>
              <a:rect l="l" t="t" r="r" b="b"/>
              <a:pathLst>
                <a:path w="1184335" h="149009">
                  <a:moveTo>
                    <a:pt x="74504" y="0"/>
                  </a:moveTo>
                  <a:lnTo>
                    <a:pt x="1109831" y="0"/>
                  </a:lnTo>
                  <a:cubicBezTo>
                    <a:pt x="1129590" y="0"/>
                    <a:pt x="1148541" y="7850"/>
                    <a:pt x="1162513" y="21822"/>
                  </a:cubicBezTo>
                  <a:cubicBezTo>
                    <a:pt x="1176485" y="35794"/>
                    <a:pt x="1184335" y="54745"/>
                    <a:pt x="1184335" y="74504"/>
                  </a:cubicBezTo>
                  <a:lnTo>
                    <a:pt x="1184335" y="74504"/>
                  </a:lnTo>
                  <a:cubicBezTo>
                    <a:pt x="1184335" y="94264"/>
                    <a:pt x="1176485" y="113215"/>
                    <a:pt x="1162513" y="127187"/>
                  </a:cubicBezTo>
                  <a:cubicBezTo>
                    <a:pt x="1148541" y="141159"/>
                    <a:pt x="1129590" y="149009"/>
                    <a:pt x="1109831" y="149009"/>
                  </a:cubicBezTo>
                  <a:lnTo>
                    <a:pt x="74504" y="149009"/>
                  </a:lnTo>
                  <a:cubicBezTo>
                    <a:pt x="54745" y="149009"/>
                    <a:pt x="35794" y="141159"/>
                    <a:pt x="21822" y="127187"/>
                  </a:cubicBezTo>
                  <a:cubicBezTo>
                    <a:pt x="7850" y="113215"/>
                    <a:pt x="0" y="94264"/>
                    <a:pt x="0" y="74504"/>
                  </a:cubicBezTo>
                  <a:lnTo>
                    <a:pt x="0" y="74504"/>
                  </a:lnTo>
                  <a:cubicBezTo>
                    <a:pt x="0" y="54745"/>
                    <a:pt x="7850" y="35794"/>
                    <a:pt x="21822" y="21822"/>
                  </a:cubicBezTo>
                  <a:cubicBezTo>
                    <a:pt x="35794" y="7850"/>
                    <a:pt x="54745" y="0"/>
                    <a:pt x="74504"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txBody>
            <a:bodyPr/>
            <a:lstStyle/>
            <a:p>
              <a:endParaRPr lang="fr-BE"/>
            </a:p>
          </p:txBody>
        </p:sp>
        <p:sp>
          <p:nvSpPr>
            <p:cNvPr id="5" name="TextBox 5"/>
            <p:cNvSpPr txBox="1"/>
            <p:nvPr/>
          </p:nvSpPr>
          <p:spPr>
            <a:xfrm>
              <a:off x="0" y="-47625"/>
              <a:ext cx="1184335" cy="196634"/>
            </a:xfrm>
            <a:prstGeom prst="rect">
              <a:avLst/>
            </a:prstGeom>
          </p:spPr>
          <p:txBody>
            <a:bodyPr lIns="50800" tIns="50800" rIns="50800" bIns="50800" rtlCol="0" anchor="ctr"/>
            <a:lstStyle/>
            <a:p>
              <a:pPr algn="ctr">
                <a:lnSpc>
                  <a:spcPts val="2690"/>
                </a:lnSpc>
              </a:pPr>
              <a:r>
                <a:rPr lang="en-US" sz="1921" spc="40" dirty="0">
                  <a:solidFill>
                    <a:srgbClr val="F4F4F4"/>
                  </a:solidFill>
                  <a:latin typeface="Poppins Light"/>
                  <a:ea typeface="Poppins Light"/>
                  <a:cs typeface="Poppins Light"/>
                  <a:sym typeface="Poppins Light"/>
                </a:rPr>
                <a:t>https://github.com/ferrettijaime-cmd/Professional_portfolio</a:t>
              </a:r>
            </a:p>
            <a:p>
              <a:pPr algn="ctr">
                <a:lnSpc>
                  <a:spcPts val="2690"/>
                </a:lnSpc>
              </a:pPr>
              <a:endParaRPr lang="en-US" sz="1921" spc="40" dirty="0">
                <a:solidFill>
                  <a:srgbClr val="F4F4F4"/>
                </a:solidFill>
                <a:latin typeface="Poppins Light"/>
                <a:ea typeface="Poppins Light"/>
                <a:cs typeface="Poppins Light"/>
                <a:sym typeface="Poppins Light"/>
              </a:endParaRPr>
            </a:p>
          </p:txBody>
        </p:sp>
      </p:grpSp>
      <p:sp>
        <p:nvSpPr>
          <p:cNvPr id="6" name="TextBox 6"/>
          <p:cNvSpPr txBox="1"/>
          <p:nvPr/>
        </p:nvSpPr>
        <p:spPr>
          <a:xfrm>
            <a:off x="3252477" y="2655970"/>
            <a:ext cx="11783046" cy="1794400"/>
          </a:xfrm>
          <a:prstGeom prst="rect">
            <a:avLst/>
          </a:prstGeom>
        </p:spPr>
        <p:txBody>
          <a:bodyPr lIns="0" tIns="0" rIns="0" bIns="0" rtlCol="0" anchor="t">
            <a:spAutoFit/>
          </a:bodyPr>
          <a:lstStyle/>
          <a:p>
            <a:pPr algn="ctr">
              <a:lnSpc>
                <a:spcPts val="12365"/>
              </a:lnSpc>
            </a:pPr>
            <a:r>
              <a:rPr lang="en-US" sz="13016" b="1" spc="-546">
                <a:solidFill>
                  <a:srgbClr val="F4F4F4"/>
                </a:solidFill>
                <a:latin typeface="Poppins Medium"/>
                <a:ea typeface="Poppins Medium"/>
                <a:cs typeface="Poppins Medium"/>
                <a:sym typeface="Poppins Medium"/>
              </a:rPr>
              <a:t>Thankyou</a:t>
            </a:r>
          </a:p>
        </p:txBody>
      </p:sp>
      <p:sp>
        <p:nvSpPr>
          <p:cNvPr id="7" name="TextBox 7"/>
          <p:cNvSpPr txBox="1"/>
          <p:nvPr/>
        </p:nvSpPr>
        <p:spPr>
          <a:xfrm>
            <a:off x="10292284" y="7480694"/>
            <a:ext cx="6967016" cy="512448"/>
          </a:xfrm>
          <a:prstGeom prst="rect">
            <a:avLst/>
          </a:prstGeom>
        </p:spPr>
        <p:txBody>
          <a:bodyPr lIns="0" tIns="0" rIns="0" bIns="0" rtlCol="0" anchor="t">
            <a:spAutoFit/>
          </a:bodyPr>
          <a:lstStyle/>
          <a:p>
            <a:pPr algn="r">
              <a:lnSpc>
                <a:spcPts val="4230"/>
              </a:lnSpc>
              <a:spcBef>
                <a:spcPct val="0"/>
              </a:spcBef>
            </a:pPr>
            <a:r>
              <a:rPr lang="en-US" sz="3021" spc="-126" dirty="0">
                <a:solidFill>
                  <a:srgbClr val="F4F4F4"/>
                </a:solidFill>
                <a:latin typeface="Poppins"/>
                <a:ea typeface="Poppins"/>
                <a:cs typeface="Poppins"/>
                <a:sym typeface="Poppins"/>
              </a:rPr>
              <a:t>Jaime Ferretti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458</Words>
  <Application>Microsoft Office PowerPoint</Application>
  <PresentationFormat>Personnalisé</PresentationFormat>
  <Paragraphs>53</Paragraphs>
  <Slides>9</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Inter Extra-Light</vt:lpstr>
      <vt:lpstr>Calibri</vt:lpstr>
      <vt:lpstr>Poppins Light</vt:lpstr>
      <vt:lpstr>Poppins</vt:lpstr>
      <vt:lpstr>Arial</vt:lpstr>
      <vt:lpstr>Poppins Medium</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Jeanina Martinez</dc:creator>
  <cp:lastModifiedBy>Jeanina Martinez</cp:lastModifiedBy>
  <cp:revision>4</cp:revision>
  <dcterms:created xsi:type="dcterms:W3CDTF">2006-08-16T00:00:00Z</dcterms:created>
  <dcterms:modified xsi:type="dcterms:W3CDTF">2026-05-21T13:13:14Z</dcterms:modified>
  <dc:identifier>DAHKOmCQlgU</dc:identifier>
</cp:coreProperties>
</file>